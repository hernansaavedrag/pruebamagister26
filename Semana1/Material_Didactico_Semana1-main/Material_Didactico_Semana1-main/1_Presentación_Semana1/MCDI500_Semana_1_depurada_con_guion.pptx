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94.xml" ContentType="application/vnd.openxmlformats-officedocument.presentationml.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5"/>
  </p:notesMasterIdLst>
  <p:sldIdLst>
    <p:sldId id="300" r:id="rId2"/>
    <p:sldId id="301" r:id="rId100"/>
    <p:sldId id="302" r:id="rId3"/>
    <p:sldId id="303" r:id="rId4"/>
    <p:sldId id="304" r:id="rId5"/>
    <p:sldId id="305" r:id="rId6"/>
    <p:sldId id="306" r:id="rId7"/>
    <p:sldId id="307" r:id="rId8"/>
    <p:sldId id="308" r:id="rId9"/>
    <p:sldId id="309" r:id="rId10"/>
    <p:sldId id="310" r:id="rId11"/>
    <p:sldId id="311" r:id="rId12"/>
    <p:sldId id="312" r:id="rId13"/>
    <p:sldId id="313" r:id="rId14"/>
    <p:sldId id="314" r:id="rId16"/>
    <p:sldId id="315" r:id="rId17"/>
    <p:sldId id="316" r:id="rId22"/>
    <p:sldId id="317" r:id="rId23"/>
    <p:sldId id="318" r:id="rId24"/>
    <p:sldId id="319" r:id="rId25"/>
    <p:sldId id="320" r:id="rId26"/>
    <p:sldId id="321" r:id="rId28"/>
    <p:sldId id="322" r:id="rId29"/>
    <p:sldId id="323" r:id="rId30"/>
    <p:sldId id="324" r:id="rId31"/>
    <p:sldId id="325" r:id="rId32"/>
    <p:sldId id="326" r:id="rId33"/>
    <p:sldId id="327" r:id="rId35"/>
    <p:sldId id="328" r:id="rId36"/>
    <p:sldId id="329" r:id="rId37"/>
    <p:sldId id="330" r:id="rId38"/>
    <p:sldId id="331" r:id="rId39"/>
    <p:sldId id="332" r:id="rId40"/>
    <p:sldId id="333" r:id="rId42"/>
    <p:sldId id="334" r:id="rId43"/>
    <p:sldId id="335" r:id="rId44"/>
    <p:sldId id="336" r:id="rId45"/>
    <p:sldId id="337" r:id="rId46"/>
    <p:sldId id="338" r:id="rId48"/>
    <p:sldId id="339" r:id="rId49"/>
    <p:sldId id="340" r:id="rId50"/>
    <p:sldId id="341" r:id="rId51"/>
    <p:sldId id="342" r:id="rId67"/>
    <p:sldId id="343" r:id="rId53"/>
    <p:sldId id="344" r:id="rId54"/>
    <p:sldId id="345" r:id="rId55"/>
    <p:sldId id="346" r:id="rId57"/>
    <p:sldId id="347" r:id="rId58"/>
    <p:sldId id="348" r:id="rId59"/>
    <p:sldId id="349" r:id="rId61"/>
    <p:sldId id="350" r:id="rId62"/>
    <p:sldId id="351" r:id="rId64"/>
    <p:sldId id="352" r:id="rId66"/>
    <p:sldId id="353" r:id="rId68"/>
    <p:sldId id="354" r:id="rId69"/>
    <p:sldId id="355" r:id="rId70"/>
    <p:sldId id="356" r:id="rId71"/>
    <p:sldId id="357" r:id="rId72"/>
    <p:sldId id="358" r:id="rId73"/>
    <p:sldId id="359" r:id="rId74"/>
    <p:sldId id="360" r:id="rId75"/>
    <p:sldId id="361" r:id="rId76"/>
    <p:sldId id="362" r:id="rId77"/>
    <p:sldId id="363" r:id="rId80"/>
    <p:sldId id="364" r:id="rId81"/>
    <p:sldId id="365" r:id="rId82"/>
    <p:sldId id="366" r:id="rId83"/>
    <p:sldId id="367" r:id="rId84"/>
    <p:sldId id="368" r:id="rId85"/>
    <p:sldId id="369" r:id="rId86"/>
    <p:sldId id="370" r:id="rId87"/>
    <p:sldId id="371" r:id="rId88"/>
    <p:sldId id="372" r:id="rId89"/>
    <p:sldId id="373" r:id="rId90"/>
    <p:sldId id="374" r:id="rId91"/>
    <p:sldId id="375" r:id="rId92"/>
    <p:sldId id="376" r:id="rId9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37"/>
    <p:restoredTop sz="80151"/>
  </p:normalViewPr>
  <p:slideViewPr>
    <p:cSldViewPr snapToGrid="0" snapToObjects="1">
      <p:cViewPr varScale="1">
        <p:scale>
          <a:sx n="100" d="100"/>
          <a:sy n="100" d="100"/>
        </p:scale>
        <p:origin x="1176" y="16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42" Type="http://schemas.openxmlformats.org/officeDocument/2006/relationships/slide" Target="slides/slide41.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73" Type="http://schemas.openxmlformats.org/officeDocument/2006/relationships/slide" Target="slides/slide72.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39" Type="http://schemas.openxmlformats.org/officeDocument/2006/relationships/slide" Target="slides/slide38.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8" Type="http://schemas.openxmlformats.org/officeDocument/2006/relationships/theme" Target="theme/theme1.xml"/>  <Relationship Id="rId100" Type="http://schemas.openxmlformats.org/officeDocument/2006/relationships/slide" Target="slides/slide9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058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Bienvenidos a Programación para la Ciencia de Datos. Son tres semanas, y cada una cierra con una entrega evaluada. El ritmo no se parece al de un semestre: lo que vean hoy está pensado para que ordenen la semana desde el primer día.</a:t>
            </a:r>
          </a:p>
          <a:p>
            <a:endParaRPr lang="es-CL"/>
          </a:p>
          <a:p>
            <a:r>
              <a:rPr lang="es-CL" dirty="0"/>
              <a:t>Indicación docente: Bienvenidos a Programación para la Ciencia de Datos. Son tres semanas, y cada una cierra con una entrega evaluada. El ritmo no se parece al de un semestre: lo que vean hoy está pensado para que ordenen la semana desde el primer día.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Muchos de ustedes ya programan. La diferencia entre programar y trabajar con datos de forma profesional está en dos palabras: trazabilidad y reproducibilidad. Un análisis vale por su resultado y por poder demostrar cómo se llegó a él.</a:t>
            </a:r>
          </a:p>
          <a:p>
            <a:endParaRPr lang="es-CL"/>
          </a:p>
          <a:p>
            <a:r>
              <a:rPr lang="es-CL" dirty="0"/>
              <a:t>Indicación docente: Muchos de ustedes ya programan. La diferencia entre programar y trabajar con datos de forma profesional está en dos palabras: trazabilidad y reproducibilidad. Un análisis vale por su resultado y por poder demostrar cómo se llegó a él. Indicación docente: Insistir en la idea central: la diferencia entre programar y trabajar con datos de forma profesional es la trazabilidad y la reproducibilidad.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Cuatro resultados de aprendizaje, uno por unidad. No son cuatro cursos paralelos: son cuatro capas del mismo proyecto, y las cuatro se evidencian sobre el mismo producto.</a:t>
            </a:r>
          </a:p>
          <a:p>
            <a:endParaRPr lang="es-CL"/>
          </a:p>
          <a:p>
            <a:r>
              <a:rPr lang="es-CL" dirty="0"/>
              <a:t>Indicación docente: Cuatro resultados de aprendizaje, uno por unidad. No son cuatro cursos paralelos: son cuatro capas del mismo proyecto, y las cuatro se evidencian sobre el mismo producto. Indicación docente: Leer los RA rapido. Lo importante es que entiendan que no son cuatro cursos paralelos, sino cuatro capas del mismo proyecto.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Todo gira en torno a un proyecto único, en cuatro fases. Al terminar no van a tener un ejercicio de clase: van a tener un repositorio público con historial real, notebooks que corren y un informe técnico. Eso se pone en un portafolio.</a:t>
            </a:r>
          </a:p>
          <a:p>
            <a:endParaRPr lang="es-CL"/>
          </a:p>
          <a:p>
            <a:r>
              <a:rPr lang="es-CL" dirty="0"/>
              <a:t>Indicación docente: Todo gira en torno a un proyecto único, en cuatro fases. Al terminar no van a tener un ejercicio de clase: van a tener un repositorio público con historial real, notebooks que corren y un informe técnico. Eso se pone en un portafolio. Indicación docente: Este es el mejor argumento motivacional del curso: el producto final es mostrable. Muchos estudiantes de magister no tienen repositorio propio y este es el primero.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Cuatro instancias sumativas, todas sobre el mismo proyecto, y un diez por ciento que sale de la coevaluación. Todo se evalúa con rúbrica publicada antes de la entrega: ábranla al empezar, no al terminar.</a:t>
            </a:r>
          </a:p>
          <a:p>
            <a:endParaRPr lang="es-CL"/>
          </a:p>
          <a:p>
            <a:r>
              <a:rPr lang="es-CL" dirty="0"/>
              <a:t>Indicación docente: Cuatro instancias sumativas, todas sobre el mismo proyecto, y un diez por ciento que sale de la coevaluación. Todo se evalúa con rúbrica publicada antes de la entrega: ábranla al empezar, no al terminar. Indicación docente: Confirmar las fechas de cada entrega en el calendario de Canvas antes de la sesion.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Grupos de tres o cuatro, para todo el curso, y fórmenlo hoy. El historial de commits muestra quién hizo qué: repártanse por archivo, no por línea. El patrón que más cuesta puntos es que una persona suba el trabajo de todos.</a:t>
            </a:r>
          </a:p>
          <a:p>
            <a:endParaRPr lang="es-CL"/>
          </a:p>
          <a:p>
            <a:r>
              <a:rPr lang="es-CL" dirty="0"/>
              <a:t>Indicación docente: Grupos de tres o cuatro, para todo el curso, y fórmenlo hoy. El historial de commits muestra quién hizo qué: repártanse por archivo, no por línea. El patrón que más cuesta puntos es que una persona suba el trabajo de todos. Indicación docente: Sugerir que verifiquen la primera semana que los cuatro pueden hacer push sin error de permisos. Descubrirlo la noche de la entrega es tarde.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aula está ordenada como una secuencia, no como un depósito de archivos. Consultas de contenido al Foro de Consultas; problemas de plataforma al de Tutoría. La dedicación estimada es de doce horas semanales, distribuidas, no concentradas.</a:t>
            </a:r>
          </a:p>
          <a:p>
            <a:endParaRPr lang="es-CL"/>
          </a:p>
          <a:p>
            <a:r>
              <a:rPr lang="es-CL" dirty="0"/>
              <a:t>Indicación docente: El aula está ordenada como una secuencia, no como un depósito de archivos. Consultas de contenido al Foro de Consultas; problemas de plataforma al de Tutoría. La dedicación estimada es de doce horas semanales, distribuidas, no concentradas. Indicación docente: Ajustar la cifra de dedicacion segun el programa: el curso considera 36 horas personales para las tres semanas.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Cinco cosas que tener listas, todas gratuitas. Dos detalles que fallan siempre: en Windows hay que marcar «Add python.exe to PATH», y el correo de Git debe ser el mismo de GitHub o sus commits no se les atribuyen.</a:t>
            </a:r>
          </a:p>
          <a:p>
            <a:endParaRPr lang="es-CL"/>
          </a:p>
          <a:p>
            <a:r>
              <a:rPr lang="es-CL" dirty="0"/>
              <a:t>Indicación docente: Cinco cosas que tener listas, todas gratuitas. Dos detalles que fallan siempre: en Windows hay que marcar «Add python.exe to PATH», y el correo de Git debe ser el mismo de GitHub o sus commits no se les atribuyen. Indicación docente: Recordar que la guia tiene una version por sistema operativo y que la parte II cubre la instalacion completa desde cero.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Dos reglas. El trabajo debe ser propio, y el historial de Git es un registro de autoría: un repositorio cuyo primer commit trae el proyecto terminado dice algo. Y el uso de IA debe declararse: deben poder explicar cada línea que entregan.</a:t>
            </a:r>
          </a:p>
          <a:p>
            <a:endParaRPr lang="es-CL"/>
          </a:p>
          <a:p>
            <a:r>
              <a:rPr lang="es-CL" dirty="0"/>
              <a:t>Indicación docente: Dos reglas. El trabajo debe ser propio, y el historial de Git es un registro de autoría: un repositorio cuyo primer commit trae el proyecto terminado dice algo. Y el uso de IA debe declararse: deben poder explicar cada línea que entregan. Indicación docente: Remitir a la pagina de uso etico de la IA publicada en el aula. Es el unico recurso teorico del modulo que esta completo.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Cinco acciones para hoy, menos de una hora en total. Recorrer el aula, completar el compromiso, participar en el foro diagnóstico, formar el grupo y abrir la rúbrica de la Sumativa 1. Quien parte hoy llega con holgura; quien parte el jueves, no.</a:t>
            </a:r>
          </a:p>
          <a:p>
            <a:endParaRPr lang="es-CL"/>
          </a:p>
          <a:p>
            <a:r>
              <a:rPr lang="es-CL" dirty="0"/>
              <a:t>Indicación docente: Cinco acciones para hoy, menos de una hora en total. Recorrer el aula, completar el compromiso, participar en el foro diagnóstico, formar el grupo y abrir la rúbrica de la Sumativa 1. Quien parte hoy llega con holgura; quien parte el jueves, no. Indicación docente: Cerrar la parte informativa aqui y abrir a preguntas. Dejar tiempo: la primera sesion suele generar muchas dudas operativas.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Entramos al recorrido de la semana. Esta parte no explica contenidos: ubica los recursos del aula y explica en qué orden usarlos.</a:t>
            </a:r>
          </a:p>
          <a:p>
            <a:endParaRPr lang="es-CL"/>
          </a:p>
          <a:p>
            <a:r>
              <a:rPr lang="es-CL" dirty="0"/>
              <a:t>Indicación docente: Entramos al recorrido de la semana. Esta parte no explica contenidos: ubica los recursos del aula y explica en qué orden usarlos. Indicación docente: Encuadrar: los recursos del aula estan ordenados en una secuencia pedagogica intencionada. Esta sesion recorre esa secuencia y explica que aporta cada pieza.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Primera aclaración: en el aula hay dos módulos llamados «Semana 1» y no dicen lo mismo. Uno es la Fase 1, que planifica el ecosistema técnico; el otro es la Fase 2, que lo implementa sobre datos reales.</a:t>
            </a:r>
          </a:p>
          <a:p>
            <a:endParaRPr lang="es-CL"/>
          </a:p>
          <a:p>
            <a:r>
              <a:rPr lang="es-CL" dirty="0"/>
              <a:t>Indicación docente: Primera aclaración: en el aula hay dos módulos llamados «Semana 1» y no dicen lo mismo. Uno es la Fase 1, que planifica el ecosistema técnico; el otro es la Fase 2, que lo implementa sobre datos reales. Indicación docente: Insistir en la diferencia de carga: 30 minutos de lectura en una fase y 90 en la otra. Quien reparta el tiempo por igual llega corto a la Fase 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Los siete recursos de la Fase 1, con lo que permite hacer cada uno. Si van a saltarse alguno, que no sea el de pensamiento algorítmico: es el que evita el error más frecuente, un mapa lleno de descripciones genéricas.</a:t>
            </a:r>
          </a:p>
          <a:p>
            <a:endParaRPr lang="es-CL"/>
          </a:p>
          <a:p>
            <a:r>
              <a:rPr lang="es-CL" dirty="0"/>
              <a:t>Indicación docente: Los siete recursos de la Fase 1, con lo que permite hacer cada uno. Si van a saltarse alguno, que no sea el de pensamiento algorítmico: es el que evita el error más frecuente, un mapa lleno de descripciones genéricas. Indicación docente: Vincular cada recurso con un elemento del mapa: el interactivo de Git alimenta la estructura del repositorio, el de Jupyter la vinculacion codigo-documentacion.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En la Fase 2 cambia el foco: de la planificación al trabajo técnico con datos. Aquí se evidencian dos indicadores distintos, el de preprocesamiento y el de codificación, y ambos sobre el mismo producto: el notebook integrado al repositorio.</a:t>
            </a:r>
          </a:p>
          <a:p>
            <a:endParaRPr lang="es-CL"/>
          </a:p>
          <a:p>
            <a:r>
              <a:rPr lang="es-CL" dirty="0"/>
              <a:t>Indicación docente: En la Fase 2 cambia el foco: de la planificación al trabajo técnico con datos. Aquí se evidencian dos indicadores distintos, el de preprocesamiento y el de codificación, y ambos sobre el mismo producto: el notebook integrado al repositorio. Indicación docente: Notar que la Fase 2 anticipa RA4, que se completa en la Fase 4 con las visualizaciones. Aqui solo se cubre la parte de preprocesamiento.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Una ruta sugerida para la semana, unas once horas. Adáptenla a su realidad, pero no alteren el orden: cada recurso supone el anterior. Y fíjense en que el día 3 ya es la entrega de la Formativa 1.</a:t>
            </a:r>
          </a:p>
          <a:p>
            <a:endParaRPr lang="es-CL"/>
          </a:p>
          <a:p>
            <a:r>
              <a:rPr lang="es-CL" dirty="0"/>
              <a:t>Indicación docente: Una ruta sugerida para la semana, unas once horas. Adáptenla a su realidad, pero no alteren el orden: cada recurso supone el anterior. Y fíjense en que el día 3 ya es la entrega de la Formativa 1. Indicación docente: Presentar como sugerencia. Lo unico no negociable es empezar el primer dia: la semana concentra dos fases y dos entregas.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Este bloque trata los conceptos de la unidad. No es teoría de relleno: cada concepto tiene después una manifestación concreta en el proyecto, y al final del bloque vamos a ver exactamente cuál.</a:t>
            </a:r>
          </a:p>
          <a:p>
            <a:endParaRPr lang="es-CL"/>
          </a:p>
          <a:p>
            <a:r>
              <a:rPr lang="es-CL" dirty="0"/>
              <a:t>Indicación docente: Este bloque trata los conceptos de la unidad. No es teoría de relleno: cada concepto tiene después una manifestación concreta en el proyecto, y al final del bloque vamos a ver exactamente cuál. Indicación docente: Aclarar el proposito de esta sesion: no es la instruccion de la actividad ni el tutorial de herramientas, sino los conceptos que dan sentido a ambos. El mapa conceptual se evalua por precision conceptual, y esa precision se construye aqui.</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Seis conceptos, cada uno respondiendo una pregunta distinta. El sexto, el mapa conceptual, no es uno más: es el que integra a los otros cinco y es lo que van a entregar esta semana.</a:t>
            </a:r>
          </a:p>
          <a:p>
            <a:endParaRPr lang="es-CL"/>
          </a:p>
          <a:p>
            <a:r>
              <a:rPr lang="es-CL" dirty="0"/>
              <a:t>Indicación docente: Seis conceptos, cada uno respondiendo una pregunta distinta. El sexto, el mapa conceptual, no es uno más: es el que integra a los otros cinco y es lo que van a entregar esta semana. Indicación docente: Usar esta lamina como indice. Advertir que el sexto concepto es el instrumento con que se representan los cinco primeros: por eso el mapa no es un dibujo decorativo.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Definir es decidir qué problema se aborda y cuál queda fuera. Se define antes de ejecutar porque el costo de un error crece con la etapa: un problema mal delimitado hoy cuesta rehacer tres fases después.</a:t>
            </a:r>
          </a:p>
          <a:p>
            <a:endParaRPr lang="es-CL"/>
          </a:p>
          <a:p>
            <a:r>
              <a:rPr lang="es-CL" dirty="0"/>
              <a:t>Indicación docente: Definir es decidir qué problema se aborda y cuál queda fuera. Se define antes de ejecutar porque el costo de un error crece con la etapa: un problema mal delimitado hoy cuesta rehacer tres fases después. Indicación docente: Contrastar con la intuicion habitual del estudiante: querer empezar a programar de inmediato. Explicar que definir es tambien una decision tecnica, y que en la industria se le dedica una proporcion alta del tiempo del proyecto.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Una situación no es una pregunta, y una pregunta no siempre es analizable con datos. El salto que se suele omitir es el del medio: delimitar el problema. Sin él, el trabajo produce gráficos pero no responde nada.</a:t>
            </a:r>
          </a:p>
          <a:p>
            <a:endParaRPr lang="es-CL"/>
          </a:p>
          <a:p>
            <a:r>
              <a:rPr lang="es-CL" dirty="0"/>
              <a:t>Indicación docente: Una situación no es una pregunta, y una pregunta no siempre es analizable con datos. El salto que se suele omitir es el del medio: delimitar el problema. Sin él, el trabajo produce gráficos pero no responde nada. Indicación docente: Pedir a un grupo que enuncie su situacion y trabajarla en vivo hasta convertirla en pregunta analizable. Es el ejercicio mas util de la sesion.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ciclo de vida, en seis etapas. Retengan las dos propiedades: no es lineal, se vuelve atrás cada vez que la exploración obliga a redefinir; y el dato crudo nunca se modifica, cada etapa produce una versión nueva.</a:t>
            </a:r>
          </a:p>
          <a:p>
            <a:endParaRPr lang="es-CL"/>
          </a:p>
          <a:p>
            <a:r>
              <a:rPr lang="es-CL" dirty="0"/>
              <a:t>Indicación docente: El ciclo de vida, en seis etapas. Retengan las dos propiedades: no es lineal, se vuelve atrás cada vez que la exploración obliga a redefinir; y el dato crudo nunca se modifica, cada etapa produce una versión nueva. Indicación docente: Subrayar la no linealidad: los estudiantes tienden a representar el ciclo como una flecha recta. Un mapa que muestra retornos evidencia mejor comprension del proceso real.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Reproducibilidad: otra persona, con los mismos datos y el mismo código, obtiene el mismo resultado. Exige tres cosas a la vez: datos disponibles o documentados, código ejecutable de principio a fin, y versiones de librerías declaradas.</a:t>
            </a:r>
          </a:p>
          <a:p>
            <a:endParaRPr lang="es-CL"/>
          </a:p>
          <a:p>
            <a:r>
              <a:rPr lang="es-CL" dirty="0"/>
              <a:t>Indicación docente: Reproducibilidad: otra persona, con los mismos datos y el mismo código, obtiene el mismo resultado. Exige tres cosas a la vez: datos disponibles o documentados, código ejecutable de principio a fin, y versiones de librerías declaradas. Indicación docente: La distincion reproducibilidad/replicabilidad se pregunta con frecuencia. Dejarla clara: lo que este curso exige es lo primero. Si falta cualquiera de las tres condiciones, el trabajo no es reproducible aunque el analisis sea correcto.</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La reproducibilidad mira el resultado; la trazabilidad mira el proceso. Debe poder reconstruirse qué cambió, cuándo, quién lo hizo y por qué. En trabajo grupal es lo que hace visible el aporte individual dentro de un producto colectivo.</a:t>
            </a:r>
          </a:p>
          <a:p>
            <a:endParaRPr lang="es-CL"/>
          </a:p>
          <a:p>
            <a:r>
              <a:rPr lang="es-CL" dirty="0"/>
              <a:t>Indicación docente: La reproducibilidad mira el resultado; la trazabilidad mira el proceso. Debe poder reconstruirse qué cambió, cuándo, quién lo hizo y por qué. En trabajo grupal es lo que hace visible el aporte individual dentro de un producto colectivo. Indicación docente: Distinguir bien los dos conceptos: reproducibilidad es sobre el resultado, trazabilidad sobre el proceso. Un trabajo puede ser reproducible y no trazable: corre perfecto, pero nadie sabe como se llego a esa version.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notebook no es un editor de código: es un formato de comunicación científica. Y hay dos niveles de documentación. «Se imputó la mediana» describe. «Se imputó la mediana porque falta el nueve por ciento y hay extremos» justifica. Lo segundo es lo que se exige.</a:t>
            </a:r>
          </a:p>
          <a:p>
            <a:endParaRPr lang="es-CL"/>
          </a:p>
          <a:p>
            <a:r>
              <a:rPr lang="es-CL" dirty="0"/>
              <a:t>Indicación docente: El notebook no es un editor de código: es un formato de comunicación científica. Y hay dos niveles de documentación. «Se imputó la mediana» describe. «Se imputó la mediana porque falta el nueve por ciento y hay extremos» justifica. Lo segundo es lo que se exige. Indicación docente: Vincular con la Unidad tematica 1, que define el notebook como herramienta de documentacion y comunicacion cientifica. El nivel justificativo es lo que despues permite escribir el informe sin reconstruir de memoria.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Las buenas prácticas de la unidad, como principios. Funciones, módulos y excepciones responden a lo mismo: un programa científico se escribe para ser leído, revisado y ejecutado por otros, no solo por quien lo escribió.</a:t>
            </a:r>
          </a:p>
          <a:p>
            <a:endParaRPr lang="es-CL"/>
          </a:p>
          <a:p>
            <a:r>
              <a:rPr lang="es-CL" dirty="0"/>
              <a:t>Indicación docente: Las buenas prácticas de la unidad, como principios. Funciones, módulos y excepciones responden a lo mismo: un programa científico se escribe para ser leído, revisado y ejecutado por otros, no solo por quien lo escribió. Indicación docente: Estos contenidos se practican en la parte practica de la semana. Aqui interesa el principio: por que se organiza asi el codigo, no como se escribe la sintaxis.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Un mapa conceptual no es un resumen ilustrado: es una representación de relaciones. La prueba está en las flechas. «Git, flecha, GitHub» es ambiguo; «Git sincroniza con GitHub» es una proposición. Lean su mapa en voz alta antes de entregar.</a:t>
            </a:r>
          </a:p>
          <a:p>
            <a:endParaRPr lang="es-CL"/>
          </a:p>
          <a:p>
            <a:r>
              <a:rPr lang="es-CL" dirty="0"/>
              <a:t>Indicación docente: Un mapa conceptual no es un resumen ilustrado: es una representación de relaciones. La prueba está en las flechas. «Git, flecha, GitHub» es ambiguo; «Git sincroniza con GitHub» es una proposición. Lean su mapa en voz alta antes de entregar. Indicación docente: Este es el criterio tecnico del mapa y el que mas diferencia una entrega buena de una excelente. Proponer que lean su propio mapa en voz alta, flecha por flecha, antes de entregarlo.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Aquí está el para qué de todo el bloque: cada concepto se manifiesta en algo concreto del proyecto y tiene un indicador asociado. Los conceptos no se evalúan preguntando su definición, sino observando si el trabajo los aplica.</a:t>
            </a:r>
          </a:p>
          <a:p>
            <a:endParaRPr lang="es-CL"/>
          </a:p>
          <a:p>
            <a:r>
              <a:rPr lang="es-CL" dirty="0"/>
              <a:t>Indicación docente: Aquí está el para qué de todo el bloque: cada concepto se manifiesta en algo concreto del proyecto y tiene un indicador asociado. Los conceptos no se evalúan preguntando su definición, sino observando si el trabajo los aplica. Indicación docente: Cerrar el vinculo entre teoria y rubrica. Si un grupo no logra ubicar un concepto en la columna del medio, probablemente aun no lo comprendio.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Seis preguntas para comprobar la comprensión. Tómense cinco minutos con su grupo y discútanlas en voz alta: las que cuesten son las que hay que volver a revisar. Sirven también para el foro de reflexión.</a:t>
            </a:r>
          </a:p>
          <a:p>
            <a:endParaRPr lang="es-CL"/>
          </a:p>
          <a:p>
            <a:r>
              <a:rPr lang="es-CL" dirty="0"/>
              <a:t>Indicación docente: Seis preguntas para comprobar la comprensión. Tómense cinco minutos con su grupo y discútanlas en voz alta: las que cuesten son las que hay que volver a revisar. Sirven también para el foro de reflexión. Indicación docente: Dejar cinco minutos de trabajo en grupo con estas preguntas antes de cerrar. Las respuestas revelan que conceptos quedaron debiles y permiten reforzarlos en el momento.</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Entramos al ecosistema científico. Antes de partir: ¿quiénes han usado Git? Esta sesión no es un tutorial de comandos —esos están en la guía—, es el marco: qué hace cada pieza y cómo se conectan.</a:t>
            </a:r>
          </a:p>
          <a:p>
            <a:endParaRPr lang="es-CL"/>
          </a:p>
          <a:p>
            <a:r>
              <a:rPr lang="es-CL" dirty="0"/>
              <a:t>Indicación docente: Entramos al ecosistema científico. Antes de partir: ¿quiénes han usado Git? Esta sesión no es un tutorial de comandos —esos están en la guía—, es el marco: qué hace cada pieza y cómo se conectan. Indicación docente: Abrir preguntando quienes han usado Git antes. El grupo suele ser muy heterogeneo. Anticipar que esta sesion no es un tutorial de comandos, sino el mapa de como se articulan las cuatro piezas.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Miren la carpeta de la izquierda. «análisis_final», «análisis_final_v2», «este_sí». No puede responder qué cambió, por qué, ni cuál era el estado el día que funcionaba. El ecosistema existe para que quede registrado el proceso, no solo el resultado.</a:t>
            </a:r>
          </a:p>
          <a:p>
            <a:endParaRPr lang="es-CL"/>
          </a:p>
          <a:p>
            <a:r>
              <a:rPr lang="es-CL" dirty="0"/>
              <a:t>Indicación docente: Miren la carpeta de la izquierda. «análisis_final», «análisis_final_v2», «este_sí». No puede responder qué cambió, por qué, ni cuál era el estado el día que funcionaba. El ecosistema existe para que quede registrado el proceso, no solo el resultado. Indicación docente: Pedir que levanten la mano quienes reconocen la carpeta de la izquierda. Sirve para instalar la idea de que el problema es real y no una exigencia burocratica del curso.</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Cuatro piezas, cuatro funciones. Ninguna reemplaza a otra. Y la confusión que aparece cada semestre: Git no es GitHub. Git funciona en su computador, sin internet; GitHub aloja repositorios Git. Pueden usar Git sin GitHub, al revés no.</a:t>
            </a:r>
          </a:p>
          <a:p>
            <a:endParaRPr lang="es-CL"/>
          </a:p>
          <a:p>
            <a:r>
              <a:rPr lang="es-CL" dirty="0"/>
              <a:t>Indicación docente: Cuatro piezas, cuatro funciones. Ninguna reemplaza a otra. Y la confusión que aparece cada semestre: Git no es GitHub. Git funciona en su computador, sin internet; GitHub aloja repositorios Git. Pueden usar Git sin GitHub, al revés no. Indicación docente: Esta lamina es el indice de la sesion: cada pieza tiene despues su propia diapositiva. Detenerse en la distincion Git/GitHub, que es la que mas se confunde en los mapas conceptuales.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código es solo una parte: lo que hace reproducible el análisis es el entorno donde corre. El entorno virtual es una caja de herramientas por proyecto. Si cada integrante instala versiones distintas, el mismo notebook produce resultados distintos.</a:t>
            </a:r>
          </a:p>
          <a:p>
            <a:endParaRPr lang="es-CL"/>
          </a:p>
          <a:p>
            <a:r>
              <a:rPr lang="es-CL" dirty="0"/>
              <a:t>Indicación docente: El código es solo una parte: lo que hace reproducible el análisis es el entorno donde corre. El entorno virtual es una caja de herramientas por proyecto. Si cada integrante instala versiones distintas, el mismo notebook produce resultados distintos. Indicación docente: Analogia util: el entorno virtual es como una caja de herramientas por proyecto. Nadie usa la misma llave desgastada para todo. Mencionar que el comando exacto cambia entre Windows y macOS, y remitir a la guia de Git del curso.</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notebook lleva el razonamiento junto al cálculo. Dos cosas que causan casi todos los problemas: el kernel debe ser el del proyecto, no el genérico; y antes de entregar, siempre Restart Kernel and Run All. Los contadores desordenados delatan un notebook que solo corre en un orden.</a:t>
            </a:r>
          </a:p>
          <a:p>
            <a:endParaRPr lang="es-CL"/>
          </a:p>
          <a:p>
            <a:r>
              <a:rPr lang="es-CL" dirty="0"/>
              <a:t>Indicación docente: El notebook lleva el razonamiento junto al cálculo. Dos cosas que causan casi todos los problemas: el kernel debe ser el del proyecto, no el genérico; y antes de entregar, siempre Restart Kernel and Run All. Los contadores desordenados delatan un notebook que solo corre en un orden. Indicación docente: Mostrar en vivo, si se puede, un notebook con celdas ejecutadas fuera de orden y el efecto de reiniciar el kernel. Es mucho mas convincente que explicarlo.</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Este es el punto que las guías genéricas omiten. El archivo .ipynb guarda las salidas dentro del mismo JSON: eso produce diferencias ilegibles, conflictos constantes y a veces datos expuestos. Se resuelve con nbstripout, y el notebook ejecutado se exporta aparte para la entrega.</a:t>
            </a:r>
          </a:p>
          <a:p>
            <a:endParaRPr lang="es-CL"/>
          </a:p>
          <a:p>
            <a:r>
              <a:rPr lang="es-CL" dirty="0"/>
              <a:t>Indicación docente: Este es el punto que las guías genéricas omiten. El archivo .ipynb guarda las salidas dentro del mismo JSON: eso produce diferencias ilegibles, conflictos constantes y a veces datos expuestos. Se resuelve con nbstripout, y el notebook ejecutado se exporta aparte para la entrega. Indicación docente: Aclarar la aparente contradiccion: la rubrica pide notebook ejecutado, pero el repositorio conviene mantenerlo limpio. La solucion es exportar a PDF o HTML el notebook ejecutado y adjuntarlo al informe.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Tres estados: lo que edita, lo que prepara y lo que queda registrado. El staging parece un paso innecesario, pero es lo que permite separar en dos commits cosas que hicieron a la misma hora. Y el mensaje importa: «primer commit» no dice nada.</a:t>
            </a:r>
          </a:p>
          <a:p>
            <a:endParaRPr lang="es-CL"/>
          </a:p>
          <a:p>
            <a:r>
              <a:rPr lang="es-CL" dirty="0"/>
              <a:t>Indicación docente: Tres estados: lo que edita, lo que prepara y lo que queda registrado. El staging parece un paso innecesario, pero es lo que permite separar en dos commits cosas que hicieron a la misma hora. Y el mensaje importa: «primer commit» no dice nada. Indicación docente: El staging suele parecer un paso innecesario. Explicar su razon de ser: permite separar en dos commits distintos dos cambios que se hicieron a la vez pero no tienen relacion entre si.</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Git registra su historia local; GitHub la pone en común. Repositorio remoto, colaboradores, ramas y pull requests. El historial muestra quién hizo qué: en este curso eso no es administrativo, es la evidencia de que el trabajo fue grupal.</a:t>
            </a:r>
          </a:p>
          <a:p>
            <a:endParaRPr lang="es-CL"/>
          </a:p>
          <a:p>
            <a:r>
              <a:rPr lang="es-CL" dirty="0"/>
              <a:t>Indicación docente: Git registra su historia local; GitHub la pone en común. Repositorio remoto, colaboradores, ramas y pull requests. El historial muestra quién hizo qué: en este curso eso no es administrativo, es la evidencia de que el trabajo fue grupal. Indicación docente: Advertir contra el patron habitual: una persona recibe los archivos por mensajeria y los sube. Eso produce un repositorio con un solo autor y contradice el trabajo colaborativo que se evalua.</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Esta es la lámina central. Tres piezas viven en su computador y una en la nube, y dos comandos las conectan: push sube lo suyo, pull trae lo de los demás. El notebook produce el análisis, Git lo versiona, GitHub lo comparte, el entorno hace que corra igual en los cuatro equipos.</a:t>
            </a:r>
          </a:p>
          <a:p>
            <a:endParaRPr lang="es-CL"/>
          </a:p>
          <a:p>
            <a:r>
              <a:rPr lang="es-CL" dirty="0"/>
              <a:t>Indicación docente: Esta es la lámina central. Tres piezas viven en su computador y una en la nube, y dos comandos las conectan: push sube lo suyo, pull trae lo de los demás. El notebook produce el análisis, Git lo versiona, GitHub lo comparte, el entorno hace que corra igual en los cuatro equipos. Indicación docente: Esta es la lamina central de la sesion. Recorrerla dos veces: primero de izquierda a derecha (yo trabajo y subo), luego de derecha a izquierda (traigo lo que hicieron los demas).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Un conflicto no es un error: es Git pidiendo una decisión que solo el equipo puede tomar. En el ejemplo, eliminar filas o imputar la mediana no son equivalentes. Provoquen un conflicto a propósito esta semana, no la noche antes de entregar.</a:t>
            </a:r>
          </a:p>
          <a:p>
            <a:endParaRPr lang="es-CL"/>
          </a:p>
          <a:p>
            <a:r>
              <a:rPr lang="es-CL" dirty="0"/>
              <a:t>Indicación docente: Un conflicto no es un error: es Git pidiendo una decisión que solo el equipo puede tomar. En el ejemplo, eliminar filas o imputar la mediana no son equivalentes. Provoquen un conflicto a propósito esta semana, no la noche antes de entregar. Indicación docente: Si hay tiempo, hacer el ejercicio en vivo con dos voluntarios editando la misma linea. Ver el conflicto resolverse quita el miedo.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Casi ningún problema viene de una herramienta sola: viene de cómo se conectan. Síntoma, causa y corrección para los seis casos habituales. Esta tabla está en la guía de Git con el mensaje de error textual: cuando algo falle, empiecen por ahí.</a:t>
            </a:r>
          </a:p>
          <a:p>
            <a:endParaRPr lang="es-CL"/>
          </a:p>
          <a:p>
            <a:r>
              <a:rPr lang="es-CL" dirty="0"/>
              <a:t>Indicación docente: Casi ningún problema viene de una herramienta sola: viene de cómo se conectan. Síntoma, causa y corrección para los seis casos habituales. Esta tabla está en la guía de Git con el mensaje de error textual: cuando algo falle, empiecen por ahí. Indicación docente: Recorrer la tabla rapido y decir que esta reproducida en la guia de Git del curso, con el mensaje de error textual de cada caso.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Elegir el conjunto de datos no es un trámite previo al proyecto. Es la primera decisión técnica, y determina qué tan exigente será todo lo que venga después.</a:t>
            </a:r>
          </a:p>
          <a:p>
            <a:endParaRPr lang="es-CL"/>
          </a:p>
          <a:p>
            <a:r>
              <a:rPr lang="es-CL" dirty="0"/>
              <a:t>Indicación docente: Elegir el conjunto de datos no es un trámite previo al proyecto. Es la primera decisión técnica, y determina qué tan exigente será todo lo que venga después. Indicación docente: Encuadrar: elegir el dataset no es un paso administrativo previo al proyecto. Es la decision que determina que tan interesante y que tan exigente sera el trabajo de las cuatro fases.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Condiciona tres cosas: la pregunta, porque solo se puede preguntar lo que los datos permiten; el trabajo técnico, porque si no hay nada que limpiar no hay nada que justificar; y el interés. Es la única decisión de la fase que no se revierte sin rehacer el trabajo.</a:t>
            </a:r>
          </a:p>
          <a:p>
            <a:endParaRPr lang="es-CL"/>
          </a:p>
          <a:p>
            <a:r>
              <a:rPr lang="es-CL" dirty="0"/>
              <a:t>Indicación docente: Condiciona tres cosas: la pregunta, porque solo se puede preguntar lo que los datos permiten; el trabajo técnico, porque si no hay nada que limpiar no hay nada que justificar; y el interés. Es la única decisión de la fase que no se revierte sin rehacer el trabajo. Indicación docente: Contar el caso tipico: un grupo elige rapido un dataset limpio de Kaggle, y en la Fase 2 descubre que no hay nada que preprocesar ni pregunta interesante que hacer. Cambiar entonces cuesta rehacer el mapa y el repositorio.</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Ocho roles, ocho tratamientos. Detengánse en ordinal frente a nominal: bajo, medio y alto tienen orden; región no. Si lo codifican mal, entrenan sobre una escala inventada, y la librería no les va a avisar.</a:t>
            </a:r>
          </a:p>
          <a:p>
            <a:endParaRPr lang="es-CL"/>
          </a:p>
          <a:p>
            <a:r>
              <a:rPr lang="es-CL" dirty="0"/>
              <a:t>Indicación docente: Ocho roles, ocho tratamientos. Detengánse en ordinal frente a nominal: bajo, medio y alto tienen orden; región no. Si lo codifican mal, entrenan sobre una escala inventada, y la librería no les va a avisar. Indicación docente: Detenerse en ordinal frente a nominal: bajo-medio-alto tiene orden, region no. Codificar mal esa diferencia produce un modelo entrenado sobre una escala inventada.</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Los umbrales mínimos. Los números importan menos que saber dos cosas: que existe un criterio objetivo y que hay un script que lo verifica. El requisito menos evidente va en la lámina siguiente.</a:t>
            </a:r>
          </a:p>
          <a:p>
            <a:endParaRPr lang="es-CL"/>
          </a:p>
          <a:p>
            <a:r>
              <a:rPr lang="es-CL" dirty="0"/>
              <a:t>Indicación docente: Los umbrales mínimos. Los números importan menos que saber dos cosas: que existe un criterio objetivo y que hay un script que lo verifica. El requisito menos evidente va en la lámina siguiente. Indicación docente: Leer los numeros rapido; lo importante es que sepan que existe un umbral objetivo y que hay un script que lo verifica.</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conjunto debe tener datos faltantes. Suena raro y es lo que más protege su nota: un dataset perfecto no deja decisiones que tomar ni nada que justificar, y el criterio de mayor peso de la sumativa queda sin evidencia. El rango útil está entre el uno y el treinta por ciento.</a:t>
            </a:r>
          </a:p>
          <a:p>
            <a:endParaRPr lang="es-CL"/>
          </a:p>
          <a:p>
            <a:r>
              <a:rPr lang="es-CL" dirty="0"/>
              <a:t>Indicación docente: El conjunto debe tener datos faltantes. Suena raro y es lo que más protege su nota: un dataset perfecto no deja decisiones que tomar ni nada que justificar, y el criterio de mayor peso de la sumativa queda sin evidencia. El rango útil está entre el uno y el treinta por ciento. Indicación docente: Este es el punto que mas sorprende y el que mas conviene repetir. Un dataset ya limpio no es una ventaja: es la perdida del criterio con mas peso de la entrega.</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problema debe ser contingente: tener consecuencias hoy para alguien. La prueba es simple, si el análisis no le interesaría a ningún tomador de decisiones, probablemente está mal elegido. Las seis líneas son ejemplos, no temas cerrados.</a:t>
            </a:r>
          </a:p>
          <a:p>
            <a:endParaRPr lang="es-CL"/>
          </a:p>
          <a:p>
            <a:r>
              <a:rPr lang="es-CL" dirty="0"/>
              <a:t>Indicación docente: El problema debe ser contingente: tener consecuencias hoy para alguien. La prueba es simple, si el análisis no le interesaría a ningún tomador de decisiones, probablemente está mal elegido. Las seis líneas son ejemplos, no temas cerrados. Indicación docente: Aclarar que estas seis lineas orientan la busqueda pero no la limitan. Lo que si es obligatorio es que exista un dataset abierto que sostenga la pregunta.</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Empiecen por las fuentes chilenas antes que por Kaggle. Son más contingentes y vienen más sucias, y eso último, que parece un defecto, es justamente lo que les da trabajo evaluable.</a:t>
            </a:r>
          </a:p>
          <a:p>
            <a:endParaRPr lang="es-CL"/>
          </a:p>
          <a:p>
            <a:r>
              <a:rPr lang="es-CL" dirty="0"/>
              <a:t>Indicación docente: Empiecen por las fuentes chilenas antes que por Kaggle. Son más contingentes y vienen más sucias, y eso último, que parece un defecto, es justamente lo que les da trabajo evaluable. Indicación docente: Recomendar empezar por aqui antes que por Kaggle: los datos chilenos son mas contingentes, vienen mas sucios y por eso dan mas trabajo evaluable.</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Voy a recorrer una ficha completa para mostrar cómo se lee: fuente, unidad de observación, roles disponibles y advertencia práctica. Esas cuatro cosas son las que ustedes tendrán que declarar de su propio conjunto.</a:t>
            </a:r>
          </a:p>
          <a:p>
            <a:endParaRPr lang="es-CL"/>
          </a:p>
          <a:p>
            <a:r>
              <a:rPr lang="es-CL" dirty="0"/>
              <a:t>Indicación docente: Voy a recorrer una ficha completa para mostrar cómo se lee: fuente, unidad de observación, roles disponibles y advertencia práctica. Esas cuatro cosas son las que ustedes tendrán que declarar de su propio conjunto. Indicación docente: Recorrer una ficha completa para mostrar como se lee: fuente, unidad de observacion, roles disponibles y advertencia practica. Las demas se leen igual.</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Cuatro fricciones que aparecen siempre con datos públicos chilenos: separador punto y coma, codificación latin-1, coma decimal y archivos sobre cien megabytes. Y si filtran la base para que quepa, ese filtro es una decisión técnica que debe quedar documentada.</a:t>
            </a:r>
          </a:p>
          <a:p>
            <a:endParaRPr lang="es-CL"/>
          </a:p>
          <a:p>
            <a:r>
              <a:rPr lang="es-CL" dirty="0"/>
              <a:t>Indicación docente: Cuatro fricciones que aparecen siempre con datos públicos chilenos: separador punto y coma, codificación latin-1, coma decimal y archivos sobre cien megabytes. Y si filtran la base para que quepa, ese filtro es una decisión técnica que debe quedar documentada. Indicación docente: Estas cuatro fricciones aparecen practicamente siempre con datos publicos chilenos. Anticiparlas evita que un grupo abandone una buena fuente por un problema de lectura.</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Las fuentes internacionales sirven, con más cuidado en licencia y vigencia. Un filtro rápido: si el conjunto no tiene diccionario de variables, va a dar problemas toda la Fase 2. Y en Kaggle, prefieran datos crudos y no conjuntos preparados para competencias.</a:t>
            </a:r>
          </a:p>
          <a:p>
            <a:endParaRPr lang="es-CL"/>
          </a:p>
          <a:p>
            <a:r>
              <a:rPr lang="es-CL" dirty="0"/>
              <a:t>Indicación docente: Las fuentes internacionales sirven, con más cuidado en licencia y vigencia. Un filtro rápido: si el conjunto no tiene diccionario de variables, va a dar problemas toda la Fase 2. Y en Kaggle, prefieran datos crudos y no conjuntos preparados para competencias. Indicación docente: El diccionario de variables es un buen filtro rapido: un dataset sin documentacion de sus columnas dara problemas toda la Fase 2.</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No decidan a ojo: validen. El curso entrega un script que perfila las variables, revisa requisito por requisito y genera un informe en Markdown. Adjunten esa salida: así la elección deja de ser una declaración y pasa a ser una verificación.</a:t>
            </a:r>
          </a:p>
          <a:p>
            <a:endParaRPr lang="es-CL"/>
          </a:p>
          <a:p>
            <a:r>
              <a:rPr lang="es-CL" dirty="0"/>
              <a:t>Indicación docente: No decidan a ojo: validen. El curso entrega un script que perfila las variables, revisa requisito por requisito y genera un informe en Markdown. Adjunten esa salida: así la elección deja de ser una declaración y pasa a ser una verificación. Indicación docente: Mostrar el script corriendo en vivo si es posible. Aclarar que devuelve codigo de salida 0 o 1, asi que tambien sirve como verificacion automatica.</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Tener el dataset no es tener la pregunta. Falta la exploración inicial y la formulación: que los datos existan en el conjunto, que los conceptos se puedan medir con esas variables y que el alcance esté acotado. Las dos cosas se declaran en la Formativa 1.</a:t>
            </a:r>
          </a:p>
          <a:p>
            <a:endParaRPr lang="es-CL"/>
          </a:p>
          <a:p>
            <a:r>
              <a:rPr lang="es-CL" dirty="0"/>
              <a:t>Indicación docente: Tener el dataset no es tener la pregunta. Falta la exploración inicial y la formulación: que los datos existan en el conjunto, que los conceptos se puedan medir con esas variables y que el alcance esté acotado. Las dos cosas se declaran en la Formativa 1. Indicación docente: Enlazar con la presentacion de conceptos teoricos, donde se desarrolla la progresion situacion - problema - pregunta analizable.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Pasamos a la Formativa 1: el mapa conceptual. Vale veinticinco puntos que no ponderan, pero su resultado se integra en la sumativa. Es la única instancia del módulo donde equivocarse sale gratis.</a:t>
            </a:r>
          </a:p>
          <a:p>
            <a:endParaRPr lang="es-CL"/>
          </a:p>
          <a:p>
            <a:r>
              <a:rPr lang="es-CL" dirty="0"/>
              <a:t>Indicación docente: Pasamos a la Formativa 1: el mapa conceptual. Vale veinticinco puntos que no ponderan, pero su resultado se integra en la sumativa. Es la única instancia del módulo donde equivocarse sale gratis. Indicación docente: Abrir situando la actividad: es el primer avance del proyecto transversal y no pondera, pero su resultado se integra despues en la evaluacion sumativa de la Fase 1. Insistir en que la retroalimentacion es el verdadero producto de esta entrega.</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propósito es planificar y representar el flujo reproducible. Y el malentendido más frecuente: aquí no se programa ni se configura Git. Nada de capturas de GitHub ni fragmentos de código; lo que se evalúa es la representación conceptual.</a:t>
            </a:r>
          </a:p>
          <a:p>
            <a:endParaRPr lang="es-CL"/>
          </a:p>
          <a:p>
            <a:r>
              <a:rPr lang="es-CL" dirty="0"/>
              <a:t>Indicación docente: El propósito es planificar y representar el flujo reproducible. Y el malentendido más frecuente: aquí no se programa ni se configura Git. Nada de capturas de GitHub ni fragmentos de código; lo que se evalúa es la representación conceptual. Indicación docente: Este es el malentendido mas frecuente: los grupos intentan mostrar codigo o capturas de GitHub. Aclarar que se evalua la representacion conceptual, no la implementacion.</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Los tres indicadores del RA1 atraviesan la actividad, y se evidencian de forma proyectada: el mapa muestra cómo se van a cumplir, no que ya se cumplieron. Si no logran señalar dónde está cada uno en su mapa, falta trabajo.</a:t>
            </a:r>
          </a:p>
          <a:p>
            <a:endParaRPr lang="es-CL"/>
          </a:p>
          <a:p>
            <a:r>
              <a:rPr lang="es-CL" dirty="0"/>
              <a:t>Indicación docente: Los tres indicadores del RA1 atraviesan la actividad, y se evidencian de forma proyectada: el mapa muestra cómo se van a cumplir, no que ya se cumplieron. Si no logran señalar dónde está cada uno en su mapa, falta trabajo. Indicación docente: Vincular cada indicador con lo que se vera en el mapa: 1.1 con las herramientas identificadas, 1.2 con la estructura del repositorio y los commits proyectados, 1.3 con la articulacion codigo-narrativa-referencias.</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Cuatro pasos: revisar, acordar, elaborar y verificar. Es asincrónica, noventa minutos y un solo intento, así que la verificación formal no es un trámite. Repártanse los seis elementos y elaboren el mapa antes de redactar.</a:t>
            </a:r>
          </a:p>
          <a:p>
            <a:endParaRPr lang="es-CL"/>
          </a:p>
          <a:p>
            <a:r>
              <a:rPr lang="es-CL" dirty="0"/>
              <a:t>Indicación docente: Cuatro pasos: revisar, acordar, elaborar y verificar. Es asincrónica, noventa minutos y un solo intento, así que la verificación formal no es un trámite. Repártanse los seis elementos y elaboren el mapa antes de redactar. Indicación docente: Recordar que la actividad es asincronica y de un solo intento. Sugerir que se repartan los seis elementos del mapa entre los integrantes y luego los integren en una sesion comun.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Seis elementos exigidos, ninguno opcional. Los que más se omiten son los commits proyectados y la leyenda. Y la leyenda no es decoración: es lo que permite leer el mapa sin que ustedes lo expliquen.</a:t>
            </a:r>
          </a:p>
          <a:p>
            <a:endParaRPr lang="es-CL"/>
          </a:p>
          <a:p>
            <a:r>
              <a:rPr lang="es-CL" dirty="0"/>
              <a:t>Indicación docente: Seis elementos exigidos, ninguno opcional. Los que más se omiten son los commits proyectados y la leyenda. Y la leyenda no es decoración: es lo que permite leer el mapa sin que ustedes lo expliquen. Indicación docente: Leerlos como una lista de verificacion. Advertir que la leyenda no es decorativa: es lo que permite interpretar el mapa sin explicacion oral, y es criterio evaluado.</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Un ejemplo referencial, no un requisito. Lo importante es cómo se lee en el mapa: las carpetas corresponden a etapas, los commits muestran qué se registra y con qué detalle, el README es donde el proyecto se explica a un tercero, y el .gitignore evidencia criterio.</a:t>
            </a:r>
          </a:p>
          <a:p>
            <a:endParaRPr lang="es-CL"/>
          </a:p>
          <a:p>
            <a:r>
              <a:rPr lang="es-CL" dirty="0"/>
              <a:t>Indicación docente: Un ejemplo referencial, no un requisito. Lo importante es cómo se lee en el mapa: las carpetas corresponden a etapas, los commits muestran qué se registra y con qué detalle, el README es donde el proyecto se explica a un tercero, y el .gitignore evidencia criterio. Indicación docente: Aclarar que la estructura es un ejemplo y no un requisito de la rubrica: lo exigido es que representen carpetas principales, archivos clave, commits proyectados y criterios de versionamiento.</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Los aspectos formales. Un archivo, dos páginas, portada con los nombres como aparecerán en el acta y una referencia en APA 7. El error más frecuente es el nombre del archivo: sin tildes, sin eñe, máximo veinte caracteres.</a:t>
            </a:r>
          </a:p>
          <a:p>
            <a:endParaRPr lang="es-CL"/>
          </a:p>
          <a:p>
            <a:r>
              <a:rPr lang="es-CL" dirty="0"/>
              <a:t>Indicación docente: Los aspectos formales. Un archivo, dos páginas, portada con los nombres como aparecerán en el acta y una referencia en APA 7. El error más frecuente es el nombre del archivo: sin tildes, sin eñe, máximo veinte caracteres. Indicación docente: Revisar en voz alta el nombre del archivo: es el error formal mas frecuente. Mostrar en Canvas donde esta el boton Examinar mi equipo.</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Cinco criterios de cinco puntos. Los cinco comparten el mismo estándar: representación completa, coherente y técnicamente precisa. Y ojo con la escala: del nivel Excelente al Bueno se pierden dos puntos de golpe, no uno.</a:t>
            </a:r>
          </a:p>
          <a:p>
            <a:endParaRPr lang="es-CL"/>
          </a:p>
          <a:p>
            <a:r>
              <a:rPr lang="es-CL" dirty="0"/>
              <a:t>Indicación docente: Cinco criterios de cinco puntos. Los cinco comparten el mismo estándar: representación completa, coherente y técnicamente precisa. Y ojo con la escala: del nivel Excelente al Bueno se pierden dos puntos de golpe, no uno. Indicación docente: Mostrar la rubrica en Canvas. Explicar que los cinco criterios comparten el mismo estandar de logro: representacion completa, coherente y tecnicamente precisa, con jerarquia clara y reflexion grupal evidente.</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Esta lámina calibra las expectativas. «Usaremos GitHub» frente a «GitHub aloja el repositorio remoto y permite que los cuatro trabajen sobre la misma base, con historial verificable». La diferencia no es la extensión: es decir para qué sirve y a qué etapa corresponde.</a:t>
            </a:r>
          </a:p>
          <a:p>
            <a:endParaRPr lang="es-CL"/>
          </a:p>
          <a:p>
            <a:r>
              <a:rPr lang="es-CL" dirty="0"/>
              <a:t>Indicación docente: Esta lámina calibra las expectativas. «Usaremos GitHub» frente a «GitHub aloja el repositorio remoto y permite que los cuatro trabajen sobre la misma base, con historial verificable». La diferencia no es la extensión: es decir para qué sirve y a qué etapa corresponde. Indicación docente: Esta es la diapositiva mas util para calibrar expectativas. Sugerir que, antes de entregar, revisen su propio texto buscando frases del tipo 'usaremos X' sin funcion ni etapa asociada.</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Los seis errores que más cuestan puntos, con su corrección. Los seis se detectan en cinco minutos revisando el propio trabajo. Y cierro con lo del principio: esta es la única entrega donde equivocarse no cuesta nota.</a:t>
            </a:r>
          </a:p>
          <a:p>
            <a:endParaRPr lang="es-CL"/>
          </a:p>
          <a:p>
            <a:r>
              <a:rPr lang="es-CL" dirty="0"/>
              <a:t>Indicación docente: Los seis errores que más cuestan puntos, con su corrección. Los seis se detectan en cinco minutos revisando el propio trabajo. Y cierro con lo del principio: esta es la única entrega donde equivocarse no cuesta nota. Indicación docente: Pedir que levanten la mano quienes ya usan Git. Suele haber mucha heterogeneidad; aprovechar para sugerir que los grupos se armen mezclando niveles de experiencia.</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Último bloque: la Sumativa 1, noventa y nueve puntos, Fases 1 y 2. Esta parte no explica conceptos, explica qué hay que hacer y en qué orden.</a:t>
            </a:r>
          </a:p>
          <a:p>
            <a:endParaRPr lang="es-CL"/>
          </a:p>
          <a:p>
            <a:r>
              <a:rPr lang="es-CL" dirty="0"/>
              <a:t>Indicación docente: Último bloque: la Sumativa 1, noventa y nueve puntos, Fases 1 y 2. Esta parte no explica conceptos, explica qué hay que hacer y en qué orden. Indicación docente: Encuadrar: esta sesion no explica conceptos, explica que hay que hacer y en que orden. Los conceptos estan en la presentacion de la Fase 1 y en la del ecosistema cientifico.</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Cuatro productos, y los cuatro se evalúan. La duda habitual es si va un notebook o dos: ambas formas se aceptan, lo que no se acepta es que las fases se mezclen, porque la rúbrica las evalúa por separado, nueve puntos cada una.</a:t>
            </a:r>
          </a:p>
          <a:p>
            <a:endParaRPr lang="es-CL"/>
          </a:p>
          <a:p>
            <a:r>
              <a:rPr lang="es-CL" dirty="0"/>
              <a:t>Indicación docente: Cuatro productos, y los cuatro se evalúan. La duda habitual es si va un notebook o dos: ambas formas se aceptan, lo que no se acepta es que las fases se mezclen, porque la rúbrica las evalúa por separado, nueve puntos cada una. Indicación docente: Aclarar la duda mas frecuente: si va un notebook o dos. Ambas formas se aceptan; lo que no se acepta es que las fases se mezclen y no se pueda distinguir cual es cual.</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Sesenta y seis puntos están en el notebook, veintiuno en el informe y doce en el repositorio. El patrón habitual es concentrarse en el código y redactar el informe la última noche: eso deja veintiún puntos sin cubrir.</a:t>
            </a:r>
          </a:p>
          <a:p>
            <a:endParaRPr lang="es-CL"/>
          </a:p>
          <a:p>
            <a:r>
              <a:rPr lang="es-CL" dirty="0"/>
              <a:t>Indicación docente: Sesenta y seis puntos están en el notebook, veintiuno en el informe y doce en el repositorio. El patrón habitual es concentrarse en el código y redactar el informe la última noche: eso deja veintiún puntos sin cubrir. Indicación docente: Este reparto suele sorprender. Los grupos tienden a concentrarse en el codigo y a redactar el informe la ultima noche. Insistir en que el informe vale mas que cualquier criterio individual del notebook.</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Doce pasos, en tres bloques. Los cuatro primeros ya los cubrimos. Una advertencia de organización: el montaje y la elección del dataset pueden ir en paralelo, pero del paso seis en adelante cada etapa consume el resultado de la anterior.</a:t>
            </a:r>
          </a:p>
          <a:p>
            <a:endParaRPr lang="es-CL"/>
          </a:p>
          <a:p>
            <a:r>
              <a:rPr lang="es-CL" dirty="0"/>
              <a:t>Indicación docente: Doce pasos, en tres bloques. Los cuatro primeros ya los cubrimos. Una advertencia de organización: el montaje y la elección del dataset pueden ir en paralelo, pero del paso seis en adelante cada etapa consume el resultado de la anterior. Indicación docente: Recorrer la ruta completa antes de entrar al detalle. Sugerir que se repartan los bloques entre integrantes, pero que todos entiendan la secuencia completa.</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README y requirements son los dos archivos que hacen reconstruible el proyecto, y ambos se evalúan. Regeneren el requirements cada vez que instalen algo. Y un truco: generen el README desde el notebook, así la documentación no se desactualiza respecto del código.</a:t>
            </a:r>
          </a:p>
          <a:p>
            <a:endParaRPr lang="es-CL"/>
          </a:p>
          <a:p>
            <a:r>
              <a:rPr lang="es-CL" dirty="0"/>
              <a:t>Indicación docente: README y requirements son los dos archivos que hacen reconstruible el proyecto, y ambos se evalúan. Regeneren el requirements cada vez que instalen algo. Y un truco: generen el README desde el notebook, así la documentación no se desactualiza respecto del código. Indicación docente: El notebook de referencia del curso hace exactamente eso: compone el README con f-strings desde el diccionario de configuracion.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Este es el mensaje central de la sesión: medir primero. Cuatro mediciones antes de tocar nada. Y la regla de oro: no apliquen una técnica porque es la habitual, apliquen la que las cifras justifican. Afirmar sin evidencia es lo que más penaliza la rúbrica.</a:t>
            </a:r>
          </a:p>
          <a:p>
            <a:endParaRPr lang="es-CL"/>
          </a:p>
          <a:p>
            <a:r>
              <a:rPr lang="es-CL" dirty="0"/>
              <a:t>Indicación docente: Este es el mensaje central de la sesión: medir primero. Cuatro mediciones antes de tocar nada. Y la regla de oro: no apliquen una técnica porque es la habitual, apliquen la que las cifras justifican. Afirmar sin evidencia es lo que más penaliza la rúbrica. Indicación docente: Este es el mensaje central de toda la sesion. Repetirlo: primero medir, despues decidir, y justificar con la medicion.</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No hay un método de imputación universalmente mejor: se comparan y se justifica. Lo que hay que mirar es el cambio porcentual en la desviación estándar. Y dos cosas no pueden faltar: una bandera de qué filas se imputaron y el reporte del efecto sobre la dispersión.</a:t>
            </a:r>
          </a:p>
          <a:p>
            <a:endParaRPr lang="es-CL"/>
          </a:p>
          <a:p>
            <a:r>
              <a:rPr lang="es-CL" dirty="0"/>
              <a:t>Indicación docente: No hay un método de imputación universalmente mejor: se comparan y se justifica. Lo que hay que mirar es el cambio porcentual en la desviación estándar. Y dos cosas no pueden faltar: una bandera de qué filas se imputaron y el reporte del efecto sobre la dispersión. Indicación docente: Advertir el caso en que las cuatro estrategias dan casi lo mismo: entonces la eleccion importa poco y hay que declararlo asi. Lo que no se acepta es argumentar asimetria cuando la tabla muestra asimetria nula.</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Cada rol exige un tratamiento distinto. El error que más se repite es dejar que la librería ordene una variable ordinal alfabéticamente: «exfumador menor que fumador» no significa nada. El orden lo declara el equipo, explícitamente.</a:t>
            </a:r>
          </a:p>
          <a:p>
            <a:endParaRPr lang="es-CL"/>
          </a:p>
          <a:p>
            <a:r>
              <a:rPr lang="es-CL" dirty="0"/>
              <a:t>Indicación docente: Cada rol exige un tratamiento distinto. El error que más se repite es dejar que la librería ordene una variable ordinal alfabéticamente: «exfumador menor que fumador» no significa nada. El orden lo declara el equipo, explícitamente. Indicación docente: Preguntar al curso que variables de su dataset son ordinales. Suele haber mas de las que creen, y casi siempre las tratan como nominales.</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Tres escaladores, tres garantías distintas. Y una exigencia de coherencia: si reconocieron valores extremos para imputar con la mediana, no tiene sentido centrar con la media al escalar. Si eligen criterios distintos, hay que explicar por qué.</a:t>
            </a:r>
          </a:p>
          <a:p>
            <a:endParaRPr lang="es-CL"/>
          </a:p>
          <a:p>
            <a:r>
              <a:rPr lang="es-CL" dirty="0"/>
              <a:t>Indicación docente: Tres escaladores, tres garantías distintas. Y una exigencia de coherencia: si reconocieron valores extremos para imputar con la mediana, no tiene sentido centrar con la media al escalar. Si eligen criterios distintos, hay que explicar por qué. Indicación docente: Mostrar los boxplots comparativos del notebook de referencia: con MinMax se ve de inmediato como un valor extremo comprime al resto.</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Seis puntos de la rúbrica que casi nadie cubre completos. Validar es demostrar: asserts sobre el dataset, pruebas de las funciones en caso normal, límite y excepción, y la comprobación de la propiedad que garantiza el escalador que usaron. El caso límite es el que casi nadie escribe.</a:t>
            </a:r>
          </a:p>
          <a:p>
            <a:endParaRPr lang="es-CL"/>
          </a:p>
          <a:p>
            <a:r>
              <a:rPr lang="es-CL" dirty="0"/>
              <a:t>Indicación docente: Seis puntos de la rúbrica que casi nadie cubre completos. Validar es demostrar: asserts sobre el dataset, pruebas de las funciones en caso normal, límite y excepción, y la comprobación de la propiedad que garantiza el escalador que usaron. El caso límite es el que casi nadie escribe. Indicación docente: Los assert son baratos y detectan el problema donde se origina, no veinte celdas despues. Insistir en el caso limite: es el que casi nadie escribe.</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El pipeline no termina con el DataFrame limpio: termina cuando queda guardado y verificado. Y la bitácora es el atajo de toda la sesión: una función que anota cada decisión con sus cifras mientras ocurre. Esa línea es literalmente la frase que hay que justificar en el informe.</a:t>
            </a:r>
          </a:p>
          <a:p>
            <a:endParaRPr lang="es-CL"/>
          </a:p>
          <a:p>
            <a:r>
              <a:rPr lang="es-CL" dirty="0"/>
              <a:t>Indicación docente: El pipeline no termina con el DataFrame limpio: termina cuando queda guardado y verificado. Y la bitácora es el atajo de toda la sesión: una función que anota cada decisión con sus cifras mientras ocurre. Esa línea es literalmente la frase que hay que justificar en el informe. Indicación docente: Esa linea de bitacora es literalmente la frase que hay que justificar en el informe, con la cifra ya calculada. Es el mejor argumento para que adopten el habito.</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Veintiún puntos que no dependen del código: se escriben con lo que el notebook ya produjo. Seis secciones, cada una con su criterio. Y una condición: el informe y el notebook no pueden contradecirse. Misma problemática, mismos objetivos, mismas cifras.</a:t>
            </a:r>
          </a:p>
          <a:p>
            <a:endParaRPr lang="es-CL"/>
          </a:p>
          <a:p>
            <a:r>
              <a:rPr lang="es-CL" dirty="0"/>
              <a:t>Indicación docente: Veintiún puntos que no dependen del código: se escriben con lo que el notebook ya produjo. Seis secciones, cada una con su criterio. Y una condición: el informe y el notebook no pueden contradecirse. Misma problemática, mismos objetivos, mismas cifras. Indicación docente: Recordar el maximo de paginas y el formato institucional. Sugerir escribir la metodologia directamente desde la bitacora exportada.</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Doce puntos en control de versiones y repositorio, que se construyen durante las tres semanas. El evaluador mira que haya commits de cada integrante, repartidos en el tiempo y con mensajes que describan el cambio. Verifiquen esta semana que los cuatro pueden hacer push.</a:t>
            </a:r>
          </a:p>
          <a:p>
            <a:endParaRPr lang="es-CL"/>
          </a:p>
          <a:p>
            <a:r>
              <a:rPr lang="es-CL" dirty="0"/>
              <a:t>Indicación docente: Doce puntos en control de versiones y repositorio, que se construyen durante las tres semanas. El evaluador mira que haya commits de cada integrante, repartidos en el tiempo y con mensajes que describan el cambio. Verifiquen esta semana que los cuatro pueden hacer push. Indicación docente: Pedir que verifiquen esta misma semana que los cuatro pueden hacer push sin error de permisos. Descubrirlo la noche de la entrega es tarde.</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La lista de verificación final: léanla con el repositorio abierto, no de memoria. Comprueben el enlace en una ventana de incógnito. El notebook de referencia del curso implementa la ruta completa y puede usarse como plantilla. Dudas de contenido al Foro de Consultas.</a:t>
            </a:r>
          </a:p>
          <a:p>
            <a:endParaRPr lang="es-CL"/>
          </a:p>
          <a:p>
            <a:r>
              <a:rPr lang="es-CL" dirty="0"/>
              <a:t>Indicación docente: La lista de verificación final: léanla con el repositorio abierto, no de memoria. Comprueben el enlace en una ventana de incógnito. El notebook de referencia del curso implementa la ruta completa y puede usarse como plantilla. Dudas de contenido al Foro de Consultas. Indicación docente: Cerrar recordando que el notebook de referencia del curso implementa esta ruta completa y puede usarse como plantilla, adaptando la configuracion al dataset de cada grupo.</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Antes de entrar, el mapa. Siete bloques: los cinco primeros los preparan para el mapa conceptual de esta semana; los dos últimos, para la entrega sumativa. Cada bloque se sostiene solo, así que pueden volver a cualquiera por separado.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Así se reparten las tres semanas. Fíjense en dos cosas: la Semana 1 concentra dos unidades y el cuarenta por ciento de la nota, y el receso cae justo después de su entrega, así que las semanas 2 y 3 corren seguidas.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CL"/>
          </a:p>
        </p:txBody>
      </p:sp>
      <p:sp>
        <p:nvSpPr>
          <p:cNvPr id="3" name="Notes Placeholder 2"/>
          <p:cNvSpPr>
            <a:spLocks noGrp="1"/>
          </p:cNvSpPr>
          <p:nvPr>
            <p:ph type="body" idx="1"/>
          </p:nvPr>
        </p:nvSpPr>
        <p:spPr/>
        <p:txBody>
          <a:bodyPr/>
          <a:lstStyle/>
          <a:p>
            <a:r>
              <a:rPr lang="es-CL" dirty="0"/>
              <a:t>Esta es la regla, en dos columnas. A la izquierda, lo que su conjunto debe contener: binarias, enteras, flotantes, nominales y ordinales, cada una con el tratamiento que exige. A la derecha, lo que queda fuera: Titanic, Iris y Housing por pre-limpiados; stroke por ser el caso de clase; y los conjuntos de Kaggle ya preparados para competencias.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6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828800"/>
            <a:ext cx="7680960" cy="640080"/>
          </a:xfrm>
          <a:prstGeom prst="rect">
            <a:avLst/>
          </a:prstGeom>
          <a:noFill/>
          <a:ln/>
        </p:spPr>
        <p:txBody>
          <a:bodyPr wrap="square" lIns="0" tIns="0" rIns="0" bIns="0" rtlCol="0" anchor="ctr"/>
          <a:lstStyle/>
          <a:p>
            <a:pPr marL="0" indent="0">
              <a:buNone/>
            </a:pPr>
            <a:r>
              <a:rPr lang="en-US" sz="4200" b="1" kern="0" spc="200" dirty="0">
                <a:solidFill>
                  <a:srgbClr val="FFFFFF"/>
                </a:solidFill>
                <a:latin typeface="Cambria" pitchFamily="34" charset="0"/>
                <a:ea typeface="Cambria" pitchFamily="34" charset="-122"/>
                <a:cs typeface="Cambria" pitchFamily="34" charset="-120"/>
              </a:rPr>
              <a:t>BIENVENIDOS</a:t>
            </a:r>
            <a:endParaRPr lang="en-US" sz="4200" dirty="0"/>
          </a:p>
        </p:txBody>
      </p:sp>
      <p:sp>
        <p:nvSpPr>
          <p:cNvPr id="6" name="Text 2"/>
          <p:cNvSpPr/>
          <p:nvPr/>
        </p:nvSpPr>
        <p:spPr>
          <a:xfrm>
            <a:off x="548640" y="2578608"/>
            <a:ext cx="7680960" cy="502920"/>
          </a:xfrm>
          <a:prstGeom prst="rect">
            <a:avLst/>
          </a:prstGeom>
          <a:noFill/>
          <a:ln/>
        </p:spPr>
        <p:txBody>
          <a:bodyPr wrap="square" lIns="0" tIns="0" rIns="0" bIns="0" rtlCol="0" anchor="ctr"/>
          <a:lstStyle/>
          <a:p>
            <a:pPr marL="0" indent="0">
              <a:buNone/>
            </a:pPr>
            <a:r>
              <a:rPr lang="en-US" sz="2500" dirty="0">
                <a:solidFill>
                  <a:srgbClr val="D7E3EE"/>
                </a:solidFill>
                <a:latin typeface="Cambria" pitchFamily="34" charset="0"/>
                <a:ea typeface="Cambria" pitchFamily="34" charset="-122"/>
                <a:cs typeface="Cambria" pitchFamily="34" charset="-120"/>
              </a:rPr>
              <a:t>Programación para la Ciencia de Datos</a:t>
            </a:r>
            <a:endParaRPr lang="en-US" sz="2500" dirty="0"/>
          </a:p>
        </p:txBody>
      </p:sp>
      <p:sp>
        <p:nvSpPr>
          <p:cNvPr id="7" name="Shape 3"/>
          <p:cNvSpPr/>
          <p:nvPr/>
        </p:nvSpPr>
        <p:spPr>
          <a:xfrm>
            <a:off x="548640" y="3310128"/>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584448"/>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Magíster en Ciencia de Datos e Inteligencia Artificial</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lgn="ctr">
              <a:buNone/>
            </a:pPr>
            <a:r>
              <a:rPr lang="en-US" sz="1600" dirty="0">
                <a:solidFill>
                  <a:srgbClr val="5A6B7B"/>
                </a:solidFill>
                <a:latin typeface="Calibri" pitchFamily="34" charset="0"/>
                <a:ea typeface="Calibri" pitchFamily="34" charset="-122"/>
                <a:cs typeface="Calibri" pitchFamily="34" charset="-120"/>
              </a:rPr>
              <a:t>Dr. Omar Salinas Silva   |   omar.salinas@unab.cl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 qué se </a:t>
            </a:r>
            <a:r>
              <a:rPr lang="en-US" sz="3000" b="1" dirty="0" err="1">
                <a:solidFill>
                  <a:srgbClr val="06304A"/>
                </a:solidFill>
                <a:latin typeface="Cambria" pitchFamily="34" charset="0"/>
                <a:ea typeface="Cambria" pitchFamily="34" charset="-122"/>
                <a:cs typeface="Cambria" pitchFamily="34" charset="-120"/>
              </a:rPr>
              <a:t>trata</a:t>
            </a:r>
            <a:r>
              <a:rPr lang="en-US" sz="3000" b="1" dirty="0">
                <a:solidFill>
                  <a:srgbClr val="06304A"/>
                </a:solidFill>
                <a:latin typeface="Cambria" pitchFamily="34" charset="0"/>
                <a:ea typeface="Cambria" pitchFamily="34" charset="-122"/>
                <a:cs typeface="Cambria" pitchFamily="34" charset="-120"/>
              </a:rPr>
              <a:t> </a:t>
            </a:r>
            <a:r>
              <a:rPr lang="en-US" sz="3000" b="1" dirty="0" err="1">
                <a:solidFill>
                  <a:srgbClr val="06304A"/>
                </a:solidFill>
                <a:latin typeface="Cambria" pitchFamily="34" charset="0"/>
                <a:ea typeface="Cambria" pitchFamily="34" charset="-122"/>
                <a:cs typeface="Cambria" pitchFamily="34" charset="-120"/>
              </a:rPr>
              <a:t>este</a:t>
            </a:r>
            <a:r>
              <a:rPr lang="en-US" sz="3000" b="1" dirty="0">
                <a:solidFill>
                  <a:srgbClr val="06304A"/>
                </a:solidFill>
                <a:latin typeface="Cambria" pitchFamily="34" charset="0"/>
                <a:ea typeface="Cambria" pitchFamily="34" charset="-122"/>
                <a:cs typeface="Cambria" pitchFamily="34" charset="-120"/>
              </a:rPr>
              <a:t> </a:t>
            </a:r>
            <a:r>
              <a:rPr lang="en-US" sz="3000" b="1" dirty="0" err="1">
                <a:solidFill>
                  <a:srgbClr val="06304A"/>
                </a:solidFill>
                <a:latin typeface="Cambria" pitchFamily="34" charset="0"/>
                <a:ea typeface="Cambria" pitchFamily="34" charset="-122"/>
                <a:cs typeface="Cambria" pitchFamily="34" charset="-120"/>
              </a:rPr>
              <a:t>módulo</a:t>
            </a:r>
            <a:endParaRPr lang="en-US" sz="3000" dirty="0"/>
          </a:p>
        </p:txBody>
      </p:sp>
      <p:sp>
        <p:nvSpPr>
          <p:cNvPr id="4" name="Shape 2"/>
          <p:cNvSpPr/>
          <p:nvPr/>
        </p:nvSpPr>
        <p:spPr>
          <a:xfrm>
            <a:off x="548640" y="1783080"/>
            <a:ext cx="11064240" cy="1371600"/>
          </a:xfrm>
          <a:prstGeom prst="roundRect">
            <a:avLst>
              <a:gd name="adj" fmla="val 6000"/>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783080"/>
            <a:ext cx="10424160" cy="1371600"/>
          </a:xfrm>
          <a:prstGeom prst="rect">
            <a:avLst/>
          </a:prstGeom>
          <a:noFill/>
          <a:ln/>
        </p:spPr>
        <p:txBody>
          <a:bodyPr wrap="square" lIns="0" tIns="0" rIns="0" bIns="0" rtlCol="0" anchor="ctr"/>
          <a:lstStyle/>
          <a:p>
            <a:pPr marL="0" indent="0">
              <a:lnSpc>
                <a:spcPts val="2200"/>
              </a:lnSpc>
              <a:buNone/>
            </a:pPr>
            <a:r>
              <a:rPr lang="en-US" sz="1500" dirty="0">
                <a:solidFill>
                  <a:srgbClr val="AC212E"/>
                </a:solidFill>
                <a:latin typeface="Calibri" pitchFamily="34" charset="0"/>
                <a:ea typeface="Calibri" pitchFamily="34" charset="-122"/>
                <a:cs typeface="Calibri" pitchFamily="34" charset="-120"/>
              </a:rPr>
              <a:t>Saber programar y saber trabajar con datos no son lo mismo. Un análisis vale por su resultado, pero también por poder demostrar cómo se llegó a él, quién hizo qué, y que otra persona pueda reproducirlo. Eso es lo que van a aprender aquí.</a:t>
            </a:r>
            <a:endParaRPr lang="en-US" sz="1500" dirty="0"/>
          </a:p>
        </p:txBody>
      </p:sp>
      <p:sp>
        <p:nvSpPr>
          <p:cNvPr id="6" name="Shape 4"/>
          <p:cNvSpPr/>
          <p:nvPr/>
        </p:nvSpPr>
        <p:spPr>
          <a:xfrm>
            <a:off x="548640" y="3429000"/>
            <a:ext cx="3520440" cy="2011680"/>
          </a:xfrm>
          <a:prstGeom prst="roundRect">
            <a:avLst>
              <a:gd name="adj" fmla="val 4091"/>
            </a:avLst>
          </a:prstGeom>
          <a:solidFill>
            <a:srgbClr val="F4F7FA"/>
          </a:solidFill>
          <a:ln w="12700">
            <a:solidFill>
              <a:srgbClr val="F4F7FA"/>
            </a:solidFill>
            <a:prstDash val="solid"/>
          </a:ln>
        </p:spPr>
        <p:txBody>
          <a:bodyPr/>
          <a:lstStyle/>
          <a:p>
            <a:endParaRPr lang="es-CL"/>
          </a:p>
        </p:txBody>
      </p:sp>
      <p:sp>
        <p:nvSpPr>
          <p:cNvPr id="7" name="Shape 5"/>
          <p:cNvSpPr/>
          <p:nvPr/>
        </p:nvSpPr>
        <p:spPr>
          <a:xfrm>
            <a:off x="804672" y="3639312"/>
            <a:ext cx="457200" cy="457200"/>
          </a:xfrm>
          <a:prstGeom prst="ellipse">
            <a:avLst/>
          </a:prstGeom>
          <a:solidFill>
            <a:srgbClr val="AC212E"/>
          </a:solidFill>
          <a:ln/>
        </p:spPr>
        <p:txBody>
          <a:bodyPr/>
          <a:lstStyle/>
          <a:p>
            <a:endParaRPr lang="es-CL"/>
          </a:p>
        </p:txBody>
      </p:sp>
      <p:sp>
        <p:nvSpPr>
          <p:cNvPr id="8" name="Text 6"/>
          <p:cNvSpPr/>
          <p:nvPr/>
        </p:nvSpPr>
        <p:spPr>
          <a:xfrm>
            <a:off x="804672" y="36393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04672" y="4224528"/>
            <a:ext cx="3017520" cy="640080"/>
          </a:xfrm>
          <a:prstGeom prst="rect">
            <a:avLst/>
          </a:prstGeom>
          <a:noFill/>
          <a:ln/>
        </p:spPr>
        <p:txBody>
          <a:bodyPr wrap="square" lIns="0" tIns="0" rIns="0" bIns="0" rtlCol="0" anchor="ctr"/>
          <a:lstStyle/>
          <a:p>
            <a:pPr marL="0" indent="0">
              <a:lnSpc>
                <a:spcPts val="1900"/>
              </a:lnSpc>
              <a:buNone/>
            </a:pPr>
            <a:r>
              <a:rPr lang="en-US" sz="1450" b="1" dirty="0">
                <a:solidFill>
                  <a:srgbClr val="06304A"/>
                </a:solidFill>
                <a:latin typeface="Calibri" pitchFamily="34" charset="0"/>
                <a:ea typeface="Calibri" pitchFamily="34" charset="-122"/>
                <a:cs typeface="Calibri" pitchFamily="34" charset="-120"/>
              </a:rPr>
              <a:t>Escribir código que otros puedan leer</a:t>
            </a:r>
            <a:endParaRPr lang="en-US" sz="1450" dirty="0"/>
          </a:p>
        </p:txBody>
      </p:sp>
      <p:sp>
        <p:nvSpPr>
          <p:cNvPr id="10" name="Text 8"/>
          <p:cNvSpPr/>
          <p:nvPr/>
        </p:nvSpPr>
        <p:spPr>
          <a:xfrm>
            <a:off x="804672" y="4846320"/>
            <a:ext cx="3017520" cy="54864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Funciones, módulos, manejo de errores y documentación técnica.</a:t>
            </a:r>
            <a:endParaRPr lang="en-US" sz="1250" dirty="0"/>
          </a:p>
        </p:txBody>
      </p:sp>
      <p:sp>
        <p:nvSpPr>
          <p:cNvPr id="11" name="Shape 9"/>
          <p:cNvSpPr/>
          <p:nvPr/>
        </p:nvSpPr>
        <p:spPr>
          <a:xfrm>
            <a:off x="4325112" y="3429000"/>
            <a:ext cx="3520440" cy="2011680"/>
          </a:xfrm>
          <a:prstGeom prst="roundRect">
            <a:avLst>
              <a:gd name="adj" fmla="val 4091"/>
            </a:avLst>
          </a:prstGeom>
          <a:solidFill>
            <a:srgbClr val="F4F7FA"/>
          </a:solidFill>
          <a:ln w="12700">
            <a:solidFill>
              <a:srgbClr val="F4F7FA"/>
            </a:solidFill>
            <a:prstDash val="solid"/>
          </a:ln>
        </p:spPr>
        <p:txBody>
          <a:bodyPr/>
          <a:lstStyle/>
          <a:p>
            <a:endParaRPr lang="es-CL"/>
          </a:p>
        </p:txBody>
      </p:sp>
      <p:sp>
        <p:nvSpPr>
          <p:cNvPr id="12" name="Shape 10"/>
          <p:cNvSpPr/>
          <p:nvPr/>
        </p:nvSpPr>
        <p:spPr>
          <a:xfrm>
            <a:off x="4581144" y="3639312"/>
            <a:ext cx="457200" cy="457200"/>
          </a:xfrm>
          <a:prstGeom prst="ellipse">
            <a:avLst/>
          </a:prstGeom>
          <a:solidFill>
            <a:srgbClr val="AC212E"/>
          </a:solidFill>
          <a:ln/>
        </p:spPr>
        <p:txBody>
          <a:bodyPr/>
          <a:lstStyle/>
          <a:p>
            <a:endParaRPr lang="es-CL"/>
          </a:p>
        </p:txBody>
      </p:sp>
      <p:sp>
        <p:nvSpPr>
          <p:cNvPr id="13" name="Text 11"/>
          <p:cNvSpPr/>
          <p:nvPr/>
        </p:nvSpPr>
        <p:spPr>
          <a:xfrm>
            <a:off x="4581144" y="36393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581144" y="4224528"/>
            <a:ext cx="3017520" cy="640080"/>
          </a:xfrm>
          <a:prstGeom prst="rect">
            <a:avLst/>
          </a:prstGeom>
          <a:noFill/>
          <a:ln/>
        </p:spPr>
        <p:txBody>
          <a:bodyPr wrap="square" lIns="0" tIns="0" rIns="0" bIns="0" rtlCol="0" anchor="ctr"/>
          <a:lstStyle/>
          <a:p>
            <a:pPr marL="0" indent="0">
              <a:lnSpc>
                <a:spcPts val="1900"/>
              </a:lnSpc>
              <a:buNone/>
            </a:pPr>
            <a:r>
              <a:rPr lang="en-US" sz="1450" b="1" dirty="0">
                <a:solidFill>
                  <a:srgbClr val="06304A"/>
                </a:solidFill>
                <a:latin typeface="Calibri" pitchFamily="34" charset="0"/>
                <a:ea typeface="Calibri" pitchFamily="34" charset="-122"/>
                <a:cs typeface="Calibri" pitchFamily="34" charset="-120"/>
              </a:rPr>
              <a:t>Preparar datos reales</a:t>
            </a:r>
            <a:endParaRPr lang="en-US" sz="1450" dirty="0"/>
          </a:p>
        </p:txBody>
      </p:sp>
      <p:sp>
        <p:nvSpPr>
          <p:cNvPr id="15" name="Text 13"/>
          <p:cNvSpPr/>
          <p:nvPr/>
        </p:nvSpPr>
        <p:spPr>
          <a:xfrm>
            <a:off x="4581144" y="4846320"/>
            <a:ext cx="3017520" cy="54864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Obtención, limpieza y transformación con NumPy y Pandas.</a:t>
            </a:r>
            <a:endParaRPr lang="en-US" sz="1250" dirty="0"/>
          </a:p>
        </p:txBody>
      </p:sp>
      <p:sp>
        <p:nvSpPr>
          <p:cNvPr id="16" name="Shape 14"/>
          <p:cNvSpPr/>
          <p:nvPr/>
        </p:nvSpPr>
        <p:spPr>
          <a:xfrm>
            <a:off x="8101584" y="3429000"/>
            <a:ext cx="3520440" cy="2011680"/>
          </a:xfrm>
          <a:prstGeom prst="roundRect">
            <a:avLst>
              <a:gd name="adj" fmla="val 4091"/>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8357616" y="3639312"/>
            <a:ext cx="457200" cy="457200"/>
          </a:xfrm>
          <a:prstGeom prst="ellipse">
            <a:avLst/>
          </a:prstGeom>
          <a:solidFill>
            <a:srgbClr val="AC212E"/>
          </a:solidFill>
          <a:ln/>
        </p:spPr>
        <p:txBody>
          <a:bodyPr/>
          <a:lstStyle/>
          <a:p>
            <a:endParaRPr lang="es-CL"/>
          </a:p>
        </p:txBody>
      </p:sp>
      <p:sp>
        <p:nvSpPr>
          <p:cNvPr id="18" name="Text 16"/>
          <p:cNvSpPr/>
          <p:nvPr/>
        </p:nvSpPr>
        <p:spPr>
          <a:xfrm>
            <a:off x="8357616" y="36393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357616" y="4224528"/>
            <a:ext cx="3017520" cy="640080"/>
          </a:xfrm>
          <a:prstGeom prst="rect">
            <a:avLst/>
          </a:prstGeom>
          <a:noFill/>
          <a:ln/>
        </p:spPr>
        <p:txBody>
          <a:bodyPr wrap="square" lIns="0" tIns="0" rIns="0" bIns="0" rtlCol="0" anchor="ctr"/>
          <a:lstStyle/>
          <a:p>
            <a:pPr marL="0" indent="0">
              <a:lnSpc>
                <a:spcPts val="1900"/>
              </a:lnSpc>
              <a:buNone/>
            </a:pPr>
            <a:r>
              <a:rPr lang="en-US" sz="1450" b="1" dirty="0">
                <a:solidFill>
                  <a:srgbClr val="06304A"/>
                </a:solidFill>
                <a:latin typeface="Calibri" pitchFamily="34" charset="0"/>
                <a:ea typeface="Calibri" pitchFamily="34" charset="-122"/>
                <a:cs typeface="Calibri" pitchFamily="34" charset="-120"/>
              </a:rPr>
              <a:t>Trabajar de forma reproducible</a:t>
            </a:r>
            <a:endParaRPr lang="en-US" sz="1450" dirty="0"/>
          </a:p>
        </p:txBody>
      </p:sp>
      <p:sp>
        <p:nvSpPr>
          <p:cNvPr id="20" name="Text 18"/>
          <p:cNvSpPr/>
          <p:nvPr/>
        </p:nvSpPr>
        <p:spPr>
          <a:xfrm>
            <a:off x="8357616" y="4846320"/>
            <a:ext cx="3017520" cy="54864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Entornos, control de versiones y repositorios compartidos.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van a lograr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resultados de aprendizaje, uno por unidad temática.</a:t>
            </a:r>
            <a:endParaRPr lang="en-US" sz="1400" dirty="0"/>
          </a:p>
        </p:txBody>
      </p:sp>
      <p:sp>
        <p:nvSpPr>
          <p:cNvPr id="4" name="Shape 2"/>
          <p:cNvSpPr/>
          <p:nvPr/>
        </p:nvSpPr>
        <p:spPr>
          <a:xfrm>
            <a:off x="548640" y="178308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78308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RA1</a:t>
            </a:r>
            <a:endParaRPr lang="en-US" sz="2000" dirty="0"/>
          </a:p>
        </p:txBody>
      </p:sp>
      <p:sp>
        <p:nvSpPr>
          <p:cNvPr id="6" name="Text 4"/>
          <p:cNvSpPr/>
          <p:nvPr/>
        </p:nvSpPr>
        <p:spPr>
          <a:xfrm>
            <a:off x="1965960" y="178308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Aplicar buenas prácticas y herramientas de software científico —GitHub, Jupyter— para la gestión y documentación reproducible.</a:t>
            </a:r>
            <a:endParaRPr lang="en-US" sz="1350" dirty="0"/>
          </a:p>
        </p:txBody>
      </p:sp>
      <p:sp>
        <p:nvSpPr>
          <p:cNvPr id="7" name="Shape 5"/>
          <p:cNvSpPr/>
          <p:nvPr/>
        </p:nvSpPr>
        <p:spPr>
          <a:xfrm>
            <a:off x="548640" y="283464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8" name="Text 6"/>
          <p:cNvSpPr/>
          <p:nvPr/>
        </p:nvSpPr>
        <p:spPr>
          <a:xfrm>
            <a:off x="868680" y="283464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RA2</a:t>
            </a:r>
            <a:endParaRPr lang="en-US" sz="2000" dirty="0"/>
          </a:p>
        </p:txBody>
      </p:sp>
      <p:sp>
        <p:nvSpPr>
          <p:cNvPr id="9" name="Text 7"/>
          <p:cNvSpPr/>
          <p:nvPr/>
        </p:nvSpPr>
        <p:spPr>
          <a:xfrm>
            <a:off x="1965960" y="283464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Diseñar soluciones algorítmicas eficientes con programación estructurada y recursiva en Python.</a:t>
            </a:r>
            <a:endParaRPr lang="en-US" sz="1350" dirty="0"/>
          </a:p>
        </p:txBody>
      </p:sp>
      <p:sp>
        <p:nvSpPr>
          <p:cNvPr id="10" name="Shape 8"/>
          <p:cNvSpPr/>
          <p:nvPr/>
        </p:nvSpPr>
        <p:spPr>
          <a:xfrm>
            <a:off x="548640" y="388620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868680" y="388620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RA3</a:t>
            </a:r>
            <a:endParaRPr lang="en-US" sz="2000" dirty="0"/>
          </a:p>
        </p:txBody>
      </p:sp>
      <p:sp>
        <p:nvSpPr>
          <p:cNvPr id="12" name="Text 10"/>
          <p:cNvSpPr/>
          <p:nvPr/>
        </p:nvSpPr>
        <p:spPr>
          <a:xfrm>
            <a:off x="1965960" y="388620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Implementar código modular y robusto aplicando los principios de la programación orientada a objetos.</a:t>
            </a:r>
            <a:endParaRPr lang="en-US" sz="1350" dirty="0"/>
          </a:p>
        </p:txBody>
      </p:sp>
      <p:sp>
        <p:nvSpPr>
          <p:cNvPr id="13" name="Shape 11"/>
          <p:cNvSpPr/>
          <p:nvPr/>
        </p:nvSpPr>
        <p:spPr>
          <a:xfrm>
            <a:off x="548640" y="4937760"/>
            <a:ext cx="11064240" cy="896112"/>
          </a:xfrm>
          <a:prstGeom prst="roundRect">
            <a:avLst>
              <a:gd name="adj" fmla="val 9184"/>
            </a:avLst>
          </a:prstGeom>
          <a:solidFill>
            <a:srgbClr val="F4F7FA"/>
          </a:solidFill>
          <a:ln w="12700">
            <a:solidFill>
              <a:srgbClr val="F4F7FA"/>
            </a:solidFill>
            <a:prstDash val="solid"/>
          </a:ln>
        </p:spPr>
        <p:txBody>
          <a:bodyPr/>
          <a:lstStyle/>
          <a:p>
            <a:endParaRPr lang="es-CL"/>
          </a:p>
        </p:txBody>
      </p:sp>
      <p:sp>
        <p:nvSpPr>
          <p:cNvPr id="14" name="Text 12"/>
          <p:cNvSpPr/>
          <p:nvPr/>
        </p:nvSpPr>
        <p:spPr>
          <a:xfrm>
            <a:off x="868680" y="4937760"/>
            <a:ext cx="1005840" cy="896112"/>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RA4</a:t>
            </a:r>
            <a:endParaRPr lang="en-US" sz="2000" dirty="0"/>
          </a:p>
        </p:txBody>
      </p:sp>
      <p:sp>
        <p:nvSpPr>
          <p:cNvPr id="15" name="Text 13"/>
          <p:cNvSpPr/>
          <p:nvPr/>
        </p:nvSpPr>
        <p:spPr>
          <a:xfrm>
            <a:off x="1965960" y="4937760"/>
            <a:ext cx="9326880" cy="896112"/>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Construir visualizaciones efectivas con el ecosistema científico de Python para explorar datos y comunicar hallazgos.</a:t>
            </a:r>
            <a:endParaRPr lang="en-US" sz="1350" dirty="0"/>
          </a:p>
        </p:txBody>
      </p:sp>
      <p:sp>
        <p:nvSpPr>
          <p:cNvPr id="16" name="Shape 14"/>
          <p:cNvSpPr/>
          <p:nvPr/>
        </p:nvSpPr>
        <p:spPr>
          <a:xfrm>
            <a:off x="548640" y="6035040"/>
            <a:ext cx="11064240" cy="0"/>
          </a:xfrm>
          <a:prstGeom prst="roundRect">
            <a:avLst>
              <a:gd name="adj" fmla="val Infinity"/>
            </a:avLst>
          </a:prstGeom>
          <a:solidFill>
            <a:srgbClr val="F4F7FA"/>
          </a:solidFill>
          <a:ln w="12700">
            <a:solidFill>
              <a:srgbClr val="F4F7FA"/>
            </a:solidFill>
            <a:prstDash val="solid"/>
          </a:ln>
        </p:spPr>
        <p:txBody>
          <a:bodyPr/>
          <a:lstStyle/>
          <a:p>
            <a:endParaRPr lang="es-CL"/>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Todo gira en torno a un proyecto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Aprendizaje basado en proyecto: se aprende construyendo, no acumulando temas sueltos.</a:t>
            </a:r>
            <a:endParaRPr lang="en-US" sz="1400" dirty="0"/>
          </a:p>
        </p:txBody>
      </p:sp>
      <p:sp>
        <p:nvSpPr>
          <p:cNvPr id="4" name="Shape 2"/>
          <p:cNvSpPr/>
          <p:nvPr/>
        </p:nvSpPr>
        <p:spPr>
          <a:xfrm>
            <a:off x="548640"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04672"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F1</a:t>
            </a:r>
            <a:endParaRPr lang="en-US" sz="2600" dirty="0"/>
          </a:p>
        </p:txBody>
      </p:sp>
      <p:sp>
        <p:nvSpPr>
          <p:cNvPr id="6" name="Text 4"/>
          <p:cNvSpPr/>
          <p:nvPr/>
        </p:nvSpPr>
        <p:spPr>
          <a:xfrm>
            <a:off x="804672"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Definición</a:t>
            </a:r>
            <a:endParaRPr lang="en-US" sz="1500" dirty="0"/>
          </a:p>
        </p:txBody>
      </p:sp>
      <p:sp>
        <p:nvSpPr>
          <p:cNvPr id="7" name="Text 5"/>
          <p:cNvSpPr/>
          <p:nvPr/>
        </p:nvSpPr>
        <p:spPr>
          <a:xfrm>
            <a:off x="804672"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Problema, entorno reproducible y repositorio</a:t>
            </a:r>
            <a:endParaRPr lang="en-US" sz="1250" dirty="0"/>
          </a:p>
        </p:txBody>
      </p:sp>
      <p:sp>
        <p:nvSpPr>
          <p:cNvPr id="8" name="Text 6"/>
          <p:cNvSpPr/>
          <p:nvPr/>
        </p:nvSpPr>
        <p:spPr>
          <a:xfrm>
            <a:off x="3154680" y="2743200"/>
            <a:ext cx="265176"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419856"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0" name="Text 8"/>
          <p:cNvSpPr/>
          <p:nvPr/>
        </p:nvSpPr>
        <p:spPr>
          <a:xfrm>
            <a:off x="3675888"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F2</a:t>
            </a:r>
            <a:endParaRPr lang="en-US" sz="2600" dirty="0"/>
          </a:p>
        </p:txBody>
      </p:sp>
      <p:sp>
        <p:nvSpPr>
          <p:cNvPr id="11" name="Text 9"/>
          <p:cNvSpPr/>
          <p:nvPr/>
        </p:nvSpPr>
        <p:spPr>
          <a:xfrm>
            <a:off x="3675888"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Datos</a:t>
            </a:r>
            <a:endParaRPr lang="en-US" sz="1500" dirty="0"/>
          </a:p>
        </p:txBody>
      </p:sp>
      <p:sp>
        <p:nvSpPr>
          <p:cNvPr id="12" name="Text 10"/>
          <p:cNvSpPr/>
          <p:nvPr/>
        </p:nvSpPr>
        <p:spPr>
          <a:xfrm>
            <a:off x="3675888"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Obtención, limpieza y transformación</a:t>
            </a:r>
            <a:endParaRPr lang="en-US" sz="1250" dirty="0"/>
          </a:p>
        </p:txBody>
      </p:sp>
      <p:sp>
        <p:nvSpPr>
          <p:cNvPr id="13" name="Text 11"/>
          <p:cNvSpPr/>
          <p:nvPr/>
        </p:nvSpPr>
        <p:spPr>
          <a:xfrm>
            <a:off x="6025896" y="2743200"/>
            <a:ext cx="265176"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6291072"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5" name="Text 13"/>
          <p:cNvSpPr/>
          <p:nvPr/>
        </p:nvSpPr>
        <p:spPr>
          <a:xfrm>
            <a:off x="6547104"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F3</a:t>
            </a:r>
            <a:endParaRPr lang="en-US" sz="2600" dirty="0"/>
          </a:p>
        </p:txBody>
      </p:sp>
      <p:sp>
        <p:nvSpPr>
          <p:cNvPr id="16" name="Text 14"/>
          <p:cNvSpPr/>
          <p:nvPr/>
        </p:nvSpPr>
        <p:spPr>
          <a:xfrm>
            <a:off x="6547104"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Algoritmos</a:t>
            </a:r>
            <a:endParaRPr lang="en-US" sz="1500" dirty="0"/>
          </a:p>
        </p:txBody>
      </p:sp>
      <p:sp>
        <p:nvSpPr>
          <p:cNvPr id="17" name="Text 15"/>
          <p:cNvSpPr/>
          <p:nvPr/>
        </p:nvSpPr>
        <p:spPr>
          <a:xfrm>
            <a:off x="6547104"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Núcleo algorítmico, eficiencia y POO</a:t>
            </a:r>
            <a:endParaRPr lang="en-US" sz="1250" dirty="0"/>
          </a:p>
        </p:txBody>
      </p:sp>
      <p:sp>
        <p:nvSpPr>
          <p:cNvPr id="18" name="Text 16"/>
          <p:cNvSpPr/>
          <p:nvPr/>
        </p:nvSpPr>
        <p:spPr>
          <a:xfrm>
            <a:off x="8897112" y="2743200"/>
            <a:ext cx="265176"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9162288" y="1874520"/>
            <a:ext cx="260604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20" name="Text 18"/>
          <p:cNvSpPr/>
          <p:nvPr/>
        </p:nvSpPr>
        <p:spPr>
          <a:xfrm>
            <a:off x="9418320" y="2057400"/>
            <a:ext cx="1097280" cy="50292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F4</a:t>
            </a:r>
            <a:endParaRPr lang="en-US" sz="2600" dirty="0"/>
          </a:p>
        </p:txBody>
      </p:sp>
      <p:sp>
        <p:nvSpPr>
          <p:cNvPr id="21" name="Text 19"/>
          <p:cNvSpPr/>
          <p:nvPr/>
        </p:nvSpPr>
        <p:spPr>
          <a:xfrm>
            <a:off x="9418320" y="2606040"/>
            <a:ext cx="2093976" cy="38404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Comunicación</a:t>
            </a:r>
            <a:endParaRPr lang="en-US" sz="1500" dirty="0"/>
          </a:p>
        </p:txBody>
      </p:sp>
      <p:sp>
        <p:nvSpPr>
          <p:cNvPr id="22" name="Text 20"/>
          <p:cNvSpPr/>
          <p:nvPr/>
        </p:nvSpPr>
        <p:spPr>
          <a:xfrm>
            <a:off x="9418320" y="3017520"/>
            <a:ext cx="2093976"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Visualización, informe y presentación</a:t>
            </a:r>
            <a:endParaRPr lang="en-US" sz="1250" dirty="0"/>
          </a:p>
        </p:txBody>
      </p:sp>
      <p:sp>
        <p:nvSpPr>
          <p:cNvPr id="23" name="Shape 21"/>
          <p:cNvSpPr/>
          <p:nvPr/>
        </p:nvSpPr>
        <p:spPr>
          <a:xfrm>
            <a:off x="548640" y="4480560"/>
            <a:ext cx="11064240" cy="1463040"/>
          </a:xfrm>
          <a:prstGeom prst="roundRect">
            <a:avLst>
              <a:gd name="adj" fmla="val 5625"/>
            </a:avLst>
          </a:prstGeom>
          <a:solidFill>
            <a:srgbClr val="12203A"/>
          </a:solidFill>
          <a:ln w="12700">
            <a:solidFill>
              <a:srgbClr val="12203A"/>
            </a:solidFill>
            <a:prstDash val="solid"/>
          </a:ln>
        </p:spPr>
        <p:txBody>
          <a:bodyPr/>
          <a:lstStyle/>
          <a:p>
            <a:endParaRPr lang="es-CL"/>
          </a:p>
        </p:txBody>
      </p:sp>
      <p:sp>
        <p:nvSpPr>
          <p:cNvPr id="24" name="Text 22"/>
          <p:cNvSpPr/>
          <p:nvPr/>
        </p:nvSpPr>
        <p:spPr>
          <a:xfrm>
            <a:off x="868680" y="4645152"/>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Al final tendrán algo que mostrar</a:t>
            </a:r>
            <a:endParaRPr lang="en-US" sz="1500" dirty="0"/>
          </a:p>
        </p:txBody>
      </p:sp>
      <p:sp>
        <p:nvSpPr>
          <p:cNvPr id="25" name="Text 23"/>
          <p:cNvSpPr/>
          <p:nvPr/>
        </p:nvSpPr>
        <p:spPr>
          <a:xfrm>
            <a:off x="868680" y="5010912"/>
            <a:ext cx="10424160" cy="777240"/>
          </a:xfrm>
          <a:prstGeom prst="rect">
            <a:avLst/>
          </a:prstGeom>
          <a:noFill/>
          <a:ln/>
        </p:spPr>
        <p:txBody>
          <a:bodyPr wrap="square" lIns="0" tIns="0" rIns="0" bIns="0" rtlCol="0" anchor="ctr"/>
          <a:lstStyle/>
          <a:p>
            <a:pPr marL="0" indent="0">
              <a:lnSpc>
                <a:spcPts val="1900"/>
              </a:lnSpc>
              <a:buNone/>
            </a:pPr>
            <a:r>
              <a:rPr lang="en-US" sz="1350" dirty="0">
                <a:solidFill>
                  <a:srgbClr val="D7E3EE"/>
                </a:solidFill>
                <a:latin typeface="Calibri" pitchFamily="34" charset="0"/>
                <a:ea typeface="Calibri" pitchFamily="34" charset="-122"/>
                <a:cs typeface="Calibri" pitchFamily="34" charset="-120"/>
              </a:rPr>
              <a:t>Un repositorio público con historial de trabajo real, notebooks reproducibles, un informe técnico y una presentación audiovisual. No un ejercicio de clase: un proyecto que pueden poner en su portafolio profesional.</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p:nvPr/>
        </p:nvSpPr>
        <p:spPr>
          <a:xfrm>
            <a:off x="548640" y="384048"/>
            <a:ext cx="11064240" cy="731520"/>
          </a:xfrm>
          <a:prstGeom prst="rect">
            <a:avLst/>
          </a:prstGeom>
          <a:noFill/>
          <a:ln/>
        </p:spPr>
        <p:txBody>
          <a:bodyPr wrap="square" lIns="0" tIns="0" rIns="0" bIns="0" rtlCol="0" anchor="ctr"/>
          <a:lstStyle/>
          <a:p>
            <a:pPr marL="0" indent="0" algn="l">
              <a:buNone/>
            </a:pPr>
            <a:r>
              <a:rPr lang="es-CL" sz="3000" b="1" i="0" dirty="0">
                <a:solidFill>
                  <a:srgbClr val="06304A"/>
                </a:solidFill>
                <a:latin typeface="Cambria" pitchFamily="34" charset="0"/>
                <a:ea typeface="Cambria" pitchFamily="34" charset="-122"/>
                <a:cs typeface="Cambria" pitchFamily="34" charset="-120"/>
              </a:rPr>
              <a:t>Cómo se organizan las tres semanas</a:t>
            </a:r>
          </a:p>
        </p:txBody>
      </p:sp>
      <p:sp>
        <p:nvSpPr>
          <p:cNvPr id="3" name="Text 3"/>
          <p:cNvSpPr/>
          <p:nvPr/>
        </p:nvSpPr>
        <p:spPr>
          <a:xfrm>
            <a:off x="548640" y="1078992"/>
            <a:ext cx="11064240" cy="384048"/>
          </a:xfrm>
          <a:prstGeom prst="rect">
            <a:avLst/>
          </a:prstGeom>
          <a:noFill/>
          <a:ln/>
        </p:spPr>
        <p:txBody>
          <a:bodyPr wrap="square" lIns="0" tIns="0" rIns="0" bIns="0" rtlCol="0" anchor="ctr"/>
          <a:lstStyle/>
          <a:p>
            <a:pPr marL="0" indent="0" algn="l">
              <a:buNone/>
            </a:pPr>
            <a:r>
              <a:rPr lang="es-CL" sz="1400" b="0" i="1" dirty="0">
                <a:solidFill>
                  <a:srgbClr val="5A6B7B"/>
                </a:solidFill>
                <a:latin typeface="Calibri" pitchFamily="34" charset="0"/>
                <a:ea typeface="Calibri" pitchFamily="34" charset="-122"/>
                <a:cs typeface="Calibri" pitchFamily="34" charset="-120"/>
              </a:rPr>
              <a:t>Cada semana cierra con una entrega. El ritmo es exigente desde el primer día.</a:t>
            </a:r>
          </a:p>
        </p:txBody>
      </p:sp>
      <p:sp>
        <p:nvSpPr>
          <p:cNvPr id="4" name="Shape 4"/>
          <p:cNvSpPr/>
          <p:nvPr/>
        </p:nvSpPr>
        <p:spPr>
          <a:xfrm>
            <a:off x="548640" y="1690000"/>
            <a:ext cx="11064240" cy="1140000"/>
          </a:xfrm>
          <a:prstGeom prst="roundRect">
            <a:avLst>
              <a:gd name="adj" fmla="val 4839"/>
            </a:avLst>
          </a:prstGeom>
          <a:solidFill>
            <a:srgbClr val="F6E7E9"/>
          </a:solidFill>
          <a:ln w="12700">
            <a:solidFill>
              <a:srgbClr val="F6E7E9"/>
            </a:solidFill>
            <a:prstDash val="solid"/>
          </a:ln>
        </p:spPr>
        <p:txBody>
          <a:bodyPr/>
          <a:lstStyle/>
          <a:p>
            <a:endParaRPr lang="es-CL"/>
          </a:p>
        </p:txBody>
      </p:sp>
      <p:sp>
        <p:nvSpPr>
          <p:cNvPr id="5" name="Text 5"/>
          <p:cNvSpPr/>
          <p:nvPr/>
        </p:nvSpPr>
        <p:spPr>
          <a:xfrm>
            <a:off x="868680" y="1785000"/>
            <a:ext cx="3840480" cy="380000"/>
          </a:xfrm>
          <a:prstGeom prst="rect">
            <a:avLst/>
          </a:prstGeom>
          <a:noFill/>
          <a:ln/>
        </p:spPr>
        <p:txBody>
          <a:bodyPr wrap="square" lIns="0" tIns="0" rIns="0" bIns="0" rtlCol="0" anchor="ctr"/>
          <a:lstStyle/>
          <a:p>
            <a:pPr marL="0" indent="0" algn="l">
              <a:buNone/>
            </a:pPr>
            <a:r>
              <a:rPr lang="es-CL" sz="1800" b="1" i="0" dirty="0">
                <a:solidFill>
                  <a:srgbClr val="AC212E"/>
                </a:solidFill>
                <a:latin typeface="Calibri" pitchFamily="34" charset="0"/>
                <a:ea typeface="Calibri" pitchFamily="34" charset="-122"/>
                <a:cs typeface="Calibri" pitchFamily="34" charset="-120"/>
              </a:rPr>
              <a:t>Semana 1</a:t>
            </a:r>
          </a:p>
        </p:txBody>
      </p:sp>
      <p:sp>
        <p:nvSpPr>
          <p:cNvPr id="6" name="Text 6"/>
          <p:cNvSpPr/>
          <p:nvPr/>
        </p:nvSpPr>
        <p:spPr>
          <a:xfrm>
            <a:off x="868680" y="2170000"/>
            <a:ext cx="3840480" cy="250000"/>
          </a:xfrm>
          <a:prstGeom prst="rect">
            <a:avLst/>
          </a:prstGeom>
          <a:noFill/>
          <a:ln/>
        </p:spPr>
        <p:txBody>
          <a:bodyPr wrap="square" lIns="0" tIns="0" rIns="0" bIns="0" rtlCol="0" anchor="ctr"/>
          <a:lstStyle/>
          <a:p>
            <a:pPr marL="0" indent="0" algn="l">
              <a:buNone/>
            </a:pPr>
            <a:r>
              <a:rPr lang="es-CL" sz="1100" b="1" i="0" dirty="0">
                <a:solidFill>
                  <a:srgbClr val="AC212E"/>
                </a:solidFill>
                <a:latin typeface="Calibri" pitchFamily="34" charset="0"/>
                <a:ea typeface="Calibri" pitchFamily="34" charset="-122"/>
                <a:cs typeface="Calibri" pitchFamily="34" charset="-120"/>
              </a:rPr>
              <a:t>7 al 13 de septiembre</a:t>
            </a:r>
          </a:p>
        </p:txBody>
      </p:sp>
      <p:sp>
        <p:nvSpPr>
          <p:cNvPr id="7" name="Text 7"/>
          <p:cNvSpPr/>
          <p:nvPr/>
        </p:nvSpPr>
        <p:spPr>
          <a:xfrm>
            <a:off x="868680" y="2435000"/>
            <a:ext cx="3840480" cy="300000"/>
          </a:xfrm>
          <a:prstGeom prst="rect">
            <a:avLst/>
          </a:prstGeom>
          <a:noFill/>
          <a:ln/>
        </p:spPr>
        <p:txBody>
          <a:bodyPr wrap="square" lIns="0" tIns="0" rIns="0" bIns="0" rtlCol="0" anchor="ctr"/>
          <a:lstStyle/>
          <a:p>
            <a:pPr marL="0" indent="0" algn="l">
              <a:buNone/>
            </a:pPr>
            <a:r>
              <a:rPr lang="es-CL" sz="1250" b="0" i="0" dirty="0">
                <a:solidFill>
                  <a:srgbClr val="5A6B7B"/>
                </a:solidFill>
                <a:latin typeface="Calibri" pitchFamily="34" charset="0"/>
                <a:ea typeface="Calibri" pitchFamily="34" charset="-122"/>
                <a:cs typeface="Calibri" pitchFamily="34" charset="-120"/>
              </a:rPr>
              <a:t>Fundamentos de Python · NumPy y Pandas</a:t>
            </a:r>
          </a:p>
        </p:txBody>
      </p:sp>
      <p:sp>
        <p:nvSpPr>
          <p:cNvPr id="8" name="Text 8"/>
          <p:cNvSpPr/>
          <p:nvPr/>
        </p:nvSpPr>
        <p:spPr>
          <a:xfrm>
            <a:off x="4937760" y="1690000"/>
            <a:ext cx="5120640" cy="1140000"/>
          </a:xfrm>
          <a:prstGeom prst="rect">
            <a:avLst/>
          </a:prstGeom>
          <a:noFill/>
          <a:ln/>
        </p:spPr>
        <p:txBody>
          <a:bodyPr wrap="square" lIns="0" tIns="0" rIns="0" bIns="0" rtlCol="0" anchor="ctr"/>
          <a:lstStyle/>
          <a:p>
            <a:pPr marL="0" indent="0" algn="l">
              <a:buNone/>
            </a:pPr>
            <a:r>
              <a:rPr lang="es-CL" sz="1300" b="0" i="0" dirty="0">
                <a:solidFill>
                  <a:srgbClr val="06304A"/>
                </a:solidFill>
                <a:latin typeface="Calibri" pitchFamily="34" charset="0"/>
                <a:ea typeface="Calibri" pitchFamily="34" charset="-122"/>
                <a:cs typeface="Calibri" pitchFamily="34" charset="-120"/>
              </a:rPr>
              <a:t>Fases 1 y 2: definición del proyecto, entorno reproducible y pipeline de datos</a:t>
            </a:r>
          </a:p>
        </p:txBody>
      </p:sp>
      <p:sp>
        <p:nvSpPr>
          <p:cNvPr id="9" name="Text 9"/>
          <p:cNvSpPr/>
          <p:nvPr/>
        </p:nvSpPr>
        <p:spPr>
          <a:xfrm>
            <a:off x="10241280" y="1690000"/>
            <a:ext cx="1097280" cy="1140000"/>
          </a:xfrm>
          <a:prstGeom prst="rect">
            <a:avLst/>
          </a:prstGeom>
          <a:noFill/>
          <a:ln/>
        </p:spPr>
        <p:txBody>
          <a:bodyPr wrap="square" lIns="0" tIns="0" rIns="0" bIns="0" rtlCol="0" anchor="ctr"/>
          <a:lstStyle/>
          <a:p>
            <a:pPr marL="0" indent="0" algn="ctr">
              <a:buNone/>
            </a:pPr>
            <a:r>
              <a:rPr lang="es-CL" sz="2400" b="1" i="0" dirty="0">
                <a:solidFill>
                  <a:srgbClr val="AC212E"/>
                </a:solidFill>
                <a:latin typeface="Calibri" pitchFamily="34" charset="0"/>
                <a:ea typeface="Calibri" pitchFamily="34" charset="-122"/>
                <a:cs typeface="Calibri" pitchFamily="34" charset="-120"/>
              </a:rPr>
              <a:t>40%</a:t>
            </a:r>
          </a:p>
        </p:txBody>
      </p:sp>
      <p:sp>
        <p:nvSpPr>
          <p:cNvPr id="10" name="Shape 10"/>
          <p:cNvSpPr/>
          <p:nvPr/>
        </p:nvSpPr>
        <p:spPr>
          <a:xfrm>
            <a:off x="548640" y="2940000"/>
            <a:ext cx="11064240" cy="380000"/>
          </a:xfrm>
          <a:prstGeom prst="roundRect">
            <a:avLst>
              <a:gd name="adj" fmla="val 12000"/>
            </a:avLst>
          </a:prstGeom>
          <a:solidFill>
            <a:srgbClr val="D7E3EE"/>
          </a:solidFill>
          <a:ln w="12700">
            <a:solidFill>
              <a:srgbClr val="D7E3EE"/>
            </a:solidFill>
            <a:prstDash val="solid"/>
          </a:ln>
        </p:spPr>
        <p:txBody>
          <a:bodyPr/>
          <a:lstStyle/>
          <a:p>
            <a:endParaRPr lang="es-CL"/>
          </a:p>
        </p:txBody>
      </p:sp>
      <p:sp>
        <p:nvSpPr>
          <p:cNvPr id="11" name="Text 11"/>
          <p:cNvSpPr/>
          <p:nvPr/>
        </p:nvSpPr>
        <p:spPr>
          <a:xfrm>
            <a:off x="868680" y="2940000"/>
            <a:ext cx="10424160" cy="380000"/>
          </a:xfrm>
          <a:prstGeom prst="rect">
            <a:avLst/>
          </a:prstGeom>
          <a:noFill/>
          <a:ln/>
        </p:spPr>
        <p:txBody>
          <a:bodyPr wrap="square" lIns="0" tIns="0" rIns="0" bIns="0" rtlCol="0" anchor="ctr"/>
          <a:lstStyle/>
          <a:p>
            <a:pPr marL="0" indent="0" algn="l">
              <a:buNone/>
            </a:pPr>
            <a:r>
              <a:rPr lang="es-CL" sz="1300" b="1" i="0" dirty="0">
                <a:solidFill>
                  <a:srgbClr val="06304A"/>
                </a:solidFill>
                <a:latin typeface="Calibri" pitchFamily="34" charset="0"/>
                <a:ea typeface="Calibri" pitchFamily="34" charset="-122"/>
                <a:cs typeface="Calibri" pitchFamily="34" charset="-120"/>
              </a:rPr>
              <a:t>Receso · 14 al 20 de septiembre</a:t>
            </a:r>
            <a:r>
              <a:rPr lang="es-CL" sz="1300" b="0" i="0" dirty="0">
                <a:solidFill>
                  <a:srgbClr val="5A6B7B"/>
                </a:solidFill>
                <a:latin typeface="Calibri" pitchFamily="34" charset="0"/>
                <a:ea typeface="Calibri" pitchFamily="34" charset="-122"/>
                <a:cs typeface="Calibri" pitchFamily="34" charset="-120"/>
              </a:rPr>
              <a:t>   Sin sesiones ni entregas. La Semana 2 comienza el 21.</a:t>
            </a:r>
          </a:p>
        </p:txBody>
      </p:sp>
      <p:sp>
        <p:nvSpPr>
          <p:cNvPr id="12" name="Shape 12"/>
          <p:cNvSpPr/>
          <p:nvPr/>
        </p:nvSpPr>
        <p:spPr>
          <a:xfrm>
            <a:off x="548640" y="3430000"/>
            <a:ext cx="11064240" cy="1140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13" name="Text 13"/>
          <p:cNvSpPr/>
          <p:nvPr/>
        </p:nvSpPr>
        <p:spPr>
          <a:xfrm>
            <a:off x="868680" y="3525000"/>
            <a:ext cx="3840480" cy="380000"/>
          </a:xfrm>
          <a:prstGeom prst="rect">
            <a:avLst/>
          </a:prstGeom>
          <a:noFill/>
          <a:ln/>
        </p:spPr>
        <p:txBody>
          <a:bodyPr wrap="square" lIns="0" tIns="0" rIns="0" bIns="0" rtlCol="0" anchor="ctr"/>
          <a:lstStyle/>
          <a:p>
            <a:pPr marL="0" indent="0" algn="l">
              <a:buNone/>
            </a:pPr>
            <a:r>
              <a:rPr lang="es-CL" sz="1800" b="1" i="0" dirty="0">
                <a:solidFill>
                  <a:srgbClr val="06304A"/>
                </a:solidFill>
                <a:latin typeface="Calibri" pitchFamily="34" charset="0"/>
                <a:ea typeface="Calibri" pitchFamily="34" charset="-122"/>
                <a:cs typeface="Calibri" pitchFamily="34" charset="-120"/>
              </a:rPr>
              <a:t>Semana 2</a:t>
            </a:r>
          </a:p>
        </p:txBody>
      </p:sp>
      <p:sp>
        <p:nvSpPr>
          <p:cNvPr id="14" name="Text 14"/>
          <p:cNvSpPr/>
          <p:nvPr/>
        </p:nvSpPr>
        <p:spPr>
          <a:xfrm>
            <a:off x="868680" y="3910000"/>
            <a:ext cx="3840480" cy="250000"/>
          </a:xfrm>
          <a:prstGeom prst="rect">
            <a:avLst/>
          </a:prstGeom>
          <a:noFill/>
          <a:ln/>
        </p:spPr>
        <p:txBody>
          <a:bodyPr wrap="square" lIns="0" tIns="0" rIns="0" bIns="0" rtlCol="0" anchor="ctr"/>
          <a:lstStyle/>
          <a:p>
            <a:pPr marL="0" indent="0" algn="l">
              <a:buNone/>
            </a:pPr>
            <a:r>
              <a:rPr lang="es-CL" sz="1100" b="1" i="0" dirty="0">
                <a:solidFill>
                  <a:srgbClr val="06304A"/>
                </a:solidFill>
                <a:latin typeface="Calibri" pitchFamily="34" charset="0"/>
                <a:ea typeface="Calibri" pitchFamily="34" charset="-122"/>
                <a:cs typeface="Calibri" pitchFamily="34" charset="-120"/>
              </a:rPr>
              <a:t>21 al 27 de septiembre</a:t>
            </a:r>
          </a:p>
        </p:txBody>
      </p:sp>
      <p:sp>
        <p:nvSpPr>
          <p:cNvPr id="15" name="Text 15"/>
          <p:cNvSpPr/>
          <p:nvPr/>
        </p:nvSpPr>
        <p:spPr>
          <a:xfrm>
            <a:off x="868680" y="4175000"/>
            <a:ext cx="3840480" cy="300000"/>
          </a:xfrm>
          <a:prstGeom prst="rect">
            <a:avLst/>
          </a:prstGeom>
          <a:noFill/>
          <a:ln/>
        </p:spPr>
        <p:txBody>
          <a:bodyPr wrap="square" lIns="0" tIns="0" rIns="0" bIns="0" rtlCol="0" anchor="ctr"/>
          <a:lstStyle/>
          <a:p>
            <a:pPr marL="0" indent="0" algn="l">
              <a:buNone/>
            </a:pPr>
            <a:r>
              <a:rPr lang="es-CL" sz="1250" b="0" i="0" dirty="0">
                <a:solidFill>
                  <a:srgbClr val="5A6B7B"/>
                </a:solidFill>
                <a:latin typeface="Calibri" pitchFamily="34" charset="0"/>
                <a:ea typeface="Calibri" pitchFamily="34" charset="-122"/>
                <a:cs typeface="Calibri" pitchFamily="34" charset="-120"/>
              </a:rPr>
              <a:t>Programación estructurada y recursiva · POO</a:t>
            </a:r>
          </a:p>
        </p:txBody>
      </p:sp>
      <p:sp>
        <p:nvSpPr>
          <p:cNvPr id="16" name="Text 16"/>
          <p:cNvSpPr/>
          <p:nvPr/>
        </p:nvSpPr>
        <p:spPr>
          <a:xfrm>
            <a:off x="4937760" y="3430000"/>
            <a:ext cx="5120640" cy="1140000"/>
          </a:xfrm>
          <a:prstGeom prst="rect">
            <a:avLst/>
          </a:prstGeom>
          <a:noFill/>
          <a:ln/>
        </p:spPr>
        <p:txBody>
          <a:bodyPr wrap="square" lIns="0" tIns="0" rIns="0" bIns="0" rtlCol="0" anchor="ctr"/>
          <a:lstStyle/>
          <a:p>
            <a:pPr marL="0" indent="0" algn="l">
              <a:buNone/>
            </a:pPr>
            <a:r>
              <a:rPr lang="es-CL" sz="1300" b="0" i="0" dirty="0">
                <a:solidFill>
                  <a:srgbClr val="06304A"/>
                </a:solidFill>
                <a:latin typeface="Calibri" pitchFamily="34" charset="0"/>
                <a:ea typeface="Calibri" pitchFamily="34" charset="-122"/>
                <a:cs typeface="Calibri" pitchFamily="34" charset="-120"/>
              </a:rPr>
              <a:t>Fase 3: núcleo algorítmico, eficiencia y orientación a objetos</a:t>
            </a:r>
          </a:p>
        </p:txBody>
      </p:sp>
      <p:sp>
        <p:nvSpPr>
          <p:cNvPr id="17" name="Text 17"/>
          <p:cNvSpPr/>
          <p:nvPr/>
        </p:nvSpPr>
        <p:spPr>
          <a:xfrm>
            <a:off x="10241280" y="3430000"/>
            <a:ext cx="1097280" cy="1140000"/>
          </a:xfrm>
          <a:prstGeom prst="rect">
            <a:avLst/>
          </a:prstGeom>
          <a:noFill/>
          <a:ln/>
        </p:spPr>
        <p:txBody>
          <a:bodyPr wrap="square" lIns="0" tIns="0" rIns="0" bIns="0" rtlCol="0" anchor="ctr"/>
          <a:lstStyle/>
          <a:p>
            <a:pPr marL="0" indent="0" algn="ctr">
              <a:buNone/>
            </a:pPr>
            <a:r>
              <a:rPr lang="es-CL" sz="2400" b="1" i="0" dirty="0">
                <a:solidFill>
                  <a:srgbClr val="AC212E"/>
                </a:solidFill>
                <a:latin typeface="Calibri" pitchFamily="34" charset="0"/>
                <a:ea typeface="Calibri" pitchFamily="34" charset="-122"/>
                <a:cs typeface="Calibri" pitchFamily="34" charset="-120"/>
              </a:rPr>
              <a:t>20%</a:t>
            </a:r>
          </a:p>
        </p:txBody>
      </p:sp>
      <p:sp>
        <p:nvSpPr>
          <p:cNvPr id="18" name="Shape 18"/>
          <p:cNvSpPr/>
          <p:nvPr/>
        </p:nvSpPr>
        <p:spPr>
          <a:xfrm>
            <a:off x="548640" y="4680000"/>
            <a:ext cx="11064240" cy="1140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19" name="Text 19"/>
          <p:cNvSpPr/>
          <p:nvPr/>
        </p:nvSpPr>
        <p:spPr>
          <a:xfrm>
            <a:off x="868680" y="4775000"/>
            <a:ext cx="3840480" cy="380000"/>
          </a:xfrm>
          <a:prstGeom prst="rect">
            <a:avLst/>
          </a:prstGeom>
          <a:noFill/>
          <a:ln/>
        </p:spPr>
        <p:txBody>
          <a:bodyPr wrap="square" lIns="0" tIns="0" rIns="0" bIns="0" rtlCol="0" anchor="ctr"/>
          <a:lstStyle/>
          <a:p>
            <a:pPr marL="0" indent="0" algn="l">
              <a:buNone/>
            </a:pPr>
            <a:r>
              <a:rPr lang="es-CL" sz="1800" b="1" i="0" dirty="0">
                <a:solidFill>
                  <a:srgbClr val="06304A"/>
                </a:solidFill>
                <a:latin typeface="Calibri" pitchFamily="34" charset="0"/>
                <a:ea typeface="Calibri" pitchFamily="34" charset="-122"/>
                <a:cs typeface="Calibri" pitchFamily="34" charset="-120"/>
              </a:rPr>
              <a:t>Semana 3</a:t>
            </a:r>
          </a:p>
        </p:txBody>
      </p:sp>
      <p:sp>
        <p:nvSpPr>
          <p:cNvPr id="20" name="Text 20"/>
          <p:cNvSpPr/>
          <p:nvPr/>
        </p:nvSpPr>
        <p:spPr>
          <a:xfrm>
            <a:off x="868680" y="5160000"/>
            <a:ext cx="3840480" cy="250000"/>
          </a:xfrm>
          <a:prstGeom prst="rect">
            <a:avLst/>
          </a:prstGeom>
          <a:noFill/>
          <a:ln/>
        </p:spPr>
        <p:txBody>
          <a:bodyPr wrap="square" lIns="0" tIns="0" rIns="0" bIns="0" rtlCol="0" anchor="ctr"/>
          <a:lstStyle/>
          <a:p>
            <a:pPr marL="0" indent="0" algn="l">
              <a:buNone/>
            </a:pPr>
            <a:r>
              <a:rPr lang="es-CL" sz="1100" b="1" i="0" dirty="0">
                <a:solidFill>
                  <a:srgbClr val="06304A"/>
                </a:solidFill>
                <a:latin typeface="Calibri" pitchFamily="34" charset="0"/>
                <a:ea typeface="Calibri" pitchFamily="34" charset="-122"/>
                <a:cs typeface="Calibri" pitchFamily="34" charset="-120"/>
              </a:rPr>
              <a:t>28 de septiembre al 4 de octubre</a:t>
            </a:r>
          </a:p>
        </p:txBody>
      </p:sp>
      <p:sp>
        <p:nvSpPr>
          <p:cNvPr id="21" name="Text 21"/>
          <p:cNvSpPr/>
          <p:nvPr/>
        </p:nvSpPr>
        <p:spPr>
          <a:xfrm>
            <a:off x="868680" y="5425000"/>
            <a:ext cx="3840480" cy="300000"/>
          </a:xfrm>
          <a:prstGeom prst="rect">
            <a:avLst/>
          </a:prstGeom>
          <a:noFill/>
          <a:ln/>
        </p:spPr>
        <p:txBody>
          <a:bodyPr wrap="square" lIns="0" tIns="0" rIns="0" bIns="0" rtlCol="0" anchor="ctr"/>
          <a:lstStyle/>
          <a:p>
            <a:pPr marL="0" indent="0" algn="l">
              <a:buNone/>
            </a:pPr>
            <a:r>
              <a:rPr lang="es-CL" sz="1250" b="0" i="0" dirty="0">
                <a:solidFill>
                  <a:srgbClr val="5A6B7B"/>
                </a:solidFill>
                <a:latin typeface="Calibri" pitchFamily="34" charset="0"/>
                <a:ea typeface="Calibri" pitchFamily="34" charset="-122"/>
                <a:cs typeface="Calibri" pitchFamily="34" charset="-120"/>
              </a:rPr>
              <a:t>Visualización y comunicación de resultados</a:t>
            </a:r>
          </a:p>
        </p:txBody>
      </p:sp>
      <p:sp>
        <p:nvSpPr>
          <p:cNvPr id="22" name="Text 22"/>
          <p:cNvSpPr/>
          <p:nvPr/>
        </p:nvSpPr>
        <p:spPr>
          <a:xfrm>
            <a:off x="4937760" y="4680000"/>
            <a:ext cx="5120640" cy="1140000"/>
          </a:xfrm>
          <a:prstGeom prst="rect">
            <a:avLst/>
          </a:prstGeom>
          <a:noFill/>
          <a:ln/>
        </p:spPr>
        <p:txBody>
          <a:bodyPr wrap="square" lIns="0" tIns="0" rIns="0" bIns="0" rtlCol="0" anchor="ctr"/>
          <a:lstStyle/>
          <a:p>
            <a:pPr marL="0" indent="0" algn="l">
              <a:buNone/>
            </a:pPr>
            <a:r>
              <a:rPr lang="es-CL" sz="1300" b="0" i="0" dirty="0">
                <a:solidFill>
                  <a:srgbClr val="06304A"/>
                </a:solidFill>
                <a:latin typeface="Calibri" pitchFamily="34" charset="0"/>
                <a:ea typeface="Calibri" pitchFamily="34" charset="-122"/>
                <a:cs typeface="Calibri" pitchFamily="34" charset="-120"/>
              </a:rPr>
              <a:t>Fase 4: informe final, visualizaciones y presentación audiovisual</a:t>
            </a:r>
          </a:p>
        </p:txBody>
      </p:sp>
      <p:sp>
        <p:nvSpPr>
          <p:cNvPr id="23" name="Text 23"/>
          <p:cNvSpPr/>
          <p:nvPr/>
        </p:nvSpPr>
        <p:spPr>
          <a:xfrm>
            <a:off x="10241280" y="4680000"/>
            <a:ext cx="1097280" cy="1140000"/>
          </a:xfrm>
          <a:prstGeom prst="rect">
            <a:avLst/>
          </a:prstGeom>
          <a:noFill/>
          <a:ln/>
        </p:spPr>
        <p:txBody>
          <a:bodyPr wrap="square" lIns="0" tIns="0" rIns="0" bIns="0" rtlCol="0" anchor="ctr"/>
          <a:lstStyle/>
          <a:p>
            <a:pPr marL="0" indent="0" algn="ctr">
              <a:buNone/>
            </a:pPr>
            <a:r>
              <a:rPr lang="es-CL" sz="2400" b="1" i="0" dirty="0">
                <a:solidFill>
                  <a:srgbClr val="AC212E"/>
                </a:solidFill>
                <a:latin typeface="Calibri" pitchFamily="34" charset="0"/>
                <a:ea typeface="Calibri" pitchFamily="34" charset="-122"/>
                <a:cs typeface="Calibri" pitchFamily="34" charset="-120"/>
              </a:rPr>
              <a:t>40%</a:t>
            </a:r>
          </a:p>
        </p:txBody>
      </p:sp>
      <p:sp>
        <p:nvSpPr>
          <p:cNvPr id="24" name="Shape 24"/>
          <p:cNvSpPr/>
          <p:nvPr/>
        </p:nvSpPr>
        <p:spPr>
          <a:xfrm>
            <a:off x="548640" y="5930000"/>
            <a:ext cx="11064240" cy="457200"/>
          </a:xfrm>
          <a:prstGeom prst="roundRect">
            <a:avLst>
              <a:gd name="adj" fmla="val 12000"/>
            </a:avLst>
          </a:prstGeom>
          <a:solidFill>
            <a:srgbClr val="0A1526"/>
          </a:solidFill>
          <a:ln w="12700">
            <a:solidFill>
              <a:srgbClr val="0A1526"/>
            </a:solidFill>
            <a:prstDash val="solid"/>
          </a:ln>
        </p:spPr>
        <p:txBody>
          <a:bodyPr/>
          <a:lstStyle/>
          <a:p>
            <a:endParaRPr lang="es-CL"/>
          </a:p>
        </p:txBody>
      </p:sp>
      <p:sp>
        <p:nvSpPr>
          <p:cNvPr id="25" name="Text 25"/>
          <p:cNvSpPr/>
          <p:nvPr/>
        </p:nvSpPr>
        <p:spPr>
          <a:xfrm>
            <a:off x="868680" y="5930000"/>
            <a:ext cx="10424160" cy="457200"/>
          </a:xfrm>
          <a:prstGeom prst="rect">
            <a:avLst/>
          </a:prstGeom>
          <a:noFill/>
          <a:ln/>
        </p:spPr>
        <p:txBody>
          <a:bodyPr wrap="square" lIns="0" tIns="0" rIns="0" bIns="0" rtlCol="0" anchor="ctr"/>
          <a:lstStyle/>
          <a:p>
            <a:pPr marL="0" indent="0" algn="l">
              <a:buNone/>
            </a:pPr>
            <a:r>
              <a:rPr lang="es-CL" sz="1300" b="1" i="0" dirty="0">
                <a:solidFill>
                  <a:srgbClr val="FFFFFF"/>
                </a:solidFill>
                <a:latin typeface="Calibri" pitchFamily="34" charset="0"/>
                <a:ea typeface="Calibri" pitchFamily="34" charset="-122"/>
                <a:cs typeface="Calibri" pitchFamily="34" charset="-120"/>
              </a:rPr>
              <a:t>La Semana 1 concentra dos unidades temáticas y el 40% de la nota.</a:t>
            </a:r>
            <a:r>
              <a:rPr lang="es-CL" sz="1300" b="0" i="0" dirty="0">
                <a:solidFill>
                  <a:srgbClr val="D7E3EE"/>
                </a:solidFill>
                <a:latin typeface="Calibri" pitchFamily="34" charset="0"/>
                <a:ea typeface="Calibri" pitchFamily="34" charset="-122"/>
                <a:cs typeface="Calibri" pitchFamily="34" charset="-120"/>
              </a:rPr>
              <a:t>   El receso cae justo después de su entrega; las semanas 2 y 3 corren seguidas.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se evalúa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instancias sumativas, todas sobre el mismo proyecto. Nota mínima de aprobación: 4,0.</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719072"/>
          <a:ext cx="11064240" cy="2651760"/>
        </p:xfrm>
        <a:graphic>
          <a:graphicData uri="http://schemas.openxmlformats.org/drawingml/2006/table">
            <a:tbl>
              <a:tblPr/>
              <a:tblGrid>
                <a:gridCol w="329184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53035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Evaluación</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se entrega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Semana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Pond.</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Sumativa 1 — Fases 1 y 2</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Informe, repositorio y notebooks del entorno y el pipeline de datos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40%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Sumativa 2 — Fase 3</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Núcleo algorítmico con eficiencia y POO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Sumativa 3 — Fase 4</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Proyecto final: informe, notebooks y presentación audiovisual</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Autoevaluación y coevaluación</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Escala de apreciación sobre el trabajo del equipo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315968"/>
            <a:ext cx="5394960" cy="1371600"/>
          </a:xfrm>
          <a:prstGeom prst="roundRect">
            <a:avLst>
              <a:gd name="adj" fmla="val 6000"/>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448056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Hay también evaluaciones formativas</a:t>
            </a:r>
            <a:endParaRPr lang="en-US" sz="1400" dirty="0"/>
          </a:p>
        </p:txBody>
      </p:sp>
      <p:sp>
        <p:nvSpPr>
          <p:cNvPr id="4" name="Text 4"/>
          <p:cNvSpPr/>
          <p:nvPr/>
        </p:nvSpPr>
        <p:spPr>
          <a:xfrm>
            <a:off x="868680" y="4837176"/>
            <a:ext cx="4754880" cy="7772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No ponderan, pero su retroalimentación se incorpora a la entrega calificada siguiente. Es la única instancia donde equivocarse no cuesta nota.</a:t>
            </a:r>
            <a:endParaRPr lang="en-US" sz="1250" dirty="0"/>
          </a:p>
        </p:txBody>
      </p:sp>
      <p:sp>
        <p:nvSpPr>
          <p:cNvPr id="8" name="Shape 5"/>
          <p:cNvSpPr/>
          <p:nvPr/>
        </p:nvSpPr>
        <p:spPr>
          <a:xfrm>
            <a:off x="6217920" y="4315968"/>
            <a:ext cx="5394960" cy="1371600"/>
          </a:xfrm>
          <a:prstGeom prst="roundRect">
            <a:avLst>
              <a:gd name="adj" fmla="val 6000"/>
            </a:avLst>
          </a:prstGeom>
          <a:solidFill>
            <a:srgbClr val="F4F7FA"/>
          </a:solidFill>
          <a:ln w="12700">
            <a:solidFill>
              <a:srgbClr val="F4F7FA"/>
            </a:solidFill>
            <a:prstDash val="solid"/>
          </a:ln>
        </p:spPr>
        <p:txBody>
          <a:bodyPr/>
          <a:lstStyle/>
          <a:p>
            <a:endParaRPr lang="es-CL"/>
          </a:p>
        </p:txBody>
      </p:sp>
      <p:sp>
        <p:nvSpPr>
          <p:cNvPr id="9" name="Text 6"/>
          <p:cNvSpPr/>
          <p:nvPr/>
        </p:nvSpPr>
        <p:spPr>
          <a:xfrm>
            <a:off x="6537960" y="448056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Todo se evalúa con rúbrica</a:t>
            </a:r>
            <a:endParaRPr lang="en-US" sz="1400" dirty="0"/>
          </a:p>
        </p:txBody>
      </p:sp>
      <p:sp>
        <p:nvSpPr>
          <p:cNvPr id="10" name="Text 7"/>
          <p:cNvSpPr/>
          <p:nvPr/>
        </p:nvSpPr>
        <p:spPr>
          <a:xfrm>
            <a:off x="6537960" y="4837176"/>
            <a:ext cx="4754880" cy="7772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Está publicada en cada tarea, antes de la entrega. Ábranla al empezar, no al terminar: dice exactamente qué se espera en cada criterio.</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trabajo es en equipo, y eso se evalúa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Grupos de 3 o 4 integrantes, que se mantienen durante todo el curso.</a:t>
            </a:r>
            <a:endParaRPr lang="en-US" sz="1400" dirty="0"/>
          </a:p>
        </p:txBody>
      </p:sp>
      <p:sp>
        <p:nvSpPr>
          <p:cNvPr id="4" name="Shape 2"/>
          <p:cNvSpPr/>
          <p:nvPr/>
        </p:nvSpPr>
        <p:spPr>
          <a:xfrm>
            <a:off x="54864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22960" y="2194560"/>
            <a:ext cx="438912" cy="438912"/>
          </a:xfrm>
          <a:prstGeom prst="ellipse">
            <a:avLst/>
          </a:prstGeom>
          <a:solidFill>
            <a:srgbClr val="AC212E"/>
          </a:solidFill>
          <a:ln/>
        </p:spPr>
        <p:txBody>
          <a:bodyPr/>
          <a:lstStyle/>
          <a:p>
            <a:endParaRPr lang="es-CL"/>
          </a:p>
        </p:txBody>
      </p:sp>
      <p:sp>
        <p:nvSpPr>
          <p:cNvPr id="6" name="Text 4"/>
          <p:cNvSpPr/>
          <p:nvPr/>
        </p:nvSpPr>
        <p:spPr>
          <a:xfrm>
            <a:off x="822960" y="21945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17320" y="192938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Formen el grupo el primer día</a:t>
            </a:r>
            <a:endParaRPr lang="en-US" sz="1400" dirty="0"/>
          </a:p>
        </p:txBody>
      </p:sp>
      <p:sp>
        <p:nvSpPr>
          <p:cNvPr id="8" name="Text 6"/>
          <p:cNvSpPr/>
          <p:nvPr/>
        </p:nvSpPr>
        <p:spPr>
          <a:xfrm>
            <a:off x="1417320" y="237744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Sin grupo no hay avance posible: la primera entrega es al cierre de la Semana 1.</a:t>
            </a:r>
            <a:endParaRPr lang="en-US" sz="1200" dirty="0"/>
          </a:p>
        </p:txBody>
      </p:sp>
      <p:sp>
        <p:nvSpPr>
          <p:cNvPr id="9" name="Shape 7"/>
          <p:cNvSpPr/>
          <p:nvPr/>
        </p:nvSpPr>
        <p:spPr>
          <a:xfrm>
            <a:off x="630936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83680" y="2194560"/>
            <a:ext cx="438912" cy="438912"/>
          </a:xfrm>
          <a:prstGeom prst="ellipse">
            <a:avLst/>
          </a:prstGeom>
          <a:solidFill>
            <a:srgbClr val="AC212E"/>
          </a:solidFill>
          <a:ln/>
        </p:spPr>
        <p:txBody>
          <a:bodyPr/>
          <a:lstStyle/>
          <a:p>
            <a:endParaRPr lang="es-CL"/>
          </a:p>
        </p:txBody>
      </p:sp>
      <p:sp>
        <p:nvSpPr>
          <p:cNvPr id="11" name="Text 9"/>
          <p:cNvSpPr/>
          <p:nvPr/>
        </p:nvSpPr>
        <p:spPr>
          <a:xfrm>
            <a:off x="6583680" y="219456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78040" y="192938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Todos trabajan sobre el mismo repositorio</a:t>
            </a:r>
            <a:endParaRPr lang="en-US" sz="1400" dirty="0"/>
          </a:p>
        </p:txBody>
      </p:sp>
      <p:sp>
        <p:nvSpPr>
          <p:cNvPr id="13" name="Text 11"/>
          <p:cNvSpPr/>
          <p:nvPr/>
        </p:nvSpPr>
        <p:spPr>
          <a:xfrm>
            <a:off x="7178040" y="237744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El historial de commits muestra quién hizo qué y cuándo. Es evidencia evaluada.</a:t>
            </a:r>
            <a:endParaRPr lang="en-US" sz="1200" dirty="0"/>
          </a:p>
        </p:txBody>
      </p:sp>
      <p:sp>
        <p:nvSpPr>
          <p:cNvPr id="14" name="Shape 12"/>
          <p:cNvSpPr/>
          <p:nvPr/>
        </p:nvSpPr>
        <p:spPr>
          <a:xfrm>
            <a:off x="54864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22960" y="3657600"/>
            <a:ext cx="438912" cy="438912"/>
          </a:xfrm>
          <a:prstGeom prst="ellipse">
            <a:avLst/>
          </a:prstGeom>
          <a:solidFill>
            <a:srgbClr val="AC212E"/>
          </a:solidFill>
          <a:ln/>
        </p:spPr>
        <p:txBody>
          <a:bodyPr/>
          <a:lstStyle/>
          <a:p>
            <a:endParaRPr lang="es-CL"/>
          </a:p>
        </p:txBody>
      </p:sp>
      <p:sp>
        <p:nvSpPr>
          <p:cNvPr id="16" name="Text 14"/>
          <p:cNvSpPr/>
          <p:nvPr/>
        </p:nvSpPr>
        <p:spPr>
          <a:xfrm>
            <a:off x="822960" y="365760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39242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Repártanse por archivo, no por línea</a:t>
            </a:r>
            <a:endParaRPr lang="en-US" sz="1400" dirty="0"/>
          </a:p>
        </p:txBody>
      </p:sp>
      <p:sp>
        <p:nvSpPr>
          <p:cNvPr id="18" name="Text 16"/>
          <p:cNvSpPr/>
          <p:nvPr/>
        </p:nvSpPr>
        <p:spPr>
          <a:xfrm>
            <a:off x="1417320" y="384048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Dos personas editando el mismo notebook a la misma hora garantiza conflictos.</a:t>
            </a:r>
            <a:endParaRPr lang="en-US" sz="1200" dirty="0"/>
          </a:p>
        </p:txBody>
      </p:sp>
      <p:sp>
        <p:nvSpPr>
          <p:cNvPr id="19" name="Shape 17"/>
          <p:cNvSpPr/>
          <p:nvPr/>
        </p:nvSpPr>
        <p:spPr>
          <a:xfrm>
            <a:off x="6309360" y="3246120"/>
            <a:ext cx="5303520" cy="1280160"/>
          </a:xfrm>
          <a:prstGeom prst="roundRect">
            <a:avLst>
              <a:gd name="adj" fmla="val 6429"/>
            </a:avLst>
          </a:prstGeom>
          <a:solidFill>
            <a:srgbClr val="F6E7E9"/>
          </a:solidFill>
          <a:ln w="12700">
            <a:solidFill>
              <a:srgbClr val="F6E7E9"/>
            </a:solidFill>
            <a:prstDash val="solid"/>
          </a:ln>
        </p:spPr>
        <p:txBody>
          <a:bodyPr/>
          <a:lstStyle/>
          <a:p>
            <a:endParaRPr lang="es-CL"/>
          </a:p>
        </p:txBody>
      </p:sp>
      <p:sp>
        <p:nvSpPr>
          <p:cNvPr id="20" name="Shape 18"/>
          <p:cNvSpPr/>
          <p:nvPr/>
        </p:nvSpPr>
        <p:spPr>
          <a:xfrm>
            <a:off x="6583680" y="3657600"/>
            <a:ext cx="438912" cy="438912"/>
          </a:xfrm>
          <a:prstGeom prst="ellipse">
            <a:avLst/>
          </a:prstGeom>
          <a:solidFill>
            <a:srgbClr val="AC212E"/>
          </a:solidFill>
          <a:ln/>
        </p:spPr>
        <p:txBody>
          <a:bodyPr/>
          <a:lstStyle/>
          <a:p>
            <a:endParaRPr lang="es-CL"/>
          </a:p>
        </p:txBody>
      </p:sp>
      <p:sp>
        <p:nvSpPr>
          <p:cNvPr id="21" name="Text 19"/>
          <p:cNvSpPr/>
          <p:nvPr/>
        </p:nvSpPr>
        <p:spPr>
          <a:xfrm>
            <a:off x="6583680" y="365760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78040" y="3392424"/>
            <a:ext cx="4251960" cy="41148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Hay coevaluación</a:t>
            </a:r>
            <a:endParaRPr lang="en-US" sz="1400" dirty="0"/>
          </a:p>
        </p:txBody>
      </p:sp>
      <p:sp>
        <p:nvSpPr>
          <p:cNvPr id="23" name="Text 21"/>
          <p:cNvSpPr/>
          <p:nvPr/>
        </p:nvSpPr>
        <p:spPr>
          <a:xfrm>
            <a:off x="7178040" y="3840480"/>
            <a:ext cx="4251960" cy="5943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El 10% final lo determina cómo evalúan el aporte de cada integrante, incluido el propio.</a:t>
            </a:r>
            <a:endParaRPr lang="en-US" sz="1200" dirty="0"/>
          </a:p>
        </p:txBody>
      </p:sp>
      <p:sp>
        <p:nvSpPr>
          <p:cNvPr id="24" name="Shape 22"/>
          <p:cNvSpPr/>
          <p:nvPr/>
        </p:nvSpPr>
        <p:spPr>
          <a:xfrm>
            <a:off x="548640" y="4846320"/>
            <a:ext cx="11064240" cy="1097280"/>
          </a:xfrm>
          <a:prstGeom prst="roundRect">
            <a:avLst>
              <a:gd name="adj" fmla="val 7500"/>
            </a:avLst>
          </a:prstGeom>
          <a:solidFill>
            <a:srgbClr val="0A1526"/>
          </a:solidFill>
          <a:ln w="12700">
            <a:solidFill>
              <a:srgbClr val="0A1526"/>
            </a:solidFill>
            <a:prstDash val="solid"/>
          </a:ln>
        </p:spPr>
        <p:txBody>
          <a:bodyPr/>
          <a:lstStyle/>
          <a:p>
            <a:endParaRPr lang="es-CL"/>
          </a:p>
        </p:txBody>
      </p:sp>
      <p:sp>
        <p:nvSpPr>
          <p:cNvPr id="25" name="Text 23"/>
          <p:cNvSpPr/>
          <p:nvPr/>
        </p:nvSpPr>
        <p:spPr>
          <a:xfrm>
            <a:off x="868680" y="4846320"/>
            <a:ext cx="10424160" cy="109728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El patrón que más problemas causa: una persona hace el trabajo y lo sube por todos. Produce un repositorio con un solo autor, y eso baja la nota del grupo completo por más completo que esté el contenido.</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funciona la modalidad online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Trabajo autónomo con acompañamiento. El aula está ordenada como una secuencia.</a:t>
            </a:r>
            <a:endParaRPr lang="en-US" sz="1400" dirty="0"/>
          </a:p>
        </p:txBody>
      </p:sp>
      <p:sp>
        <p:nvSpPr>
          <p:cNvPr id="4" name="Shape 2"/>
          <p:cNvSpPr/>
          <p:nvPr/>
        </p:nvSpPr>
        <p:spPr>
          <a:xfrm>
            <a:off x="548640" y="17830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04672" y="19202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Recursos por semana</a:t>
            </a:r>
            <a:endParaRPr lang="en-US" sz="1400" dirty="0"/>
          </a:p>
        </p:txBody>
      </p:sp>
      <p:sp>
        <p:nvSpPr>
          <p:cNvPr id="6" name="Text 4"/>
          <p:cNvSpPr/>
          <p:nvPr/>
        </p:nvSpPr>
        <p:spPr>
          <a:xfrm>
            <a:off x="804672" y="23134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Cápsulas, videos, interactivos y apuntes descargables, en un orden pensado.</a:t>
            </a:r>
            <a:endParaRPr lang="en-US" sz="1200" dirty="0"/>
          </a:p>
        </p:txBody>
      </p:sp>
      <p:sp>
        <p:nvSpPr>
          <p:cNvPr id="7" name="Shape 5"/>
          <p:cNvSpPr/>
          <p:nvPr/>
        </p:nvSpPr>
        <p:spPr>
          <a:xfrm>
            <a:off x="4325112" y="17830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8" name="Text 6"/>
          <p:cNvSpPr/>
          <p:nvPr/>
        </p:nvSpPr>
        <p:spPr>
          <a:xfrm>
            <a:off x="4581144" y="19202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Sesión sincrónica</a:t>
            </a:r>
            <a:endParaRPr lang="en-US" sz="1400" dirty="0"/>
          </a:p>
        </p:txBody>
      </p:sp>
      <p:sp>
        <p:nvSpPr>
          <p:cNvPr id="9" name="Text 7"/>
          <p:cNvSpPr/>
          <p:nvPr/>
        </p:nvSpPr>
        <p:spPr>
          <a:xfrm>
            <a:off x="4581144" y="23134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Encuentro semanal para reforzar contenidos y resolver consultas. Queda grabada.</a:t>
            </a:r>
            <a:endParaRPr lang="en-US" sz="1200" dirty="0"/>
          </a:p>
        </p:txBody>
      </p:sp>
      <p:sp>
        <p:nvSpPr>
          <p:cNvPr id="10" name="Shape 8"/>
          <p:cNvSpPr/>
          <p:nvPr/>
        </p:nvSpPr>
        <p:spPr>
          <a:xfrm>
            <a:off x="8101584" y="17830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8357616" y="19202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Foro de Consultas</a:t>
            </a:r>
            <a:endParaRPr lang="en-US" sz="1400" dirty="0"/>
          </a:p>
        </p:txBody>
      </p:sp>
      <p:sp>
        <p:nvSpPr>
          <p:cNvPr id="12" name="Text 10"/>
          <p:cNvSpPr/>
          <p:nvPr/>
        </p:nvSpPr>
        <p:spPr>
          <a:xfrm>
            <a:off x="8357616" y="23134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Dudas de contenido y errores técnicos. Es el canal principal.</a:t>
            </a:r>
            <a:endParaRPr lang="en-US" sz="1200" dirty="0"/>
          </a:p>
        </p:txBody>
      </p:sp>
      <p:sp>
        <p:nvSpPr>
          <p:cNvPr id="13" name="Shape 11"/>
          <p:cNvSpPr/>
          <p:nvPr/>
        </p:nvSpPr>
        <p:spPr>
          <a:xfrm>
            <a:off x="548640" y="33832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4" name="Text 12"/>
          <p:cNvSpPr/>
          <p:nvPr/>
        </p:nvSpPr>
        <p:spPr>
          <a:xfrm>
            <a:off x="804672" y="35204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Foro de Tutoría</a:t>
            </a:r>
            <a:endParaRPr lang="en-US" sz="1400" dirty="0"/>
          </a:p>
        </p:txBody>
      </p:sp>
      <p:sp>
        <p:nvSpPr>
          <p:cNvPr id="15" name="Text 13"/>
          <p:cNvSpPr/>
          <p:nvPr/>
        </p:nvSpPr>
        <p:spPr>
          <a:xfrm>
            <a:off x="804672" y="39136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Problemas de acceso, plataforma y soporte.</a:t>
            </a:r>
            <a:endParaRPr lang="en-US" sz="1200" dirty="0"/>
          </a:p>
        </p:txBody>
      </p:sp>
      <p:sp>
        <p:nvSpPr>
          <p:cNvPr id="16" name="Shape 14"/>
          <p:cNvSpPr/>
          <p:nvPr/>
        </p:nvSpPr>
        <p:spPr>
          <a:xfrm>
            <a:off x="4325112" y="33832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4581144" y="35204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Foros de reflexión</a:t>
            </a:r>
            <a:endParaRPr lang="en-US" sz="1400" dirty="0"/>
          </a:p>
        </p:txBody>
      </p:sp>
      <p:sp>
        <p:nvSpPr>
          <p:cNvPr id="18" name="Text 16"/>
          <p:cNvSpPr/>
          <p:nvPr/>
        </p:nvSpPr>
        <p:spPr>
          <a:xfrm>
            <a:off x="4581144" y="39136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Uno por fase, para discutir decisiones técnicas con el grupo curso.</a:t>
            </a:r>
            <a:endParaRPr lang="en-US" sz="1200" dirty="0"/>
          </a:p>
        </p:txBody>
      </p:sp>
      <p:sp>
        <p:nvSpPr>
          <p:cNvPr id="19" name="Shape 17"/>
          <p:cNvSpPr/>
          <p:nvPr/>
        </p:nvSpPr>
        <p:spPr>
          <a:xfrm>
            <a:off x="8101584" y="3383280"/>
            <a:ext cx="35204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20" name="Text 18"/>
          <p:cNvSpPr/>
          <p:nvPr/>
        </p:nvSpPr>
        <p:spPr>
          <a:xfrm>
            <a:off x="8357616" y="3520440"/>
            <a:ext cx="30175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Anuncios</a:t>
            </a:r>
            <a:endParaRPr lang="en-US" sz="1400" dirty="0"/>
          </a:p>
        </p:txBody>
      </p:sp>
      <p:sp>
        <p:nvSpPr>
          <p:cNvPr id="21" name="Text 19"/>
          <p:cNvSpPr/>
          <p:nvPr/>
        </p:nvSpPr>
        <p:spPr>
          <a:xfrm>
            <a:off x="8357616" y="3913632"/>
            <a:ext cx="301752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Recursos y avisos que no están dentro de los módulos. Revísenlos.</a:t>
            </a:r>
            <a:endParaRPr lang="en-US" sz="1200" dirty="0"/>
          </a:p>
        </p:txBody>
      </p:sp>
      <p:sp>
        <p:nvSpPr>
          <p:cNvPr id="22" name="Shape 20"/>
          <p:cNvSpPr/>
          <p:nvPr/>
        </p:nvSpPr>
        <p:spPr>
          <a:xfrm>
            <a:off x="548640" y="5029200"/>
            <a:ext cx="110642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868680" y="5029200"/>
            <a:ext cx="10424160" cy="914400"/>
          </a:xfrm>
          <a:prstGeom prst="rect">
            <a:avLst/>
          </a:prstGeom>
          <a:noFill/>
          <a:ln/>
        </p:spPr>
        <p:txBody>
          <a:bodyPr wrap="square" lIns="0" tIns="0" rIns="0" bIns="0" rtlCol="0" anchor="ctr"/>
          <a:lstStyle/>
          <a:p>
            <a:pPr marL="0" indent="0">
              <a:buNone/>
            </a:pPr>
            <a:r>
              <a:rPr lang="en-US" sz="1400" dirty="0">
                <a:solidFill>
                  <a:srgbClr val="AC212E"/>
                </a:solidFill>
                <a:latin typeface="Calibri" pitchFamily="34" charset="0"/>
                <a:ea typeface="Calibri" pitchFamily="34" charset="-122"/>
                <a:cs typeface="Calibri" pitchFamily="34" charset="-120"/>
              </a:rPr>
              <a:t>Dedicación estimada: unas 12 horas semanales entre lectura, práctica y trabajo grupal. Distribuidas en la semana, no concentradas en el último día.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Qué necesitan tener listo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Cinco cosas, todas gratuitas. Déjenlas resueltas antes de la primera entrega.</a:t>
            </a:r>
            <a:endParaRPr lang="en-US" sz="1400" dirty="0"/>
          </a:p>
        </p:txBody>
      </p:sp>
      <p:sp>
        <p:nvSpPr>
          <p:cNvPr id="4" name="Shape 2"/>
          <p:cNvSpPr/>
          <p:nvPr/>
        </p:nvSpPr>
        <p:spPr>
          <a:xfrm>
            <a:off x="548640" y="1783080"/>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5" name="Shape 3"/>
          <p:cNvSpPr/>
          <p:nvPr/>
        </p:nvSpPr>
        <p:spPr>
          <a:xfrm>
            <a:off x="822960" y="1929384"/>
            <a:ext cx="420624" cy="420624"/>
          </a:xfrm>
          <a:prstGeom prst="ellipse">
            <a:avLst/>
          </a:prstGeom>
          <a:solidFill>
            <a:srgbClr val="AC212E"/>
          </a:solidFill>
          <a:ln/>
        </p:spPr>
        <p:txBody>
          <a:bodyPr/>
          <a:lstStyle/>
          <a:p>
            <a:endParaRPr lang="es-CL"/>
          </a:p>
        </p:txBody>
      </p:sp>
      <p:sp>
        <p:nvSpPr>
          <p:cNvPr id="6" name="Text 4"/>
          <p:cNvSpPr/>
          <p:nvPr/>
        </p:nvSpPr>
        <p:spPr>
          <a:xfrm>
            <a:off x="822960" y="192938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1783080"/>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Python 3.13</a:t>
            </a:r>
            <a:endParaRPr lang="en-US" sz="1400" dirty="0"/>
          </a:p>
        </p:txBody>
      </p:sp>
      <p:sp>
        <p:nvSpPr>
          <p:cNvPr id="8" name="Text 6"/>
          <p:cNvSpPr/>
          <p:nvPr/>
        </p:nvSpPr>
        <p:spPr>
          <a:xfrm>
            <a:off x="4206240" y="1783080"/>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Descarga desde python.org. En Windows, marquen «Add python.exe to PATH».</a:t>
            </a:r>
            <a:endParaRPr lang="en-US" sz="1250" dirty="0"/>
          </a:p>
        </p:txBody>
      </p:sp>
      <p:sp>
        <p:nvSpPr>
          <p:cNvPr id="9" name="Shape 7"/>
          <p:cNvSpPr/>
          <p:nvPr/>
        </p:nvSpPr>
        <p:spPr>
          <a:xfrm>
            <a:off x="548640" y="2624328"/>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10" name="Shape 8"/>
          <p:cNvSpPr/>
          <p:nvPr/>
        </p:nvSpPr>
        <p:spPr>
          <a:xfrm>
            <a:off x="822960" y="2770632"/>
            <a:ext cx="420624" cy="420624"/>
          </a:xfrm>
          <a:prstGeom prst="ellipse">
            <a:avLst/>
          </a:prstGeom>
          <a:solidFill>
            <a:srgbClr val="AC212E"/>
          </a:solidFill>
          <a:ln/>
        </p:spPr>
        <p:txBody>
          <a:bodyPr/>
          <a:lstStyle/>
          <a:p>
            <a:endParaRPr lang="es-CL"/>
          </a:p>
        </p:txBody>
      </p:sp>
      <p:sp>
        <p:nvSpPr>
          <p:cNvPr id="11" name="Text 9"/>
          <p:cNvSpPr/>
          <p:nvPr/>
        </p:nvSpPr>
        <p:spPr>
          <a:xfrm>
            <a:off x="822960" y="27706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63040" y="2624328"/>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Git</a:t>
            </a:r>
            <a:endParaRPr lang="en-US" sz="1400" dirty="0"/>
          </a:p>
        </p:txBody>
      </p:sp>
      <p:sp>
        <p:nvSpPr>
          <p:cNvPr id="13" name="Text 11"/>
          <p:cNvSpPr/>
          <p:nvPr/>
        </p:nvSpPr>
        <p:spPr>
          <a:xfrm>
            <a:off x="4206240" y="2624328"/>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En Windows incluye Git Bash; en macOS viene con las Command Line Tools.</a:t>
            </a:r>
            <a:endParaRPr lang="en-US" sz="1250" dirty="0"/>
          </a:p>
        </p:txBody>
      </p:sp>
      <p:sp>
        <p:nvSpPr>
          <p:cNvPr id="14" name="Shape 12"/>
          <p:cNvSpPr/>
          <p:nvPr/>
        </p:nvSpPr>
        <p:spPr>
          <a:xfrm>
            <a:off x="548640" y="3465576"/>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15" name="Shape 13"/>
          <p:cNvSpPr/>
          <p:nvPr/>
        </p:nvSpPr>
        <p:spPr>
          <a:xfrm>
            <a:off x="822960" y="3611880"/>
            <a:ext cx="420624" cy="420624"/>
          </a:xfrm>
          <a:prstGeom prst="ellipse">
            <a:avLst/>
          </a:prstGeom>
          <a:solidFill>
            <a:srgbClr val="AC212E"/>
          </a:solidFill>
          <a:ln/>
        </p:spPr>
        <p:txBody>
          <a:bodyPr/>
          <a:lstStyle/>
          <a:p>
            <a:endParaRPr lang="es-CL"/>
          </a:p>
        </p:txBody>
      </p:sp>
      <p:sp>
        <p:nvSpPr>
          <p:cNvPr id="16" name="Text 14"/>
          <p:cNvSpPr/>
          <p:nvPr/>
        </p:nvSpPr>
        <p:spPr>
          <a:xfrm>
            <a:off x="822960" y="36118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63040" y="3465576"/>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Cuenta de GitHub</a:t>
            </a:r>
            <a:endParaRPr lang="en-US" sz="1400" dirty="0"/>
          </a:p>
        </p:txBody>
      </p:sp>
      <p:sp>
        <p:nvSpPr>
          <p:cNvPr id="18" name="Text 16"/>
          <p:cNvSpPr/>
          <p:nvPr/>
        </p:nvSpPr>
        <p:spPr>
          <a:xfrm>
            <a:off x="4206240" y="3465576"/>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Con el mismo correo que configuren en Git, para que sus commits se les atribuyan.</a:t>
            </a:r>
            <a:endParaRPr lang="en-US" sz="1250" dirty="0"/>
          </a:p>
        </p:txBody>
      </p:sp>
      <p:sp>
        <p:nvSpPr>
          <p:cNvPr id="19" name="Shape 17"/>
          <p:cNvSpPr/>
          <p:nvPr/>
        </p:nvSpPr>
        <p:spPr>
          <a:xfrm>
            <a:off x="548640" y="4306824"/>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20" name="Shape 18"/>
          <p:cNvSpPr/>
          <p:nvPr/>
        </p:nvSpPr>
        <p:spPr>
          <a:xfrm>
            <a:off x="822960" y="4453128"/>
            <a:ext cx="420624" cy="420624"/>
          </a:xfrm>
          <a:prstGeom prst="ellipse">
            <a:avLst/>
          </a:prstGeom>
          <a:solidFill>
            <a:srgbClr val="AC212E"/>
          </a:solidFill>
          <a:ln/>
        </p:spPr>
        <p:txBody>
          <a:bodyPr/>
          <a:lstStyle/>
          <a:p>
            <a:endParaRPr lang="es-CL"/>
          </a:p>
        </p:txBody>
      </p:sp>
      <p:sp>
        <p:nvSpPr>
          <p:cNvPr id="21" name="Text 19"/>
          <p:cNvSpPr/>
          <p:nvPr/>
        </p:nvSpPr>
        <p:spPr>
          <a:xfrm>
            <a:off x="822960" y="44531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463040" y="4306824"/>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JupyterLab</a:t>
            </a:r>
            <a:endParaRPr lang="en-US" sz="1400" dirty="0"/>
          </a:p>
        </p:txBody>
      </p:sp>
      <p:sp>
        <p:nvSpPr>
          <p:cNvPr id="23" name="Text 21"/>
          <p:cNvSpPr/>
          <p:nvPr/>
        </p:nvSpPr>
        <p:spPr>
          <a:xfrm>
            <a:off x="4206240" y="4306824"/>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Se instala dentro del entorno virtual del proyecto, no en el Python del sistema.</a:t>
            </a:r>
            <a:endParaRPr lang="en-US" sz="1250" dirty="0"/>
          </a:p>
        </p:txBody>
      </p:sp>
      <p:sp>
        <p:nvSpPr>
          <p:cNvPr id="24" name="Shape 22"/>
          <p:cNvSpPr/>
          <p:nvPr/>
        </p:nvSpPr>
        <p:spPr>
          <a:xfrm>
            <a:off x="548640" y="5148072"/>
            <a:ext cx="11064240" cy="713232"/>
          </a:xfrm>
          <a:prstGeom prst="roundRect">
            <a:avLst>
              <a:gd name="adj" fmla="val 11538"/>
            </a:avLst>
          </a:prstGeom>
          <a:solidFill>
            <a:srgbClr val="12203A"/>
          </a:solidFill>
          <a:ln w="12700">
            <a:solidFill>
              <a:srgbClr val="12203A"/>
            </a:solidFill>
            <a:prstDash val="solid"/>
          </a:ln>
        </p:spPr>
        <p:txBody>
          <a:bodyPr/>
          <a:lstStyle/>
          <a:p>
            <a:endParaRPr lang="es-CL"/>
          </a:p>
        </p:txBody>
      </p:sp>
      <p:sp>
        <p:nvSpPr>
          <p:cNvPr id="25" name="Shape 23"/>
          <p:cNvSpPr/>
          <p:nvPr/>
        </p:nvSpPr>
        <p:spPr>
          <a:xfrm>
            <a:off x="822960" y="5294376"/>
            <a:ext cx="420624" cy="420624"/>
          </a:xfrm>
          <a:prstGeom prst="ellipse">
            <a:avLst/>
          </a:prstGeom>
          <a:solidFill>
            <a:srgbClr val="AC212E"/>
          </a:solidFill>
          <a:ln/>
        </p:spPr>
        <p:txBody>
          <a:bodyPr/>
          <a:lstStyle/>
          <a:p>
            <a:endParaRPr lang="es-CL"/>
          </a:p>
        </p:txBody>
      </p:sp>
      <p:sp>
        <p:nvSpPr>
          <p:cNvPr id="26" name="Text 24"/>
          <p:cNvSpPr/>
          <p:nvPr/>
        </p:nvSpPr>
        <p:spPr>
          <a:xfrm>
            <a:off x="822960" y="52943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63040" y="5148072"/>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Un conjunto de datos</a:t>
            </a:r>
            <a:endParaRPr lang="en-US" sz="1400" dirty="0"/>
          </a:p>
        </p:txBody>
      </p:sp>
      <p:sp>
        <p:nvSpPr>
          <p:cNvPr id="28" name="Text 26"/>
          <p:cNvSpPr/>
          <p:nvPr/>
        </p:nvSpPr>
        <p:spPr>
          <a:xfrm>
            <a:off x="4206240" y="5148072"/>
            <a:ext cx="7132320" cy="71323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Elegido por el grupo según los criterios del curso. Verificado antes de comprometerse.</a:t>
            </a:r>
            <a:endParaRPr lang="en-US" sz="1250" dirty="0"/>
          </a:p>
        </p:txBody>
      </p:sp>
      <p:sp>
        <p:nvSpPr>
          <p:cNvPr id="29" name="Text 27"/>
          <p:cNvSpPr/>
          <p:nvPr/>
        </p:nvSpPr>
        <p:spPr>
          <a:xfrm>
            <a:off x="548640" y="6035040"/>
            <a:ext cx="11064240" cy="365760"/>
          </a:xfrm>
          <a:prstGeom prst="rect">
            <a:avLst/>
          </a:prstGeom>
          <a:noFill/>
          <a:ln/>
        </p:spPr>
        <p:txBody>
          <a:bodyPr wrap="square" lIns="0" tIns="0" rIns="0" bIns="0" rtlCol="0" anchor="ctr"/>
          <a:lstStyle/>
          <a:p>
            <a:pPr marL="0" indent="0">
              <a:buNone/>
            </a:pPr>
            <a:r>
              <a:rPr lang="en-US" sz="1300" i="1" dirty="0">
                <a:solidFill>
                  <a:srgbClr val="D7E3EE"/>
                </a:solidFill>
                <a:latin typeface="Calibri" pitchFamily="34" charset="0"/>
                <a:ea typeface="Calibri" pitchFamily="34" charset="-122"/>
                <a:cs typeface="Calibri" pitchFamily="34" charset="-120"/>
              </a:rPr>
              <a:t>La Guía de Git y GitHub del curso, en versión Windows y macOS, cubre la instalación paso a paso.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Integridad académica y uso de IA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Dos reglas claras, para que nadie las descubra tarde.</a:t>
            </a:r>
            <a:endParaRPr lang="en-US" sz="1400" dirty="0"/>
          </a:p>
        </p:txBody>
      </p:sp>
      <p:sp>
        <p:nvSpPr>
          <p:cNvPr id="4" name="Shape 2"/>
          <p:cNvSpPr/>
          <p:nvPr/>
        </p:nvSpPr>
        <p:spPr>
          <a:xfrm>
            <a:off x="548640" y="1783080"/>
            <a:ext cx="539496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47672"/>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El trabajo debe ser propio</a:t>
            </a:r>
            <a:endParaRPr lang="en-US" sz="1600" dirty="0"/>
          </a:p>
        </p:txBody>
      </p:sp>
      <p:sp>
        <p:nvSpPr>
          <p:cNvPr id="6" name="Text 4"/>
          <p:cNvSpPr/>
          <p:nvPr/>
        </p:nvSpPr>
        <p:spPr>
          <a:xfrm>
            <a:off x="868680" y="2377440"/>
            <a:ext cx="4754880" cy="164592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plagio se sanciona con nota mínima, sin posibilidad de reposición.</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historial de Git es un registro de autoría: un repositorio cuyo primer commit contiene el proyecto terminado es, como mínimo, una señal de que el proceso no ocurrió como se declara.</a:t>
            </a:r>
            <a:endParaRPr lang="en-US" sz="1300" dirty="0"/>
          </a:p>
        </p:txBody>
      </p:sp>
      <p:sp>
        <p:nvSpPr>
          <p:cNvPr id="7" name="Shape 5"/>
          <p:cNvSpPr/>
          <p:nvPr/>
        </p:nvSpPr>
        <p:spPr>
          <a:xfrm>
            <a:off x="6217920" y="1783080"/>
            <a:ext cx="5394960" cy="2377440"/>
          </a:xfrm>
          <a:prstGeom prst="roundRect">
            <a:avLst>
              <a:gd name="adj" fmla="val 3462"/>
            </a:avLst>
          </a:prstGeom>
          <a:solidFill>
            <a:srgbClr val="F6E7E9"/>
          </a:solidFill>
          <a:ln w="12700">
            <a:solidFill>
              <a:srgbClr val="F6E7E9"/>
            </a:solidFill>
            <a:prstDash val="solid"/>
          </a:ln>
        </p:spPr>
        <p:txBody>
          <a:bodyPr/>
          <a:lstStyle/>
          <a:p>
            <a:endParaRPr lang="es-CL"/>
          </a:p>
        </p:txBody>
      </p:sp>
      <p:sp>
        <p:nvSpPr>
          <p:cNvPr id="8" name="Text 6"/>
          <p:cNvSpPr/>
          <p:nvPr/>
        </p:nvSpPr>
        <p:spPr>
          <a:xfrm>
            <a:off x="6537960" y="1947672"/>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El uso de IA debe ser transparente</a:t>
            </a:r>
            <a:endParaRPr lang="en-US" sz="1600" dirty="0"/>
          </a:p>
        </p:txBody>
      </p:sp>
      <p:sp>
        <p:nvSpPr>
          <p:cNvPr id="9" name="Text 7"/>
          <p:cNvSpPr/>
          <p:nvPr/>
        </p:nvSpPr>
        <p:spPr>
          <a:xfrm>
            <a:off x="6537960" y="2377440"/>
            <a:ext cx="4754880" cy="164592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Si usan un asistente para generar o </a:t>
            </a:r>
            <a:r>
              <a:rPr lang="en-US" sz="1300" dirty="0" err="1">
                <a:solidFill>
                  <a:srgbClr val="06304A"/>
                </a:solidFill>
                <a:latin typeface="Calibri" pitchFamily="34" charset="0"/>
                <a:ea typeface="Calibri" pitchFamily="34" charset="-122"/>
                <a:cs typeface="Calibri" pitchFamily="34" charset="-120"/>
              </a:rPr>
              <a:t>depurar</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código</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decláren­lo</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según</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los</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lineamientos</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publicados</a:t>
            </a:r>
            <a:r>
              <a:rPr lang="en-US" sz="1300" dirty="0">
                <a:solidFill>
                  <a:srgbClr val="06304A"/>
                </a:solidFill>
                <a:latin typeface="Calibri" pitchFamily="34" charset="0"/>
                <a:ea typeface="Calibri" pitchFamily="34" charset="-122"/>
                <a:cs typeface="Calibri" pitchFamily="34" charset="-120"/>
              </a:rPr>
              <a:t> </a:t>
            </a:r>
            <a:r>
              <a:rPr lang="en-US" sz="1300" dirty="0" err="1">
                <a:solidFill>
                  <a:srgbClr val="06304A"/>
                </a:solidFill>
                <a:latin typeface="Calibri" pitchFamily="34" charset="0"/>
                <a:ea typeface="Calibri" pitchFamily="34" charset="-122"/>
                <a:cs typeface="Calibri" pitchFamily="34" charset="-120"/>
              </a:rPr>
              <a:t>en</a:t>
            </a:r>
            <a:r>
              <a:rPr lang="en-US" sz="1300" dirty="0">
                <a:solidFill>
                  <a:srgbClr val="06304A"/>
                </a:solidFill>
                <a:latin typeface="Calibri" pitchFamily="34" charset="0"/>
                <a:ea typeface="Calibri" pitchFamily="34" charset="-122"/>
                <a:cs typeface="Calibri" pitchFamily="34" charset="-120"/>
              </a:rPr>
              <a:t> el </a:t>
            </a:r>
            <a:r>
              <a:rPr lang="en-US" sz="1300" dirty="0" err="1">
                <a:solidFill>
                  <a:srgbClr val="06304A"/>
                </a:solidFill>
                <a:latin typeface="Calibri" pitchFamily="34" charset="0"/>
                <a:ea typeface="Calibri" pitchFamily="34" charset="-122"/>
                <a:cs typeface="Calibri" pitchFamily="34" charset="-120"/>
              </a:rPr>
              <a:t>curso</a:t>
            </a:r>
            <a:r>
              <a:rPr lang="en-US" sz="1300" dirty="0">
                <a:solidFill>
                  <a:srgbClr val="06304A"/>
                </a:solidFill>
                <a:latin typeface="Calibri" pitchFamily="34" charset="0"/>
                <a:ea typeface="Calibri" pitchFamily="34" charset="-122"/>
                <a:cs typeface="Calibri" pitchFamily="34" charset="-120"/>
              </a:rPr>
              <a:t>.</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Y asegúrense de entender y poder explicar cada línea que entregan: la evaluación distingue entre obtener un resultado correcto y comprender por qué lo es.</a:t>
            </a:r>
            <a:endParaRPr lang="en-US" sz="1300" dirty="0"/>
          </a:p>
        </p:txBody>
      </p:sp>
      <p:sp>
        <p:nvSpPr>
          <p:cNvPr id="10" name="Shape 8"/>
          <p:cNvSpPr/>
          <p:nvPr/>
        </p:nvSpPr>
        <p:spPr>
          <a:xfrm>
            <a:off x="548640" y="4480560"/>
            <a:ext cx="11064240" cy="1463040"/>
          </a:xfrm>
          <a:prstGeom prst="roundRect">
            <a:avLst>
              <a:gd name="adj" fmla="val 5625"/>
            </a:avLst>
          </a:prstGeom>
          <a:solidFill>
            <a:srgbClr val="0A1526"/>
          </a:solidFill>
          <a:ln w="12700">
            <a:solidFill>
              <a:srgbClr val="0A1526"/>
            </a:solidFill>
            <a:prstDash val="solid"/>
          </a:ln>
        </p:spPr>
        <p:txBody>
          <a:bodyPr/>
          <a:lstStyle/>
          <a:p>
            <a:endParaRPr lang="es-CL"/>
          </a:p>
        </p:txBody>
      </p:sp>
      <p:sp>
        <p:nvSpPr>
          <p:cNvPr id="11" name="Text 9"/>
          <p:cNvSpPr/>
          <p:nvPr/>
        </p:nvSpPr>
        <p:spPr>
          <a:xfrm>
            <a:off x="868680" y="4645152"/>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Por qué importa en este magíster</a:t>
            </a:r>
            <a:endParaRPr lang="en-US" sz="1500" dirty="0"/>
          </a:p>
        </p:txBody>
      </p:sp>
      <p:sp>
        <p:nvSpPr>
          <p:cNvPr id="12" name="Text 10"/>
          <p:cNvSpPr/>
          <p:nvPr/>
        </p:nvSpPr>
        <p:spPr>
          <a:xfrm>
            <a:off x="868680" y="5010912"/>
            <a:ext cx="10424160" cy="822960"/>
          </a:xfrm>
          <a:prstGeom prst="rect">
            <a:avLst/>
          </a:prstGeom>
          <a:noFill/>
          <a:ln/>
        </p:spPr>
        <p:txBody>
          <a:bodyPr wrap="square" lIns="0" tIns="0" rIns="0" bIns="0" rtlCol="0" anchor="ctr"/>
          <a:lstStyle/>
          <a:p>
            <a:pPr marL="0" indent="0">
              <a:lnSpc>
                <a:spcPts val="1900"/>
              </a:lnSpc>
              <a:buNone/>
            </a:pPr>
            <a:r>
              <a:rPr lang="en-US" sz="1350" dirty="0">
                <a:solidFill>
                  <a:srgbClr val="D7E3EE"/>
                </a:solidFill>
                <a:latin typeface="Calibri" pitchFamily="34" charset="0"/>
                <a:ea typeface="Calibri" pitchFamily="34" charset="-122"/>
                <a:cs typeface="Calibri" pitchFamily="34" charset="-120"/>
              </a:rPr>
              <a:t>En ciencia de datos, la trazabilidad no es un requisito administrativo: es lo que hace que un resultado sea creíble. Las mismas prácticas que aquí se evalúan —documentar decisiones, versionar el trabajo, declarar las fuentes— son las que sostienen la validez de cualquier análisis profesional.</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Los primeros pasos, hoy mismo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Cinco acciones que se hacen en menos de una hora y ordenan toda la semana.</a:t>
            </a:r>
            <a:endParaRPr lang="en-US" sz="1400" dirty="0"/>
          </a:p>
        </p:txBody>
      </p:sp>
      <p:sp>
        <p:nvSpPr>
          <p:cNvPr id="4" name="Shape 2"/>
          <p:cNvSpPr/>
          <p:nvPr/>
        </p:nvSpPr>
        <p:spPr>
          <a:xfrm>
            <a:off x="548640" y="178308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22960" y="1920240"/>
            <a:ext cx="420624" cy="420624"/>
          </a:xfrm>
          <a:prstGeom prst="ellipse">
            <a:avLst/>
          </a:prstGeom>
          <a:solidFill>
            <a:srgbClr val="AC212E"/>
          </a:solidFill>
          <a:ln/>
        </p:spPr>
        <p:txBody>
          <a:bodyPr/>
          <a:lstStyle/>
          <a:p>
            <a:endParaRPr lang="es-CL"/>
          </a:p>
        </p:txBody>
      </p:sp>
      <p:sp>
        <p:nvSpPr>
          <p:cNvPr id="6" name="Text 4"/>
          <p:cNvSpPr/>
          <p:nvPr/>
        </p:nvSpPr>
        <p:spPr>
          <a:xfrm>
            <a:off x="822960" y="19202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63040" y="178308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Recorrer el aula</a:t>
            </a:r>
            <a:endParaRPr lang="en-US" sz="1400" dirty="0"/>
          </a:p>
        </p:txBody>
      </p:sp>
      <p:sp>
        <p:nvSpPr>
          <p:cNvPr id="8" name="Text 6"/>
          <p:cNvSpPr/>
          <p:nvPr/>
        </p:nvSpPr>
        <p:spPr>
          <a:xfrm>
            <a:off x="4846320" y="178308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Bienvenida, información general y programa de la asignatura.</a:t>
            </a:r>
            <a:endParaRPr lang="en-US" sz="1250" dirty="0"/>
          </a:p>
        </p:txBody>
      </p:sp>
      <p:sp>
        <p:nvSpPr>
          <p:cNvPr id="9" name="Shape 7"/>
          <p:cNvSpPr/>
          <p:nvPr/>
        </p:nvSpPr>
        <p:spPr>
          <a:xfrm>
            <a:off x="548640" y="260604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822960" y="2743200"/>
            <a:ext cx="420624" cy="420624"/>
          </a:xfrm>
          <a:prstGeom prst="ellipse">
            <a:avLst/>
          </a:prstGeom>
          <a:solidFill>
            <a:srgbClr val="AC212E"/>
          </a:solidFill>
          <a:ln/>
        </p:spPr>
        <p:txBody>
          <a:bodyPr/>
          <a:lstStyle/>
          <a:p>
            <a:endParaRPr lang="es-CL"/>
          </a:p>
        </p:txBody>
      </p:sp>
      <p:sp>
        <p:nvSpPr>
          <p:cNvPr id="11" name="Text 9"/>
          <p:cNvSpPr/>
          <p:nvPr/>
        </p:nvSpPr>
        <p:spPr>
          <a:xfrm>
            <a:off x="822960" y="274320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463040" y="260604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Completar el compromiso</a:t>
            </a:r>
            <a:endParaRPr lang="en-US" sz="1400" dirty="0"/>
          </a:p>
        </p:txBody>
      </p:sp>
      <p:sp>
        <p:nvSpPr>
          <p:cNvPr id="13" name="Text 11"/>
          <p:cNvSpPr/>
          <p:nvPr/>
        </p:nvSpPr>
        <p:spPr>
          <a:xfrm>
            <a:off x="4846320" y="260604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Cuestionario de integridad académica: un intento, sin puntaje.</a:t>
            </a:r>
            <a:endParaRPr lang="en-US" sz="1250" dirty="0"/>
          </a:p>
        </p:txBody>
      </p:sp>
      <p:sp>
        <p:nvSpPr>
          <p:cNvPr id="14" name="Shape 12"/>
          <p:cNvSpPr/>
          <p:nvPr/>
        </p:nvSpPr>
        <p:spPr>
          <a:xfrm>
            <a:off x="548640" y="342900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22960" y="3566160"/>
            <a:ext cx="420624" cy="420624"/>
          </a:xfrm>
          <a:prstGeom prst="ellipse">
            <a:avLst/>
          </a:prstGeom>
          <a:solidFill>
            <a:srgbClr val="AC212E"/>
          </a:solidFill>
          <a:ln/>
        </p:spPr>
        <p:txBody>
          <a:bodyPr/>
          <a:lstStyle/>
          <a:p>
            <a:endParaRPr lang="es-CL"/>
          </a:p>
        </p:txBody>
      </p:sp>
      <p:sp>
        <p:nvSpPr>
          <p:cNvPr id="16" name="Text 14"/>
          <p:cNvSpPr/>
          <p:nvPr/>
        </p:nvSpPr>
        <p:spPr>
          <a:xfrm>
            <a:off x="822960" y="35661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63040" y="342900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Participar en el foro diagnóstico</a:t>
            </a:r>
            <a:endParaRPr lang="en-US" sz="1400" dirty="0"/>
          </a:p>
        </p:txBody>
      </p:sp>
      <p:sp>
        <p:nvSpPr>
          <p:cNvPr id="18" name="Text 16"/>
          <p:cNvSpPr/>
          <p:nvPr/>
        </p:nvSpPr>
        <p:spPr>
          <a:xfrm>
            <a:off x="4846320" y="342900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Activación de conocimientos previos. No pondera, pero orienta el curso.</a:t>
            </a:r>
            <a:endParaRPr lang="en-US" sz="1250" dirty="0"/>
          </a:p>
        </p:txBody>
      </p:sp>
      <p:sp>
        <p:nvSpPr>
          <p:cNvPr id="19" name="Shape 17"/>
          <p:cNvSpPr/>
          <p:nvPr/>
        </p:nvSpPr>
        <p:spPr>
          <a:xfrm>
            <a:off x="548640" y="4251960"/>
            <a:ext cx="11064240" cy="694944"/>
          </a:xfrm>
          <a:prstGeom prst="roundRect">
            <a:avLst>
              <a:gd name="adj" fmla="val 11842"/>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822960" y="4389120"/>
            <a:ext cx="420624" cy="420624"/>
          </a:xfrm>
          <a:prstGeom prst="ellipse">
            <a:avLst/>
          </a:prstGeom>
          <a:solidFill>
            <a:srgbClr val="AC212E"/>
          </a:solidFill>
          <a:ln/>
        </p:spPr>
        <p:txBody>
          <a:bodyPr/>
          <a:lstStyle/>
          <a:p>
            <a:endParaRPr lang="es-CL"/>
          </a:p>
        </p:txBody>
      </p:sp>
      <p:sp>
        <p:nvSpPr>
          <p:cNvPr id="21" name="Text 19"/>
          <p:cNvSpPr/>
          <p:nvPr/>
        </p:nvSpPr>
        <p:spPr>
          <a:xfrm>
            <a:off x="822960" y="438912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463040" y="425196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Formar el grupo</a:t>
            </a:r>
            <a:endParaRPr lang="en-US" sz="1400" dirty="0"/>
          </a:p>
        </p:txBody>
      </p:sp>
      <p:sp>
        <p:nvSpPr>
          <p:cNvPr id="23" name="Text 21"/>
          <p:cNvSpPr/>
          <p:nvPr/>
        </p:nvSpPr>
        <p:spPr>
          <a:xfrm>
            <a:off x="4846320" y="425196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3 o 4 integrantes, para todo el semestre.</a:t>
            </a:r>
            <a:endParaRPr lang="en-US" sz="1250" dirty="0"/>
          </a:p>
        </p:txBody>
      </p:sp>
      <p:sp>
        <p:nvSpPr>
          <p:cNvPr id="24" name="Shape 22"/>
          <p:cNvSpPr/>
          <p:nvPr/>
        </p:nvSpPr>
        <p:spPr>
          <a:xfrm>
            <a:off x="548640" y="5074920"/>
            <a:ext cx="11064240" cy="694944"/>
          </a:xfrm>
          <a:prstGeom prst="roundRect">
            <a:avLst>
              <a:gd name="adj" fmla="val 11842"/>
            </a:avLst>
          </a:prstGeom>
          <a:solidFill>
            <a:srgbClr val="F6E7E9"/>
          </a:solidFill>
          <a:ln w="12700">
            <a:solidFill>
              <a:srgbClr val="F6E7E9"/>
            </a:solidFill>
            <a:prstDash val="solid"/>
          </a:ln>
        </p:spPr>
        <p:txBody>
          <a:bodyPr/>
          <a:lstStyle/>
          <a:p>
            <a:endParaRPr lang="es-CL"/>
          </a:p>
        </p:txBody>
      </p:sp>
      <p:sp>
        <p:nvSpPr>
          <p:cNvPr id="25" name="Shape 23"/>
          <p:cNvSpPr/>
          <p:nvPr/>
        </p:nvSpPr>
        <p:spPr>
          <a:xfrm>
            <a:off x="822960" y="5212080"/>
            <a:ext cx="420624" cy="420624"/>
          </a:xfrm>
          <a:prstGeom prst="ellipse">
            <a:avLst/>
          </a:prstGeom>
          <a:solidFill>
            <a:srgbClr val="AC212E"/>
          </a:solidFill>
          <a:ln/>
        </p:spPr>
        <p:txBody>
          <a:bodyPr/>
          <a:lstStyle/>
          <a:p>
            <a:endParaRPr lang="es-CL"/>
          </a:p>
        </p:txBody>
      </p:sp>
      <p:sp>
        <p:nvSpPr>
          <p:cNvPr id="26" name="Text 24"/>
          <p:cNvSpPr/>
          <p:nvPr/>
        </p:nvSpPr>
        <p:spPr>
          <a:xfrm>
            <a:off x="822960" y="52120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1463040" y="5074920"/>
            <a:ext cx="3291840" cy="694944"/>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Abrir la rúbrica de la Sumativa 1</a:t>
            </a:r>
            <a:endParaRPr lang="en-US" sz="1400" dirty="0"/>
          </a:p>
        </p:txBody>
      </p:sp>
      <p:sp>
        <p:nvSpPr>
          <p:cNvPr id="28" name="Text 26"/>
          <p:cNvSpPr/>
          <p:nvPr/>
        </p:nvSpPr>
        <p:spPr>
          <a:xfrm>
            <a:off x="4846320" y="5074920"/>
            <a:ext cx="6492240" cy="694944"/>
          </a:xfrm>
          <a:prstGeom prst="rect">
            <a:avLst/>
          </a:prstGeom>
          <a:noFill/>
          <a:ln/>
        </p:spPr>
        <p:txBody>
          <a:bodyPr wrap="square" lIns="0" tIns="0" rIns="0" bIns="0" rtlCol="0" anchor="ctr"/>
          <a:lstStyle/>
          <a:p>
            <a:pPr marL="0" indent="0">
              <a:buNone/>
            </a:pPr>
            <a:r>
              <a:rPr lang="en-US" sz="1250" dirty="0">
                <a:solidFill>
                  <a:srgbClr val="5A6B7B"/>
                </a:solidFill>
                <a:latin typeface="Calibri" pitchFamily="34" charset="0"/>
                <a:ea typeface="Calibri" pitchFamily="34" charset="-122"/>
                <a:cs typeface="Calibri" pitchFamily="34" charset="-120"/>
              </a:rPr>
              <a:t>Antes de empezar a trabajar, no después de entregar.</a:t>
            </a:r>
            <a:endParaRPr lang="en-US" sz="1250" dirty="0"/>
          </a:p>
        </p:txBody>
      </p:sp>
      <p:sp>
        <p:nvSpPr>
          <p:cNvPr id="29" name="Text 27"/>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Quien parte el primer día llega con holgura a la entrega. Quien parte el jueves, no alcanza a montar el repositorio con calma.</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828800"/>
            <a:ext cx="7680960" cy="640080"/>
          </a:xfrm>
          <a:prstGeom prst="rect">
            <a:avLst/>
          </a:prstGeom>
          <a:noFill/>
          <a:ln/>
        </p:spPr>
        <p:txBody>
          <a:bodyPr wrap="square" lIns="0" tIns="0" rIns="0" bIns="0" rtlCol="0" anchor="ctr"/>
          <a:lstStyle/>
          <a:p>
            <a:pPr marL="0" indent="0">
              <a:buNone/>
            </a:pPr>
            <a:r>
              <a:rPr lang="en-US" sz="4000" b="1" kern="0" spc="200" dirty="0">
                <a:solidFill>
                  <a:srgbClr val="FFFFFF"/>
                </a:solidFill>
                <a:latin typeface="Cambria" pitchFamily="34" charset="0"/>
                <a:ea typeface="Cambria" pitchFamily="34" charset="-122"/>
                <a:cs typeface="Cambria" pitchFamily="34" charset="-120"/>
              </a:rPr>
              <a:t>SEMANA 1</a:t>
            </a:r>
            <a:endParaRPr lang="en-US" sz="4000" dirty="0"/>
          </a:p>
        </p:txBody>
      </p:sp>
      <p:sp>
        <p:nvSpPr>
          <p:cNvPr id="6" name="Text 2"/>
          <p:cNvSpPr/>
          <p:nvPr/>
        </p:nvSpPr>
        <p:spPr>
          <a:xfrm>
            <a:off x="548640" y="2560320"/>
            <a:ext cx="7680960" cy="502920"/>
          </a:xfrm>
          <a:prstGeom prst="rect">
            <a:avLst/>
          </a:prstGeom>
          <a:noFill/>
          <a:ln/>
        </p:spPr>
        <p:txBody>
          <a:bodyPr wrap="square" lIns="0" tIns="0" rIns="0" bIns="0" rtlCol="0" anchor="ctr"/>
          <a:lstStyle/>
          <a:p>
            <a:pPr marL="0" indent="0">
              <a:buNone/>
            </a:pPr>
            <a:r>
              <a:rPr lang="en-US" sz="2200" dirty="0">
                <a:solidFill>
                  <a:srgbClr val="D7E3EE"/>
                </a:solidFill>
                <a:latin typeface="Cambria" pitchFamily="34" charset="0"/>
                <a:ea typeface="Cambria" pitchFamily="34" charset="-122"/>
                <a:cs typeface="Cambria" pitchFamily="34" charset="-120"/>
              </a:rPr>
              <a:t>Fundamentos avanzados de Python y buenas prácticas</a:t>
            </a:r>
            <a:endParaRPr lang="en-US" sz="2200" dirty="0"/>
          </a:p>
        </p:txBody>
      </p:sp>
      <p:sp>
        <p:nvSpPr>
          <p:cNvPr id="7" name="Shape 3"/>
          <p:cNvSpPr/>
          <p:nvPr/>
        </p:nvSpPr>
        <p:spPr>
          <a:xfrm>
            <a:off x="548640" y="329184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566160"/>
            <a:ext cx="7863840" cy="457200"/>
          </a:xfrm>
          <a:prstGeom prst="rect">
            <a:avLst/>
          </a:prstGeom>
          <a:noFill/>
          <a:ln/>
        </p:spPr>
        <p:txBody>
          <a:bodyPr wrap="square" lIns="0" tIns="0" rIns="0" bIns="0" rtlCol="0" anchor="ctr"/>
          <a:lstStyle/>
          <a:p>
            <a:pPr marL="0" indent="0">
              <a:buNone/>
            </a:pPr>
            <a:r>
              <a:rPr lang="en-US" sz="1600" dirty="0">
                <a:solidFill>
                  <a:srgbClr val="D7E3EE"/>
                </a:solidFill>
                <a:latin typeface="Calibri" pitchFamily="34" charset="0"/>
                <a:ea typeface="Calibri" pitchFamily="34" charset="-122"/>
                <a:cs typeface="Calibri" pitchFamily="34" charset="-120"/>
              </a:rPr>
              <a:t>Recorrido por los recursos del aula, en el orden en que están dispuestos</a:t>
            </a:r>
            <a:endParaRPr lang="en-US" sz="16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Fases 1 y 2 del proyecto transversal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Una semana, dos fases del proyecto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Ambas se llaman «Semana 1» en el aula. No dicen lo mismo.</a:t>
            </a:r>
            <a:endParaRPr lang="en-US" sz="1400" dirty="0"/>
          </a:p>
        </p:txBody>
      </p:sp>
      <p:sp>
        <p:nvSpPr>
          <p:cNvPr id="4" name="Shape 2"/>
          <p:cNvSpPr/>
          <p:nvPr/>
        </p:nvSpPr>
        <p:spPr>
          <a:xfrm>
            <a:off x="548640" y="1783080"/>
            <a:ext cx="5303520" cy="3200400"/>
          </a:xfrm>
          <a:prstGeom prst="roundRect">
            <a:avLst>
              <a:gd name="adj" fmla="val 2571"/>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965960"/>
            <a:ext cx="466344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Fase 1</a:t>
            </a:r>
            <a:endParaRPr lang="en-US" sz="2600" dirty="0"/>
          </a:p>
        </p:txBody>
      </p:sp>
      <p:sp>
        <p:nvSpPr>
          <p:cNvPr id="6" name="Text 4"/>
          <p:cNvSpPr/>
          <p:nvPr/>
        </p:nvSpPr>
        <p:spPr>
          <a:xfrm>
            <a:off x="868680" y="2450592"/>
            <a:ext cx="4663440" cy="548640"/>
          </a:xfrm>
          <a:prstGeom prst="rect">
            <a:avLst/>
          </a:prstGeom>
          <a:noFill/>
          <a:ln/>
        </p:spPr>
        <p:txBody>
          <a:bodyPr wrap="square" lIns="0" tIns="0" rIns="0" bIns="0" rtlCol="0" anchor="ctr"/>
          <a:lstStyle/>
          <a:p>
            <a:pPr marL="0" indent="0">
              <a:lnSpc>
                <a:spcPts val="1800"/>
              </a:lnSpc>
              <a:buNone/>
            </a:pPr>
            <a:r>
              <a:rPr lang="en-US" sz="1400" b="1" dirty="0">
                <a:solidFill>
                  <a:srgbClr val="06304A"/>
                </a:solidFill>
                <a:latin typeface="Calibri" pitchFamily="34" charset="0"/>
                <a:ea typeface="Calibri" pitchFamily="34" charset="-122"/>
                <a:cs typeface="Calibri" pitchFamily="34" charset="-120"/>
              </a:rPr>
              <a:t>Definición y orientación de la situación</a:t>
            </a:r>
            <a:endParaRPr lang="en-US" sz="1400" dirty="0"/>
          </a:p>
        </p:txBody>
      </p:sp>
      <p:sp>
        <p:nvSpPr>
          <p:cNvPr id="7" name="Text 5"/>
          <p:cNvSpPr/>
          <p:nvPr/>
        </p:nvSpPr>
        <p:spPr>
          <a:xfrm>
            <a:off x="868680" y="3017520"/>
            <a:ext cx="4663440" cy="137160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Definir la problemática y planificar el flujo de trabajo reproducible mediante la identificación del contexto, los objetivos iniciales y la organización preliminar del entorno colaborativo.</a:t>
            </a:r>
            <a:endParaRPr lang="en-US" sz="1250" dirty="0"/>
          </a:p>
        </p:txBody>
      </p:sp>
      <p:sp>
        <p:nvSpPr>
          <p:cNvPr id="8" name="Text 6"/>
          <p:cNvSpPr/>
          <p:nvPr/>
        </p:nvSpPr>
        <p:spPr>
          <a:xfrm>
            <a:off x="868680" y="4480560"/>
            <a:ext cx="4663440" cy="365760"/>
          </a:xfrm>
          <a:prstGeom prst="rect">
            <a:avLst/>
          </a:prstGeom>
          <a:noFill/>
          <a:ln/>
        </p:spPr>
        <p:txBody>
          <a:bodyPr wrap="square" lIns="0" tIns="0" rIns="0" bIns="0" rtlCol="0" anchor="ctr"/>
          <a:lstStyle/>
          <a:p>
            <a:pPr marL="0" indent="0">
              <a:buNone/>
            </a:pPr>
            <a:r>
              <a:rPr lang="en-US" sz="1200" b="1" dirty="0">
                <a:solidFill>
                  <a:srgbClr val="AC212E"/>
                </a:solidFill>
                <a:latin typeface="Calibri" pitchFamily="34" charset="0"/>
                <a:ea typeface="Calibri" pitchFamily="34" charset="-122"/>
                <a:cs typeface="Calibri" pitchFamily="34" charset="-120"/>
              </a:rPr>
              <a:t>30 min de lectura · 7 recursos</a:t>
            </a:r>
            <a:endParaRPr lang="en-US" sz="1200" dirty="0"/>
          </a:p>
        </p:txBody>
      </p:sp>
      <p:sp>
        <p:nvSpPr>
          <p:cNvPr id="9" name="Shape 7"/>
          <p:cNvSpPr/>
          <p:nvPr/>
        </p:nvSpPr>
        <p:spPr>
          <a:xfrm>
            <a:off x="6309360" y="1783080"/>
            <a:ext cx="530352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6629400" y="1965960"/>
            <a:ext cx="4663440" cy="457200"/>
          </a:xfrm>
          <a:prstGeom prst="rect">
            <a:avLst/>
          </a:prstGeom>
          <a:noFill/>
          <a:ln/>
        </p:spPr>
        <p:txBody>
          <a:bodyPr wrap="square" lIns="0" tIns="0" rIns="0" bIns="0" rtlCol="0" anchor="ctr"/>
          <a:lstStyle/>
          <a:p>
            <a:pPr marL="0" indent="0">
              <a:buNone/>
            </a:pPr>
            <a:r>
              <a:rPr lang="en-US" sz="2600" b="1" dirty="0">
                <a:solidFill>
                  <a:srgbClr val="06304A"/>
                </a:solidFill>
                <a:latin typeface="Cambria" pitchFamily="34" charset="0"/>
                <a:ea typeface="Cambria" pitchFamily="34" charset="-122"/>
                <a:cs typeface="Cambria" pitchFamily="34" charset="-120"/>
              </a:rPr>
              <a:t>Fase 2</a:t>
            </a:r>
            <a:endParaRPr lang="en-US" sz="2600" dirty="0"/>
          </a:p>
        </p:txBody>
      </p:sp>
      <p:sp>
        <p:nvSpPr>
          <p:cNvPr id="11" name="Text 9"/>
          <p:cNvSpPr/>
          <p:nvPr/>
        </p:nvSpPr>
        <p:spPr>
          <a:xfrm>
            <a:off x="6629400" y="2450592"/>
            <a:ext cx="4663440" cy="548640"/>
          </a:xfrm>
          <a:prstGeom prst="rect">
            <a:avLst/>
          </a:prstGeom>
          <a:noFill/>
          <a:ln/>
        </p:spPr>
        <p:txBody>
          <a:bodyPr wrap="square" lIns="0" tIns="0" rIns="0" bIns="0" rtlCol="0" anchor="ctr"/>
          <a:lstStyle/>
          <a:p>
            <a:pPr marL="0" indent="0">
              <a:lnSpc>
                <a:spcPts val="1800"/>
              </a:lnSpc>
              <a:buNone/>
            </a:pPr>
            <a:r>
              <a:rPr lang="en-US" sz="1400" b="1" dirty="0">
                <a:solidFill>
                  <a:srgbClr val="06304A"/>
                </a:solidFill>
                <a:latin typeface="Calibri" pitchFamily="34" charset="0"/>
                <a:ea typeface="Calibri" pitchFamily="34" charset="-122"/>
                <a:cs typeface="Calibri" pitchFamily="34" charset="-120"/>
              </a:rPr>
              <a:t>Búsqueda y recopilación de información</a:t>
            </a:r>
            <a:endParaRPr lang="en-US" sz="1400" dirty="0"/>
          </a:p>
        </p:txBody>
      </p:sp>
      <p:sp>
        <p:nvSpPr>
          <p:cNvPr id="12" name="Text 10"/>
          <p:cNvSpPr/>
          <p:nvPr/>
        </p:nvSpPr>
        <p:spPr>
          <a:xfrm>
            <a:off x="6629400" y="3017520"/>
            <a:ext cx="4663440" cy="137160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Implementar un pipeline inicial de obtención, limpieza y transformación de datos en un notebook ejecutable y documentado dentro de un repositorio GitHub.</a:t>
            </a:r>
            <a:endParaRPr lang="en-US" sz="1250" dirty="0"/>
          </a:p>
        </p:txBody>
      </p:sp>
      <p:sp>
        <p:nvSpPr>
          <p:cNvPr id="13" name="Text 11"/>
          <p:cNvSpPr/>
          <p:nvPr/>
        </p:nvSpPr>
        <p:spPr>
          <a:xfrm>
            <a:off x="6629400" y="4480560"/>
            <a:ext cx="4663440" cy="365760"/>
          </a:xfrm>
          <a:prstGeom prst="rect">
            <a:avLst/>
          </a:prstGeom>
          <a:noFill/>
          <a:ln/>
        </p:spPr>
        <p:txBody>
          <a:bodyPr wrap="square" lIns="0" tIns="0" rIns="0" bIns="0" rtlCol="0" anchor="ctr"/>
          <a:lstStyle/>
          <a:p>
            <a:pPr marL="0" indent="0">
              <a:buNone/>
            </a:pPr>
            <a:r>
              <a:rPr lang="en-US" sz="1200" b="1" dirty="0">
                <a:solidFill>
                  <a:srgbClr val="06304A"/>
                </a:solidFill>
                <a:latin typeface="Calibri" pitchFamily="34" charset="0"/>
                <a:ea typeface="Calibri" pitchFamily="34" charset="-122"/>
                <a:cs typeface="Calibri" pitchFamily="34" charset="-120"/>
              </a:rPr>
              <a:t>90 min de lectura · 10 recursos</a:t>
            </a:r>
            <a:endParaRPr lang="en-US" sz="1200" dirty="0"/>
          </a:p>
        </p:txBody>
      </p:sp>
      <p:sp>
        <p:nvSpPr>
          <p:cNvPr id="14" name="Shape 12"/>
          <p:cNvSpPr/>
          <p:nvPr/>
        </p:nvSpPr>
        <p:spPr>
          <a:xfrm>
            <a:off x="548640" y="5212080"/>
            <a:ext cx="11064240" cy="914400"/>
          </a:xfrm>
          <a:prstGeom prst="roundRect">
            <a:avLst>
              <a:gd name="adj" fmla="val 9000"/>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868680" y="5212080"/>
            <a:ext cx="10424160" cy="9144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La progresión es deliberada: la Fase 1 planifica el ecosistema técnico; la Fase 2 lo implementa sobre datos reales. Lo definido en la primera es lo que la segunda materializa en código.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Fase 1 · Qué aporta cada recurso</a:t>
            </a:r>
            <a:endParaRPr lang="en-US" sz="3000" dirty="0"/>
          </a:p>
        </p:txBody>
      </p:sp>
      <p:graphicFrame>
        <p:nvGraphicFramePr>
          <p:cNvPr id="5" name="Table 0"/>
          <p:cNvGraphicFramePr>
            <a:graphicFrameLocks noGrp="1"/>
          </p:cNvGraphicFramePr>
          <p:nvPr/>
        </p:nvGraphicFramePr>
        <p:xfrm>
          <a:off x="548640" y="1737360"/>
          <a:ext cx="11064240" cy="4023360"/>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Recurso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permite hacer</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Introducción Fase 1</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Comprender el enfoque ABP, el tipo de problemática y el rol de las decisiones metodológicas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Pensamiento algorítmico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Transformar la problemática en un flujo lógico de procesos, decisiones y etapas programables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Infografía del mapa conceptual</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Saber cómo representar problema, flujo, herramientas y sus relaciones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Ecosistema científico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Reconocer las herramientas clave de Python para preparar, modelar y visualizar</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Jupyter Notebooks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Entender cómo se integran análisis, código y documentación en un entorno reproducible</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Git y GitHub (interactivo)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Comprender el control de versiones y cómo se asegura la trazabilidad del trabajo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2920">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Git y GitHub (audiovisual)</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Ver ejemplos concretos de versionamiento y uso del repositorio como documentación</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Shape 2"/>
          <p:cNvSpPr/>
          <p:nvPr/>
        </p:nvSpPr>
        <p:spPr>
          <a:xfrm>
            <a:off x="548640" y="5669280"/>
            <a:ext cx="11064240" cy="640080"/>
          </a:xfrm>
          <a:prstGeom prst="roundRect">
            <a:avLst>
              <a:gd name="adj" fmla="val 12857"/>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5577840"/>
            <a:ext cx="10424160" cy="640080"/>
          </a:xfrm>
          <a:prstGeom prst="rect">
            <a:avLst/>
          </a:prstGeom>
          <a:noFill/>
          <a:ln/>
        </p:spPr>
        <p:txBody>
          <a:bodyPr wrap="square" lIns="0" tIns="0" rIns="0" bIns="0" rtlCol="0" anchor="ctr"/>
          <a:lstStyle/>
          <a:p>
            <a:pPr marL="0" indent="0">
              <a:buNone/>
            </a:pPr>
            <a:r>
              <a:rPr lang="en-US" sz="1250" dirty="0">
                <a:solidFill>
                  <a:srgbClr val="AC212E"/>
                </a:solidFill>
                <a:latin typeface="Calibri" pitchFamily="34" charset="0"/>
                <a:ea typeface="Calibri" pitchFamily="34" charset="-122"/>
                <a:cs typeface="Calibri" pitchFamily="34" charset="-120"/>
              </a:rPr>
              <a:t>El recurso de pensamiento algorítmico es el que evita el error más frecuente: un mapa con descripciones genéricas, desconectado del enfoque técnico que exige la fase.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Fase 2 · Objetivo y resultados de aprendizaje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foco cambia: de la planificación conceptual al trabajo técnico directo con datos.</a:t>
            </a:r>
            <a:endParaRPr lang="en-US" sz="1400" dirty="0"/>
          </a:p>
        </p:txBody>
      </p:sp>
      <p:sp>
        <p:nvSpPr>
          <p:cNvPr id="4" name="Shape 2"/>
          <p:cNvSpPr/>
          <p:nvPr/>
        </p:nvSpPr>
        <p:spPr>
          <a:xfrm>
            <a:off x="548640" y="1737360"/>
            <a:ext cx="11064240" cy="1051560"/>
          </a:xfrm>
          <a:prstGeom prst="roundRect">
            <a:avLst>
              <a:gd name="adj" fmla="val 7826"/>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737360"/>
            <a:ext cx="10424160" cy="1051560"/>
          </a:xfrm>
          <a:prstGeom prst="rect">
            <a:avLst/>
          </a:prstGeom>
          <a:noFill/>
          <a:ln/>
        </p:spPr>
        <p:txBody>
          <a:bodyPr wrap="square" lIns="0" tIns="0" rIns="0" bIns="0" rtlCol="0" anchor="ctr"/>
          <a:lstStyle/>
          <a:p>
            <a:pPr marL="0" indent="0">
              <a:lnSpc>
                <a:spcPts val="1900"/>
              </a:lnSpc>
              <a:buNone/>
            </a:pPr>
            <a:r>
              <a:rPr lang="en-US" sz="1400" dirty="0">
                <a:solidFill>
                  <a:srgbClr val="AC212E"/>
                </a:solidFill>
                <a:latin typeface="Calibri" pitchFamily="34" charset="0"/>
                <a:ea typeface="Calibri" pitchFamily="34" charset="-122"/>
                <a:cs typeface="Calibri" pitchFamily="34" charset="-120"/>
              </a:rPr>
              <a:t>Desarrollar la capacidad de obtener, limpiar y transformar conjuntos de datos reales con NumPy y Pandas, integrando estructuras de control y funciones para automatizar procesos, documentar decisiones técnicas y asegurar calidad, coherencia y reproducibilidad.</a:t>
            </a:r>
            <a:endParaRPr lang="en-US" sz="1400" dirty="0"/>
          </a:p>
        </p:txBody>
      </p:sp>
      <p:sp>
        <p:nvSpPr>
          <p:cNvPr id="6" name="Shape 4"/>
          <p:cNvSpPr/>
          <p:nvPr/>
        </p:nvSpPr>
        <p:spPr>
          <a:xfrm>
            <a:off x="548640" y="3017520"/>
            <a:ext cx="530352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7" name="Text 5"/>
          <p:cNvSpPr/>
          <p:nvPr/>
        </p:nvSpPr>
        <p:spPr>
          <a:xfrm>
            <a:off x="822960" y="3182112"/>
            <a:ext cx="4754880" cy="41148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RA4</a:t>
            </a:r>
            <a:endParaRPr lang="en-US" sz="2000" dirty="0"/>
          </a:p>
        </p:txBody>
      </p:sp>
      <p:sp>
        <p:nvSpPr>
          <p:cNvPr id="8" name="Text 6"/>
          <p:cNvSpPr/>
          <p:nvPr/>
        </p:nvSpPr>
        <p:spPr>
          <a:xfrm>
            <a:off x="822960" y="3611880"/>
            <a:ext cx="4754880" cy="777240"/>
          </a:xfrm>
          <a:prstGeom prst="rect">
            <a:avLst/>
          </a:prstGeom>
          <a:noFill/>
          <a:ln/>
        </p:spPr>
        <p:txBody>
          <a:bodyPr wrap="square" lIns="0" tIns="0" rIns="0" bIns="0" rtlCol="0" anchor="ctr"/>
          <a:lstStyle/>
          <a:p>
            <a:pPr marL="0" indent="0">
              <a:lnSpc>
                <a:spcPts val="1700"/>
              </a:lnSpc>
              <a:buNone/>
            </a:pPr>
            <a:r>
              <a:rPr lang="en-US" sz="1250" b="1" dirty="0">
                <a:solidFill>
                  <a:srgbClr val="06304A"/>
                </a:solidFill>
                <a:latin typeface="Calibri" pitchFamily="34" charset="0"/>
                <a:ea typeface="Calibri" pitchFamily="34" charset="-122"/>
                <a:cs typeface="Calibri" pitchFamily="34" charset="-120"/>
              </a:rPr>
              <a:t>Construir visualizaciones de datos efectivas con librerías del ecosistema científico de Python.</a:t>
            </a:r>
            <a:endParaRPr lang="en-US" sz="1250" dirty="0"/>
          </a:p>
        </p:txBody>
      </p:sp>
      <p:sp>
        <p:nvSpPr>
          <p:cNvPr id="9" name="Text 7"/>
          <p:cNvSpPr/>
          <p:nvPr/>
        </p:nvSpPr>
        <p:spPr>
          <a:xfrm>
            <a:off x="822960" y="4407408"/>
            <a:ext cx="4754880" cy="7772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ID 4.1 · Aplican técnicas de preprocesamiento y transformación con NumPy y Pandas, asegurando calidad y consistencia.</a:t>
            </a:r>
            <a:endParaRPr lang="en-US" sz="1200" dirty="0"/>
          </a:p>
        </p:txBody>
      </p:sp>
      <p:sp>
        <p:nvSpPr>
          <p:cNvPr id="10" name="Shape 8"/>
          <p:cNvSpPr/>
          <p:nvPr/>
        </p:nvSpPr>
        <p:spPr>
          <a:xfrm>
            <a:off x="6309360" y="3017520"/>
            <a:ext cx="530352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83680" y="3182112"/>
            <a:ext cx="4754880" cy="41148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RA2</a:t>
            </a:r>
            <a:endParaRPr lang="en-US" sz="2000" dirty="0"/>
          </a:p>
        </p:txBody>
      </p:sp>
      <p:sp>
        <p:nvSpPr>
          <p:cNvPr id="12" name="Text 10"/>
          <p:cNvSpPr/>
          <p:nvPr/>
        </p:nvSpPr>
        <p:spPr>
          <a:xfrm>
            <a:off x="6583680" y="3611880"/>
            <a:ext cx="4754880" cy="777240"/>
          </a:xfrm>
          <a:prstGeom prst="rect">
            <a:avLst/>
          </a:prstGeom>
          <a:noFill/>
          <a:ln/>
        </p:spPr>
        <p:txBody>
          <a:bodyPr wrap="square" lIns="0" tIns="0" rIns="0" bIns="0" rtlCol="0" anchor="ctr"/>
          <a:lstStyle/>
          <a:p>
            <a:pPr marL="0" indent="0">
              <a:lnSpc>
                <a:spcPts val="1700"/>
              </a:lnSpc>
              <a:buNone/>
            </a:pPr>
            <a:r>
              <a:rPr lang="en-US" sz="1250" b="1" dirty="0">
                <a:solidFill>
                  <a:srgbClr val="06304A"/>
                </a:solidFill>
                <a:latin typeface="Calibri" pitchFamily="34" charset="0"/>
                <a:ea typeface="Calibri" pitchFamily="34" charset="-122"/>
                <a:cs typeface="Calibri" pitchFamily="34" charset="-120"/>
              </a:rPr>
              <a:t>Diseñar soluciones algorítmicas eficientes con programación estructurada y recursiva en Python.</a:t>
            </a:r>
            <a:endParaRPr lang="en-US" sz="1250" dirty="0"/>
          </a:p>
        </p:txBody>
      </p:sp>
      <p:sp>
        <p:nvSpPr>
          <p:cNvPr id="13" name="Text 11"/>
          <p:cNvSpPr/>
          <p:nvPr/>
        </p:nvSpPr>
        <p:spPr>
          <a:xfrm>
            <a:off x="6583680" y="4407408"/>
            <a:ext cx="4754880" cy="77724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ID 2.1 · Codifican scripts o prototipos que integren datos preprocesados con estructuras de control y funciones.</a:t>
            </a:r>
            <a:endParaRPr lang="en-US" sz="1200" dirty="0"/>
          </a:p>
        </p:txBody>
      </p:sp>
      <p:sp>
        <p:nvSpPr>
          <p:cNvPr id="14" name="Text 12"/>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Ambos indicadores se evidencian en el mismo producto: el notebook ejecutable e integrado al repositorio.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Ruta sugerida para la semana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Respetando el orden en que los recursos están dispuestos en el aula.</a:t>
            </a:r>
            <a:endParaRPr lang="en-US" sz="1400" dirty="0"/>
          </a:p>
        </p:txBody>
      </p:sp>
      <p:sp>
        <p:nvSpPr>
          <p:cNvPr id="4" name="Shape 2"/>
          <p:cNvSpPr/>
          <p:nvPr/>
        </p:nvSpPr>
        <p:spPr>
          <a:xfrm>
            <a:off x="548640" y="1783080"/>
            <a:ext cx="11064240" cy="603504"/>
          </a:xfrm>
          <a:prstGeom prst="roundRect">
            <a:avLst>
              <a:gd name="adj" fmla="val 13636"/>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22960" y="1783080"/>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1</a:t>
            </a:r>
            <a:endParaRPr lang="en-US" sz="1350" dirty="0"/>
          </a:p>
        </p:txBody>
      </p:sp>
      <p:sp>
        <p:nvSpPr>
          <p:cNvPr id="6" name="Text 4"/>
          <p:cNvSpPr/>
          <p:nvPr/>
        </p:nvSpPr>
        <p:spPr>
          <a:xfrm>
            <a:off x="2194560" y="1783080"/>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1: introducción, pensamiento algorítmico e infografía del mapa.</a:t>
            </a:r>
            <a:endParaRPr lang="en-US" sz="1250" dirty="0"/>
          </a:p>
        </p:txBody>
      </p:sp>
      <p:sp>
        <p:nvSpPr>
          <p:cNvPr id="7" name="Text 5"/>
          <p:cNvSpPr/>
          <p:nvPr/>
        </p:nvSpPr>
        <p:spPr>
          <a:xfrm>
            <a:off x="9966960" y="1783080"/>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1 h</a:t>
            </a:r>
            <a:endParaRPr lang="en-US" sz="1250" dirty="0"/>
          </a:p>
        </p:txBody>
      </p:sp>
      <p:sp>
        <p:nvSpPr>
          <p:cNvPr id="8" name="Shape 6"/>
          <p:cNvSpPr/>
          <p:nvPr/>
        </p:nvSpPr>
        <p:spPr>
          <a:xfrm>
            <a:off x="548640" y="2496312"/>
            <a:ext cx="11064240" cy="603504"/>
          </a:xfrm>
          <a:prstGeom prst="roundRect">
            <a:avLst>
              <a:gd name="adj" fmla="val 13636"/>
            </a:avLst>
          </a:prstGeom>
          <a:solidFill>
            <a:srgbClr val="F6E7E9"/>
          </a:solidFill>
          <a:ln w="12700">
            <a:solidFill>
              <a:srgbClr val="F6E7E9"/>
            </a:solidFill>
            <a:prstDash val="solid"/>
          </a:ln>
        </p:spPr>
        <p:txBody>
          <a:bodyPr/>
          <a:lstStyle/>
          <a:p>
            <a:endParaRPr lang="es-CL"/>
          </a:p>
        </p:txBody>
      </p:sp>
      <p:sp>
        <p:nvSpPr>
          <p:cNvPr id="9" name="Text 7"/>
          <p:cNvSpPr/>
          <p:nvPr/>
        </p:nvSpPr>
        <p:spPr>
          <a:xfrm>
            <a:off x="822960" y="2496312"/>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2</a:t>
            </a:r>
            <a:endParaRPr lang="en-US" sz="1350" dirty="0"/>
          </a:p>
        </p:txBody>
      </p:sp>
      <p:sp>
        <p:nvSpPr>
          <p:cNvPr id="10" name="Text 8"/>
          <p:cNvSpPr/>
          <p:nvPr/>
        </p:nvSpPr>
        <p:spPr>
          <a:xfrm>
            <a:off x="2194560" y="2496312"/>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1: ecosistema científico, Jupyter y los dos recursos de Git y GitHub.</a:t>
            </a:r>
            <a:endParaRPr lang="en-US" sz="1250" dirty="0"/>
          </a:p>
        </p:txBody>
      </p:sp>
      <p:sp>
        <p:nvSpPr>
          <p:cNvPr id="11" name="Text 9"/>
          <p:cNvSpPr/>
          <p:nvPr/>
        </p:nvSpPr>
        <p:spPr>
          <a:xfrm>
            <a:off x="9966960" y="2496312"/>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1 h</a:t>
            </a:r>
            <a:endParaRPr lang="en-US" sz="1250" dirty="0"/>
          </a:p>
        </p:txBody>
      </p:sp>
      <p:sp>
        <p:nvSpPr>
          <p:cNvPr id="12" name="Shape 10"/>
          <p:cNvSpPr/>
          <p:nvPr/>
        </p:nvSpPr>
        <p:spPr>
          <a:xfrm>
            <a:off x="548640" y="3209544"/>
            <a:ext cx="11064240" cy="603504"/>
          </a:xfrm>
          <a:prstGeom prst="roundRect">
            <a:avLst>
              <a:gd name="adj" fmla="val 13636"/>
            </a:avLst>
          </a:prstGeom>
          <a:solidFill>
            <a:srgbClr val="F6E7E9"/>
          </a:solidFill>
          <a:ln w="12700">
            <a:solidFill>
              <a:srgbClr val="F6E7E9"/>
            </a:solidFill>
            <a:prstDash val="solid"/>
          </a:ln>
        </p:spPr>
        <p:txBody>
          <a:bodyPr/>
          <a:lstStyle/>
          <a:p>
            <a:endParaRPr lang="es-CL"/>
          </a:p>
        </p:txBody>
      </p:sp>
      <p:sp>
        <p:nvSpPr>
          <p:cNvPr id="13" name="Text 11"/>
          <p:cNvSpPr/>
          <p:nvPr/>
        </p:nvSpPr>
        <p:spPr>
          <a:xfrm>
            <a:off x="822960" y="3209544"/>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3</a:t>
            </a:r>
            <a:endParaRPr lang="en-US" sz="1350" dirty="0"/>
          </a:p>
        </p:txBody>
      </p:sp>
      <p:sp>
        <p:nvSpPr>
          <p:cNvPr id="14" name="Text 12"/>
          <p:cNvSpPr/>
          <p:nvPr/>
        </p:nvSpPr>
        <p:spPr>
          <a:xfrm>
            <a:off x="2194560" y="3209544"/>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Elaborar y entregar la Formativa 1. Revisar entornos reproducibles.</a:t>
            </a:r>
            <a:endParaRPr lang="en-US" sz="1250" dirty="0"/>
          </a:p>
        </p:txBody>
      </p:sp>
      <p:sp>
        <p:nvSpPr>
          <p:cNvPr id="15" name="Text 13"/>
          <p:cNvSpPr/>
          <p:nvPr/>
        </p:nvSpPr>
        <p:spPr>
          <a:xfrm>
            <a:off x="9966960" y="3209544"/>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1,5 h</a:t>
            </a:r>
            <a:endParaRPr lang="en-US" sz="1250" dirty="0"/>
          </a:p>
        </p:txBody>
      </p:sp>
      <p:sp>
        <p:nvSpPr>
          <p:cNvPr id="16" name="Shape 14"/>
          <p:cNvSpPr/>
          <p:nvPr/>
        </p:nvSpPr>
        <p:spPr>
          <a:xfrm>
            <a:off x="548640" y="3922776"/>
            <a:ext cx="11064240" cy="603504"/>
          </a:xfrm>
          <a:prstGeom prst="roundRect">
            <a:avLst>
              <a:gd name="adj" fmla="val 13636"/>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822960" y="3922776"/>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4</a:t>
            </a:r>
            <a:endParaRPr lang="en-US" sz="1350" dirty="0"/>
          </a:p>
        </p:txBody>
      </p:sp>
      <p:sp>
        <p:nvSpPr>
          <p:cNvPr id="18" name="Text 16"/>
          <p:cNvSpPr/>
          <p:nvPr/>
        </p:nvSpPr>
        <p:spPr>
          <a:xfrm>
            <a:off x="2194560" y="3922776"/>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2: introducción, programación estructurada, funciones y sus apuntes.</a:t>
            </a:r>
            <a:endParaRPr lang="en-US" sz="1250" dirty="0"/>
          </a:p>
        </p:txBody>
      </p:sp>
      <p:sp>
        <p:nvSpPr>
          <p:cNvPr id="19" name="Text 17"/>
          <p:cNvSpPr/>
          <p:nvPr/>
        </p:nvSpPr>
        <p:spPr>
          <a:xfrm>
            <a:off x="9966960" y="3922776"/>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2 h</a:t>
            </a:r>
            <a:endParaRPr lang="en-US" sz="1250" dirty="0"/>
          </a:p>
        </p:txBody>
      </p:sp>
      <p:sp>
        <p:nvSpPr>
          <p:cNvPr id="20" name="Shape 18"/>
          <p:cNvSpPr/>
          <p:nvPr/>
        </p:nvSpPr>
        <p:spPr>
          <a:xfrm>
            <a:off x="548640" y="4636008"/>
            <a:ext cx="11064240" cy="603504"/>
          </a:xfrm>
          <a:prstGeom prst="roundRect">
            <a:avLst>
              <a:gd name="adj" fmla="val 13636"/>
            </a:avLst>
          </a:prstGeom>
          <a:solidFill>
            <a:srgbClr val="F4F7FA"/>
          </a:solidFill>
          <a:ln w="12700">
            <a:solidFill>
              <a:srgbClr val="F4F7FA"/>
            </a:solidFill>
            <a:prstDash val="solid"/>
          </a:ln>
        </p:spPr>
        <p:txBody>
          <a:bodyPr/>
          <a:lstStyle/>
          <a:p>
            <a:endParaRPr lang="es-CL"/>
          </a:p>
        </p:txBody>
      </p:sp>
      <p:sp>
        <p:nvSpPr>
          <p:cNvPr id="21" name="Text 19"/>
          <p:cNvSpPr/>
          <p:nvPr/>
        </p:nvSpPr>
        <p:spPr>
          <a:xfrm>
            <a:off x="822960" y="4636008"/>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 5</a:t>
            </a:r>
            <a:endParaRPr lang="en-US" sz="1350" dirty="0"/>
          </a:p>
        </p:txBody>
      </p:sp>
      <p:sp>
        <p:nvSpPr>
          <p:cNvPr id="22" name="Text 20"/>
          <p:cNvSpPr/>
          <p:nvPr/>
        </p:nvSpPr>
        <p:spPr>
          <a:xfrm>
            <a:off x="2194560" y="4636008"/>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Fase 2: apuntes de NumPy y Pandas, más los recursos de preprocesamiento.</a:t>
            </a:r>
            <a:endParaRPr lang="en-US" sz="1250" dirty="0"/>
          </a:p>
        </p:txBody>
      </p:sp>
      <p:sp>
        <p:nvSpPr>
          <p:cNvPr id="23" name="Text 21"/>
          <p:cNvSpPr/>
          <p:nvPr/>
        </p:nvSpPr>
        <p:spPr>
          <a:xfrm>
            <a:off x="9966960" y="4636008"/>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2 h</a:t>
            </a:r>
            <a:endParaRPr lang="en-US" sz="1250" dirty="0"/>
          </a:p>
        </p:txBody>
      </p:sp>
      <p:sp>
        <p:nvSpPr>
          <p:cNvPr id="24" name="Shape 22"/>
          <p:cNvSpPr/>
          <p:nvPr/>
        </p:nvSpPr>
        <p:spPr>
          <a:xfrm>
            <a:off x="548640" y="5349240"/>
            <a:ext cx="11064240" cy="603504"/>
          </a:xfrm>
          <a:prstGeom prst="roundRect">
            <a:avLst>
              <a:gd name="adj" fmla="val 13636"/>
            </a:avLst>
          </a:prstGeom>
          <a:solidFill>
            <a:srgbClr val="F4F7FA"/>
          </a:solidFill>
          <a:ln w="12700">
            <a:solidFill>
              <a:srgbClr val="F4F7FA"/>
            </a:solidFill>
            <a:prstDash val="solid"/>
          </a:ln>
        </p:spPr>
        <p:txBody>
          <a:bodyPr/>
          <a:lstStyle/>
          <a:p>
            <a:endParaRPr lang="es-CL"/>
          </a:p>
        </p:txBody>
      </p:sp>
      <p:sp>
        <p:nvSpPr>
          <p:cNvPr id="25" name="Text 23"/>
          <p:cNvSpPr/>
          <p:nvPr/>
        </p:nvSpPr>
        <p:spPr>
          <a:xfrm>
            <a:off x="822960" y="5349240"/>
            <a:ext cx="1280160" cy="603504"/>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Días 6 y 7</a:t>
            </a:r>
            <a:endParaRPr lang="en-US" sz="1350" dirty="0"/>
          </a:p>
        </p:txBody>
      </p:sp>
      <p:sp>
        <p:nvSpPr>
          <p:cNvPr id="26" name="Text 24"/>
          <p:cNvSpPr/>
          <p:nvPr/>
        </p:nvSpPr>
        <p:spPr>
          <a:xfrm>
            <a:off x="2194560" y="5349240"/>
            <a:ext cx="7772400" cy="603504"/>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Implementar el pipeline, montar el repositorio y redactar el informe.</a:t>
            </a:r>
            <a:endParaRPr lang="en-US" sz="1250" dirty="0"/>
          </a:p>
        </p:txBody>
      </p:sp>
      <p:sp>
        <p:nvSpPr>
          <p:cNvPr id="27" name="Text 25"/>
          <p:cNvSpPr/>
          <p:nvPr/>
        </p:nvSpPr>
        <p:spPr>
          <a:xfrm>
            <a:off x="9966960" y="5349240"/>
            <a:ext cx="1371600" cy="603504"/>
          </a:xfrm>
          <a:prstGeom prst="rect">
            <a:avLst/>
          </a:prstGeom>
          <a:noFill/>
          <a:ln/>
        </p:spPr>
        <p:txBody>
          <a:bodyPr wrap="square" lIns="0" tIns="0" rIns="0" bIns="0" rtlCol="0" anchor="ctr"/>
          <a:lstStyle/>
          <a:p>
            <a:pPr marL="0" indent="0" algn="r">
              <a:buNone/>
            </a:pPr>
            <a:r>
              <a:rPr lang="en-US" sz="1250" dirty="0">
                <a:solidFill>
                  <a:srgbClr val="5A6B7B"/>
                </a:solidFill>
                <a:latin typeface="Calibri" pitchFamily="34" charset="0"/>
                <a:ea typeface="Calibri" pitchFamily="34" charset="-122"/>
                <a:cs typeface="Calibri" pitchFamily="34" charset="-120"/>
              </a:rPr>
              <a:t>4 h</a:t>
            </a:r>
            <a:endParaRPr lang="en-US" sz="125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Estimación referencial de unas 11 horas. El programa considera 36 horas personales para las tres semanas del curso.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357721" y="338328"/>
            <a:ext cx="4754880" cy="886968"/>
          </a:xfrm>
          <a:prstGeom prst="rect">
            <a:avLst/>
          </a:prstGeom>
        </p:spPr>
      </p:pic>
      <p:sp>
        <p:nvSpPr>
          <p:cNvPr id="5" name="Text 1"/>
          <p:cNvSpPr/>
          <p:nvPr/>
        </p:nvSpPr>
        <p:spPr>
          <a:xfrm>
            <a:off x="548640" y="1920240"/>
            <a:ext cx="7680960" cy="594360"/>
          </a:xfrm>
          <a:prstGeom prst="rect">
            <a:avLst/>
          </a:prstGeom>
          <a:noFill/>
          <a:ln/>
        </p:spPr>
        <p:txBody>
          <a:bodyPr wrap="square" lIns="0" tIns="0" rIns="0" bIns="0" rtlCol="0" anchor="ctr"/>
          <a:lstStyle/>
          <a:p>
            <a:pPr marL="0" indent="0">
              <a:buNone/>
            </a:pPr>
            <a:r>
              <a:rPr lang="en-US" sz="3600" b="1" kern="0" spc="200" dirty="0">
                <a:solidFill>
                  <a:srgbClr val="FFFFFF"/>
                </a:solidFill>
                <a:latin typeface="Cambria" pitchFamily="34" charset="0"/>
                <a:ea typeface="Cambria" pitchFamily="34" charset="-122"/>
                <a:cs typeface="Cambria" pitchFamily="34" charset="-120"/>
              </a:rPr>
              <a:t>CONCEPTOS TEÓRICOS</a:t>
            </a:r>
            <a:endParaRPr lang="en-US" sz="3600" dirty="0"/>
          </a:p>
        </p:txBody>
      </p:sp>
      <p:sp>
        <p:nvSpPr>
          <p:cNvPr id="6" name="Text 2"/>
          <p:cNvSpPr/>
          <p:nvPr/>
        </p:nvSpPr>
        <p:spPr>
          <a:xfrm>
            <a:off x="548640" y="2651760"/>
            <a:ext cx="7680960" cy="502920"/>
          </a:xfrm>
          <a:prstGeom prst="rect">
            <a:avLst/>
          </a:prstGeom>
          <a:noFill/>
          <a:ln/>
        </p:spPr>
        <p:txBody>
          <a:bodyPr wrap="square" lIns="0" tIns="0" rIns="0" bIns="0" rtlCol="0" anchor="ctr"/>
          <a:lstStyle/>
          <a:p>
            <a:pPr marL="0" indent="0">
              <a:buNone/>
            </a:pPr>
            <a:r>
              <a:rPr lang="en-US" sz="2400" dirty="0">
                <a:solidFill>
                  <a:srgbClr val="D7E3EE"/>
                </a:solidFill>
                <a:latin typeface="Cambria" pitchFamily="34" charset="0"/>
                <a:ea typeface="Cambria" pitchFamily="34" charset="-122"/>
                <a:cs typeface="Cambria" pitchFamily="34" charset="-120"/>
              </a:rPr>
              <a:t>Fase 1 · Definición y orientación de la situación</a:t>
            </a:r>
            <a:endParaRPr lang="en-US" sz="2400" dirty="0"/>
          </a:p>
        </p:txBody>
      </p:sp>
      <p:sp>
        <p:nvSpPr>
          <p:cNvPr id="7" name="Shape 3"/>
          <p:cNvSpPr/>
          <p:nvPr/>
        </p:nvSpPr>
        <p:spPr>
          <a:xfrm>
            <a:off x="548640" y="338328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5760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Qué hay que comprender antes de construir el mapa conceptual</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Unidad temática 1: fundamentos de Python y buenas prácticas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Seis conceptos sostienen toda la Fase 1</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uno responde una pregunta distinta. Juntos explican por qué el proyecto se organiza así.</a:t>
            </a:r>
            <a:endParaRPr lang="en-US" sz="1400" dirty="0"/>
          </a:p>
        </p:txBody>
      </p:sp>
      <p:sp>
        <p:nvSpPr>
          <p:cNvPr id="4" name="Shape 2"/>
          <p:cNvSpPr/>
          <p:nvPr/>
        </p:nvSpPr>
        <p:spPr>
          <a:xfrm>
            <a:off x="548640" y="17830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39112"/>
            <a:ext cx="457200" cy="457200"/>
          </a:xfrm>
          <a:prstGeom prst="ellipse">
            <a:avLst/>
          </a:prstGeom>
          <a:solidFill>
            <a:srgbClr val="AC212E"/>
          </a:solidFill>
          <a:ln/>
        </p:spPr>
        <p:txBody>
          <a:bodyPr/>
          <a:lstStyle/>
          <a:p>
            <a:endParaRPr lang="es-CL"/>
          </a:p>
        </p:txBody>
      </p:sp>
      <p:sp>
        <p:nvSpPr>
          <p:cNvPr id="6" name="Text 4"/>
          <p:cNvSpPr/>
          <p:nvPr/>
        </p:nvSpPr>
        <p:spPr>
          <a:xfrm>
            <a:off x="804672" y="2039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04672" y="26060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Contexto problematizador</a:t>
            </a:r>
            <a:endParaRPr lang="en-US" sz="1500" dirty="0"/>
          </a:p>
        </p:txBody>
      </p:sp>
      <p:sp>
        <p:nvSpPr>
          <p:cNvPr id="8" name="Text 6"/>
          <p:cNvSpPr/>
          <p:nvPr/>
        </p:nvSpPr>
        <p:spPr>
          <a:xfrm>
            <a:off x="804672" y="30632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¿De qué situación parte el proyecto?</a:t>
            </a:r>
            <a:endParaRPr lang="en-US" sz="1250" dirty="0"/>
          </a:p>
        </p:txBody>
      </p:sp>
      <p:sp>
        <p:nvSpPr>
          <p:cNvPr id="9" name="Shape 7"/>
          <p:cNvSpPr/>
          <p:nvPr/>
        </p:nvSpPr>
        <p:spPr>
          <a:xfrm>
            <a:off x="4325112" y="17830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581144" y="2039112"/>
            <a:ext cx="457200" cy="457200"/>
          </a:xfrm>
          <a:prstGeom prst="ellipse">
            <a:avLst/>
          </a:prstGeom>
          <a:solidFill>
            <a:srgbClr val="AC212E"/>
          </a:solidFill>
          <a:ln/>
        </p:spPr>
        <p:txBody>
          <a:bodyPr/>
          <a:lstStyle/>
          <a:p>
            <a:endParaRPr lang="es-CL"/>
          </a:p>
        </p:txBody>
      </p:sp>
      <p:sp>
        <p:nvSpPr>
          <p:cNvPr id="11" name="Text 9"/>
          <p:cNvSpPr/>
          <p:nvPr/>
        </p:nvSpPr>
        <p:spPr>
          <a:xfrm>
            <a:off x="4581144" y="2039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81144" y="26060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Ciclo de vida del dato</a:t>
            </a:r>
            <a:endParaRPr lang="en-US" sz="1500" dirty="0"/>
          </a:p>
        </p:txBody>
      </p:sp>
      <p:sp>
        <p:nvSpPr>
          <p:cNvPr id="13" name="Text 11"/>
          <p:cNvSpPr/>
          <p:nvPr/>
        </p:nvSpPr>
        <p:spPr>
          <a:xfrm>
            <a:off x="4581144" y="30632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¿Por qué etapas pasa un análisis?</a:t>
            </a:r>
            <a:endParaRPr lang="en-US" sz="1250" dirty="0"/>
          </a:p>
        </p:txBody>
      </p:sp>
      <p:sp>
        <p:nvSpPr>
          <p:cNvPr id="14" name="Shape 12"/>
          <p:cNvSpPr/>
          <p:nvPr/>
        </p:nvSpPr>
        <p:spPr>
          <a:xfrm>
            <a:off x="8101584" y="17830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357616" y="2039112"/>
            <a:ext cx="457200" cy="457200"/>
          </a:xfrm>
          <a:prstGeom prst="ellipse">
            <a:avLst/>
          </a:prstGeom>
          <a:solidFill>
            <a:srgbClr val="AC212E"/>
          </a:solidFill>
          <a:ln/>
        </p:spPr>
        <p:txBody>
          <a:bodyPr/>
          <a:lstStyle/>
          <a:p>
            <a:endParaRPr lang="es-CL"/>
          </a:p>
        </p:txBody>
      </p:sp>
      <p:sp>
        <p:nvSpPr>
          <p:cNvPr id="16" name="Text 14"/>
          <p:cNvSpPr/>
          <p:nvPr/>
        </p:nvSpPr>
        <p:spPr>
          <a:xfrm>
            <a:off x="8357616" y="2039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357616" y="26060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Reproducibilidad</a:t>
            </a:r>
            <a:endParaRPr lang="en-US" sz="1500" dirty="0"/>
          </a:p>
        </p:txBody>
      </p:sp>
      <p:sp>
        <p:nvSpPr>
          <p:cNvPr id="18" name="Text 16"/>
          <p:cNvSpPr/>
          <p:nvPr/>
        </p:nvSpPr>
        <p:spPr>
          <a:xfrm>
            <a:off x="8357616" y="30632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¿Puede otra persona obtener el mismo resultado?</a:t>
            </a:r>
            <a:endParaRPr lang="en-US" sz="1250" dirty="0"/>
          </a:p>
        </p:txBody>
      </p:sp>
      <p:sp>
        <p:nvSpPr>
          <p:cNvPr id="19" name="Shape 17"/>
          <p:cNvSpPr/>
          <p:nvPr/>
        </p:nvSpPr>
        <p:spPr>
          <a:xfrm>
            <a:off x="548640" y="38404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804672" y="4096512"/>
            <a:ext cx="457200" cy="457200"/>
          </a:xfrm>
          <a:prstGeom prst="ellipse">
            <a:avLst/>
          </a:prstGeom>
          <a:solidFill>
            <a:srgbClr val="AC212E"/>
          </a:solidFill>
          <a:ln/>
        </p:spPr>
        <p:txBody>
          <a:bodyPr/>
          <a:lstStyle/>
          <a:p>
            <a:endParaRPr lang="es-CL"/>
          </a:p>
        </p:txBody>
      </p:sp>
      <p:sp>
        <p:nvSpPr>
          <p:cNvPr id="21" name="Text 19"/>
          <p:cNvSpPr/>
          <p:nvPr/>
        </p:nvSpPr>
        <p:spPr>
          <a:xfrm>
            <a:off x="804672" y="40965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804672" y="46634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Trazabilidad</a:t>
            </a:r>
            <a:endParaRPr lang="en-US" sz="1500" dirty="0"/>
          </a:p>
        </p:txBody>
      </p:sp>
      <p:sp>
        <p:nvSpPr>
          <p:cNvPr id="23" name="Text 21"/>
          <p:cNvSpPr/>
          <p:nvPr/>
        </p:nvSpPr>
        <p:spPr>
          <a:xfrm>
            <a:off x="804672" y="51206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¿Se puede reconstruir cómo se llegó aquí?</a:t>
            </a:r>
            <a:endParaRPr lang="en-US" sz="1250" dirty="0"/>
          </a:p>
        </p:txBody>
      </p:sp>
      <p:sp>
        <p:nvSpPr>
          <p:cNvPr id="24" name="Shape 22"/>
          <p:cNvSpPr/>
          <p:nvPr/>
        </p:nvSpPr>
        <p:spPr>
          <a:xfrm>
            <a:off x="4325112" y="38404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4581144" y="4096512"/>
            <a:ext cx="457200" cy="457200"/>
          </a:xfrm>
          <a:prstGeom prst="ellipse">
            <a:avLst/>
          </a:prstGeom>
          <a:solidFill>
            <a:srgbClr val="AC212E"/>
          </a:solidFill>
          <a:ln/>
        </p:spPr>
        <p:txBody>
          <a:bodyPr/>
          <a:lstStyle/>
          <a:p>
            <a:endParaRPr lang="es-CL"/>
          </a:p>
        </p:txBody>
      </p:sp>
      <p:sp>
        <p:nvSpPr>
          <p:cNvPr id="26" name="Text 24"/>
          <p:cNvSpPr/>
          <p:nvPr/>
        </p:nvSpPr>
        <p:spPr>
          <a:xfrm>
            <a:off x="4581144" y="40965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4581144" y="46634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Documentación científica</a:t>
            </a:r>
            <a:endParaRPr lang="en-US" sz="1500" dirty="0"/>
          </a:p>
        </p:txBody>
      </p:sp>
      <p:sp>
        <p:nvSpPr>
          <p:cNvPr id="28" name="Text 26"/>
          <p:cNvSpPr/>
          <p:nvPr/>
        </p:nvSpPr>
        <p:spPr>
          <a:xfrm>
            <a:off x="4581144" y="51206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¿Dónde queda registrado el razonamiento?</a:t>
            </a:r>
            <a:endParaRPr lang="en-US" sz="1250" dirty="0"/>
          </a:p>
        </p:txBody>
      </p:sp>
      <p:sp>
        <p:nvSpPr>
          <p:cNvPr id="29" name="Shape 27"/>
          <p:cNvSpPr/>
          <p:nvPr/>
        </p:nvSpPr>
        <p:spPr>
          <a:xfrm>
            <a:off x="8101584" y="3840480"/>
            <a:ext cx="3520440" cy="1828800"/>
          </a:xfrm>
          <a:prstGeom prst="roundRect">
            <a:avLst>
              <a:gd name="adj" fmla="val 4500"/>
            </a:avLst>
          </a:prstGeom>
          <a:solidFill>
            <a:srgbClr val="F4F7FA"/>
          </a:solidFill>
          <a:ln w="12700">
            <a:solidFill>
              <a:srgbClr val="F4F7FA"/>
            </a:solidFill>
            <a:prstDash val="solid"/>
          </a:ln>
        </p:spPr>
        <p:txBody>
          <a:bodyPr/>
          <a:lstStyle/>
          <a:p>
            <a:endParaRPr lang="es-CL"/>
          </a:p>
        </p:txBody>
      </p:sp>
      <p:sp>
        <p:nvSpPr>
          <p:cNvPr id="30" name="Shape 28"/>
          <p:cNvSpPr/>
          <p:nvPr/>
        </p:nvSpPr>
        <p:spPr>
          <a:xfrm>
            <a:off x="8357616" y="4096512"/>
            <a:ext cx="457200" cy="457200"/>
          </a:xfrm>
          <a:prstGeom prst="ellipse">
            <a:avLst/>
          </a:prstGeom>
          <a:solidFill>
            <a:srgbClr val="AC212E"/>
          </a:solidFill>
          <a:ln/>
        </p:spPr>
        <p:txBody>
          <a:bodyPr/>
          <a:lstStyle/>
          <a:p>
            <a:endParaRPr lang="es-CL"/>
          </a:p>
        </p:txBody>
      </p:sp>
      <p:sp>
        <p:nvSpPr>
          <p:cNvPr id="31" name="Text 29"/>
          <p:cNvSpPr/>
          <p:nvPr/>
        </p:nvSpPr>
        <p:spPr>
          <a:xfrm>
            <a:off x="8357616" y="40965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357616" y="4663440"/>
            <a:ext cx="301752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Mapa conceptual</a:t>
            </a:r>
            <a:endParaRPr lang="en-US" sz="1500" dirty="0"/>
          </a:p>
        </p:txBody>
      </p:sp>
      <p:sp>
        <p:nvSpPr>
          <p:cNvPr id="33" name="Text 31"/>
          <p:cNvSpPr/>
          <p:nvPr/>
        </p:nvSpPr>
        <p:spPr>
          <a:xfrm>
            <a:off x="8357616" y="5120640"/>
            <a:ext cx="3017520" cy="457200"/>
          </a:xfrm>
          <a:prstGeom prst="rect">
            <a:avLst/>
          </a:prstGeom>
          <a:noFill/>
          <a:ln/>
        </p:spPr>
        <p:txBody>
          <a:bodyPr wrap="square" lIns="0" tIns="0" rIns="0" bIns="0" rtlCol="0" anchor="ctr"/>
          <a:lstStyle/>
          <a:p>
            <a:pPr marL="0" indent="0">
              <a:lnSpc>
                <a:spcPts val="1600"/>
              </a:lnSpc>
              <a:buNone/>
            </a:pPr>
            <a:r>
              <a:rPr lang="en-US" sz="1250" i="1" dirty="0">
                <a:solidFill>
                  <a:srgbClr val="AC212E"/>
                </a:solidFill>
                <a:latin typeface="Calibri" pitchFamily="34" charset="0"/>
                <a:ea typeface="Calibri" pitchFamily="34" charset="-122"/>
                <a:cs typeface="Calibri" pitchFamily="34" charset="-120"/>
              </a:rPr>
              <a:t>¿Cómo se representa todo lo anterior?</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significa «definición y orientación de la situación»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 Fase 1 del aprendizaje basado en proyecto tiene una función precisa: acotar antes de resolver.</a:t>
            </a:r>
            <a:endParaRPr lang="en-US" sz="1400" dirty="0"/>
          </a:p>
        </p:txBody>
      </p:sp>
      <p:sp>
        <p:nvSpPr>
          <p:cNvPr id="4" name="Shape 2"/>
          <p:cNvSpPr/>
          <p:nvPr/>
        </p:nvSpPr>
        <p:spPr>
          <a:xfrm>
            <a:off x="548640" y="1783080"/>
            <a:ext cx="5394960" cy="3017520"/>
          </a:xfrm>
          <a:prstGeom prst="roundRect">
            <a:avLst>
              <a:gd name="adj" fmla="val 2727"/>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6596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En un proyecto, definir es decidir</a:t>
            </a:r>
            <a:endParaRPr lang="en-US" sz="1500" dirty="0"/>
          </a:p>
        </p:txBody>
      </p:sp>
      <p:sp>
        <p:nvSpPr>
          <p:cNvPr id="6" name="Shape 4"/>
          <p:cNvSpPr/>
          <p:nvPr/>
        </p:nvSpPr>
        <p:spPr>
          <a:xfrm>
            <a:off x="868680" y="2505456"/>
            <a:ext cx="201168" cy="201168"/>
          </a:xfrm>
          <a:prstGeom prst="ellipse">
            <a:avLst/>
          </a:prstGeom>
          <a:solidFill>
            <a:srgbClr val="AC212E"/>
          </a:solidFill>
          <a:ln/>
        </p:spPr>
        <p:txBody>
          <a:bodyPr/>
          <a:lstStyle/>
          <a:p>
            <a:endParaRPr lang="es-CL"/>
          </a:p>
        </p:txBody>
      </p:sp>
      <p:sp>
        <p:nvSpPr>
          <p:cNvPr id="7" name="Text 5"/>
          <p:cNvSpPr/>
          <p:nvPr/>
        </p:nvSpPr>
        <p:spPr>
          <a:xfrm>
            <a:off x="1207008" y="2423160"/>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Qué problema se aborda y cuál queda fuera.</a:t>
            </a:r>
            <a:endParaRPr lang="en-US" sz="1300" dirty="0"/>
          </a:p>
        </p:txBody>
      </p:sp>
      <p:sp>
        <p:nvSpPr>
          <p:cNvPr id="8" name="Shape 6"/>
          <p:cNvSpPr/>
          <p:nvPr/>
        </p:nvSpPr>
        <p:spPr>
          <a:xfrm>
            <a:off x="868680" y="3072384"/>
            <a:ext cx="201168" cy="201168"/>
          </a:xfrm>
          <a:prstGeom prst="ellipse">
            <a:avLst/>
          </a:prstGeom>
          <a:solidFill>
            <a:srgbClr val="AC212E"/>
          </a:solidFill>
          <a:ln/>
        </p:spPr>
        <p:txBody>
          <a:bodyPr/>
          <a:lstStyle/>
          <a:p>
            <a:endParaRPr lang="es-CL"/>
          </a:p>
        </p:txBody>
      </p:sp>
      <p:sp>
        <p:nvSpPr>
          <p:cNvPr id="9" name="Text 7"/>
          <p:cNvSpPr/>
          <p:nvPr/>
        </p:nvSpPr>
        <p:spPr>
          <a:xfrm>
            <a:off x="1207008" y="2990088"/>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Con qué datos se va a trabajar y cuáles no están disponibles.</a:t>
            </a:r>
            <a:endParaRPr lang="en-US" sz="1300" dirty="0"/>
          </a:p>
        </p:txBody>
      </p:sp>
      <p:sp>
        <p:nvSpPr>
          <p:cNvPr id="10" name="Shape 8"/>
          <p:cNvSpPr/>
          <p:nvPr/>
        </p:nvSpPr>
        <p:spPr>
          <a:xfrm>
            <a:off x="868680" y="3639312"/>
            <a:ext cx="201168" cy="201168"/>
          </a:xfrm>
          <a:prstGeom prst="ellipse">
            <a:avLst/>
          </a:prstGeom>
          <a:solidFill>
            <a:srgbClr val="AC212E"/>
          </a:solidFill>
          <a:ln/>
        </p:spPr>
        <p:txBody>
          <a:bodyPr/>
          <a:lstStyle/>
          <a:p>
            <a:endParaRPr lang="es-CL"/>
          </a:p>
        </p:txBody>
      </p:sp>
      <p:sp>
        <p:nvSpPr>
          <p:cNvPr id="11" name="Text 9"/>
          <p:cNvSpPr/>
          <p:nvPr/>
        </p:nvSpPr>
        <p:spPr>
          <a:xfrm>
            <a:off x="1207008" y="3557016"/>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Qué se considerará una respuesta satisfactoria.</a:t>
            </a:r>
            <a:endParaRPr lang="en-US" sz="1300" dirty="0"/>
          </a:p>
        </p:txBody>
      </p:sp>
      <p:sp>
        <p:nvSpPr>
          <p:cNvPr id="12" name="Shape 10"/>
          <p:cNvSpPr/>
          <p:nvPr/>
        </p:nvSpPr>
        <p:spPr>
          <a:xfrm>
            <a:off x="868680" y="4206240"/>
            <a:ext cx="201168" cy="201168"/>
          </a:xfrm>
          <a:prstGeom prst="ellipse">
            <a:avLst/>
          </a:prstGeom>
          <a:solidFill>
            <a:srgbClr val="AC212E"/>
          </a:solidFill>
          <a:ln/>
        </p:spPr>
        <p:txBody>
          <a:bodyPr/>
          <a:lstStyle/>
          <a:p>
            <a:endParaRPr lang="es-CL"/>
          </a:p>
        </p:txBody>
      </p:sp>
      <p:sp>
        <p:nvSpPr>
          <p:cNvPr id="13" name="Text 11"/>
          <p:cNvSpPr/>
          <p:nvPr/>
        </p:nvSpPr>
        <p:spPr>
          <a:xfrm>
            <a:off x="1207008" y="4123944"/>
            <a:ext cx="4480560" cy="41148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Con qué medios técnicos se va a producir esa respuesta.</a:t>
            </a:r>
            <a:endParaRPr lang="en-US" sz="1300" dirty="0"/>
          </a:p>
        </p:txBody>
      </p:sp>
      <p:sp>
        <p:nvSpPr>
          <p:cNvPr id="14" name="Shape 12"/>
          <p:cNvSpPr/>
          <p:nvPr/>
        </p:nvSpPr>
        <p:spPr>
          <a:xfrm>
            <a:off x="6217920" y="1783080"/>
            <a:ext cx="5394960" cy="3017520"/>
          </a:xfrm>
          <a:prstGeom prst="roundRect">
            <a:avLst>
              <a:gd name="adj" fmla="val 2727"/>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6537960" y="196596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Por qué se define antes de ejecutar</a:t>
            </a:r>
            <a:endParaRPr lang="en-US" sz="1500" dirty="0"/>
          </a:p>
        </p:txBody>
      </p:sp>
      <p:sp>
        <p:nvSpPr>
          <p:cNvPr id="16" name="Text 14"/>
          <p:cNvSpPr/>
          <p:nvPr/>
        </p:nvSpPr>
        <p:spPr>
          <a:xfrm>
            <a:off x="6537960" y="2395728"/>
            <a:ext cx="4754880" cy="219456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En ciencia de datos, el costo de un error crece con la etapa en que se descubre.</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Un problema mal delimitado en la Fase 1 no se manifiesta hasta que hay código escrito, datos transformados y resultados calculados sobre una pregunta equivocada.</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Rehacer entonces cuesta el trabajo de tres fases, no el de una.</a:t>
            </a:r>
            <a:endParaRPr lang="en-US" sz="1300" dirty="0"/>
          </a:p>
        </p:txBody>
      </p:sp>
      <p:sp>
        <p:nvSpPr>
          <p:cNvPr id="17" name="Shape 15"/>
          <p:cNvSpPr/>
          <p:nvPr/>
        </p:nvSpPr>
        <p:spPr>
          <a:xfrm>
            <a:off x="548640" y="5029200"/>
            <a:ext cx="110642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5166360"/>
            <a:ext cx="10424160" cy="640080"/>
          </a:xfrm>
          <a:prstGeom prst="rect">
            <a:avLst/>
          </a:prstGeom>
          <a:noFill/>
          <a:ln/>
        </p:spPr>
        <p:txBody>
          <a:bodyPr wrap="square" lIns="0" tIns="0" rIns="0" bIns="0" rtlCol="0" anchor="ctr"/>
          <a:lstStyle/>
          <a:p>
            <a:pPr marL="0" indent="0">
              <a:buNone/>
            </a:pPr>
            <a:r>
              <a:rPr lang="en-US" sz="1500" dirty="0">
                <a:solidFill>
                  <a:srgbClr val="AC212E"/>
                </a:solidFill>
                <a:latin typeface="Calibri" pitchFamily="34" charset="0"/>
                <a:ea typeface="Calibri" pitchFamily="34" charset="-122"/>
                <a:cs typeface="Calibri" pitchFamily="34" charset="-120"/>
              </a:rPr>
              <a:t>La Fase 1 no produce análisis. Produce las condiciones para que el análisis sea posible, verificable y compartido.</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Del contexto problematizador a la pregunta analizable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Una situación no es una pregunta, y una pregunta no siempre es analizable con datos.</a:t>
            </a:r>
            <a:endParaRPr lang="en-US" sz="1400" dirty="0"/>
          </a:p>
        </p:txBody>
      </p:sp>
      <p:sp>
        <p:nvSpPr>
          <p:cNvPr id="4" name="Shape 2"/>
          <p:cNvSpPr/>
          <p:nvPr/>
        </p:nvSpPr>
        <p:spPr>
          <a:xfrm>
            <a:off x="548640" y="1874520"/>
            <a:ext cx="3520440" cy="260604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84832"/>
            <a:ext cx="420624" cy="420624"/>
          </a:xfrm>
          <a:prstGeom prst="ellipse">
            <a:avLst/>
          </a:prstGeom>
          <a:solidFill>
            <a:srgbClr val="AC212E"/>
          </a:solidFill>
          <a:ln/>
        </p:spPr>
        <p:txBody>
          <a:bodyPr/>
          <a:lstStyle/>
          <a:p>
            <a:endParaRPr lang="es-CL"/>
          </a:p>
        </p:txBody>
      </p:sp>
      <p:sp>
        <p:nvSpPr>
          <p:cNvPr id="6" name="Text 4"/>
          <p:cNvSpPr/>
          <p:nvPr/>
        </p:nvSpPr>
        <p:spPr>
          <a:xfrm>
            <a:off x="777240"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77240" y="2633472"/>
            <a:ext cx="306324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Situación</a:t>
            </a:r>
            <a:endParaRPr lang="en-US" sz="1600" dirty="0"/>
          </a:p>
        </p:txBody>
      </p:sp>
      <p:sp>
        <p:nvSpPr>
          <p:cNvPr id="8" name="Text 6"/>
          <p:cNvSpPr/>
          <p:nvPr/>
        </p:nvSpPr>
        <p:spPr>
          <a:xfrm>
            <a:off x="777240"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Existe un fenómeno que preocupa o interesa.</a:t>
            </a:r>
            <a:endParaRPr lang="en-US" sz="1250" dirty="0"/>
          </a:p>
        </p:txBody>
      </p:sp>
      <p:sp>
        <p:nvSpPr>
          <p:cNvPr id="9" name="Text 7"/>
          <p:cNvSpPr/>
          <p:nvPr/>
        </p:nvSpPr>
        <p:spPr>
          <a:xfrm>
            <a:off x="777240"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AC212E"/>
                </a:solidFill>
                <a:latin typeface="Calibri" pitchFamily="34" charset="0"/>
                <a:ea typeface="Calibri" pitchFamily="34" charset="-122"/>
                <a:cs typeface="Calibri" pitchFamily="34" charset="-120"/>
              </a:rPr>
              <a:t>«Hay muchos casos en la región.»</a:t>
            </a:r>
            <a:endParaRPr lang="en-US" sz="1200" dirty="0"/>
          </a:p>
        </p:txBody>
      </p:sp>
      <p:sp>
        <p:nvSpPr>
          <p:cNvPr id="10" name="Text 8"/>
          <p:cNvSpPr/>
          <p:nvPr/>
        </p:nvSpPr>
        <p:spPr>
          <a:xfrm>
            <a:off x="4069080" y="29260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4325112" y="1874520"/>
            <a:ext cx="3520440" cy="260604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2" name="Shape 10"/>
          <p:cNvSpPr/>
          <p:nvPr/>
        </p:nvSpPr>
        <p:spPr>
          <a:xfrm>
            <a:off x="4553712" y="2084832"/>
            <a:ext cx="420624" cy="420624"/>
          </a:xfrm>
          <a:prstGeom prst="ellipse">
            <a:avLst/>
          </a:prstGeom>
          <a:solidFill>
            <a:srgbClr val="AC212E"/>
          </a:solidFill>
          <a:ln/>
        </p:spPr>
        <p:txBody>
          <a:bodyPr/>
          <a:lstStyle/>
          <a:p>
            <a:endParaRPr lang="es-CL"/>
          </a:p>
        </p:txBody>
      </p:sp>
      <p:sp>
        <p:nvSpPr>
          <p:cNvPr id="13" name="Text 11"/>
          <p:cNvSpPr/>
          <p:nvPr/>
        </p:nvSpPr>
        <p:spPr>
          <a:xfrm>
            <a:off x="4553712"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4553712" y="2633472"/>
            <a:ext cx="306324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Problema</a:t>
            </a:r>
            <a:endParaRPr lang="en-US" sz="1600" dirty="0"/>
          </a:p>
        </p:txBody>
      </p:sp>
      <p:sp>
        <p:nvSpPr>
          <p:cNvPr id="15" name="Text 13"/>
          <p:cNvSpPr/>
          <p:nvPr/>
        </p:nvSpPr>
        <p:spPr>
          <a:xfrm>
            <a:off x="4553712"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La situación se delimita: qué parte se aborda.</a:t>
            </a:r>
            <a:endParaRPr lang="en-US" sz="1250" dirty="0"/>
          </a:p>
        </p:txBody>
      </p:sp>
      <p:sp>
        <p:nvSpPr>
          <p:cNvPr id="16" name="Text 14"/>
          <p:cNvSpPr/>
          <p:nvPr/>
        </p:nvSpPr>
        <p:spPr>
          <a:xfrm>
            <a:off x="4553712"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AC212E"/>
                </a:solidFill>
                <a:latin typeface="Calibri" pitchFamily="34" charset="0"/>
                <a:ea typeface="Calibri" pitchFamily="34" charset="-122"/>
                <a:cs typeface="Calibri" pitchFamily="34" charset="-120"/>
              </a:rPr>
              <a:t>«No se sabe qué factores concentran los casos.»</a:t>
            </a:r>
            <a:endParaRPr lang="en-US" sz="1200" dirty="0"/>
          </a:p>
        </p:txBody>
      </p:sp>
      <p:sp>
        <p:nvSpPr>
          <p:cNvPr id="17" name="Text 15"/>
          <p:cNvSpPr/>
          <p:nvPr/>
        </p:nvSpPr>
        <p:spPr>
          <a:xfrm>
            <a:off x="7845552" y="29260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8101584" y="1874520"/>
            <a:ext cx="3520440" cy="2606040"/>
          </a:xfrm>
          <a:prstGeom prst="roundRect">
            <a:avLst>
              <a:gd name="adj" fmla="val 3158"/>
            </a:avLst>
          </a:prstGeom>
          <a:solidFill>
            <a:srgbClr val="0A1526"/>
          </a:solidFill>
          <a:ln w="12700">
            <a:solidFill>
              <a:srgbClr val="0A1526"/>
            </a:solidFill>
            <a:prstDash val="solid"/>
          </a:ln>
        </p:spPr>
        <p:txBody>
          <a:bodyPr/>
          <a:lstStyle/>
          <a:p>
            <a:endParaRPr lang="es-CL"/>
          </a:p>
        </p:txBody>
      </p:sp>
      <p:sp>
        <p:nvSpPr>
          <p:cNvPr id="19" name="Shape 17"/>
          <p:cNvSpPr/>
          <p:nvPr/>
        </p:nvSpPr>
        <p:spPr>
          <a:xfrm>
            <a:off x="8330184" y="2084832"/>
            <a:ext cx="420624" cy="420624"/>
          </a:xfrm>
          <a:prstGeom prst="ellipse">
            <a:avLst/>
          </a:prstGeom>
          <a:solidFill>
            <a:srgbClr val="AC212E"/>
          </a:solidFill>
          <a:ln/>
        </p:spPr>
        <p:txBody>
          <a:bodyPr/>
          <a:lstStyle/>
          <a:p>
            <a:endParaRPr lang="es-CL"/>
          </a:p>
        </p:txBody>
      </p:sp>
      <p:sp>
        <p:nvSpPr>
          <p:cNvPr id="20" name="Text 18"/>
          <p:cNvSpPr/>
          <p:nvPr/>
        </p:nvSpPr>
        <p:spPr>
          <a:xfrm>
            <a:off x="8330184"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p:nvPr/>
        </p:nvSpPr>
        <p:spPr>
          <a:xfrm>
            <a:off x="8330184" y="2633472"/>
            <a:ext cx="30632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Pregunta analizable</a:t>
            </a:r>
            <a:endParaRPr lang="en-US" sz="1600" dirty="0"/>
          </a:p>
        </p:txBody>
      </p:sp>
      <p:sp>
        <p:nvSpPr>
          <p:cNvPr id="22" name="Text 20"/>
          <p:cNvSpPr/>
          <p:nvPr/>
        </p:nvSpPr>
        <p:spPr>
          <a:xfrm>
            <a:off x="8330184" y="3017520"/>
            <a:ext cx="3063240" cy="64008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 pregunta se puede responder con los datos disponibles.</a:t>
            </a:r>
            <a:endParaRPr lang="en-US" sz="1250" dirty="0"/>
          </a:p>
        </p:txBody>
      </p:sp>
      <p:sp>
        <p:nvSpPr>
          <p:cNvPr id="23" name="Text 21"/>
          <p:cNvSpPr/>
          <p:nvPr/>
        </p:nvSpPr>
        <p:spPr>
          <a:xfrm>
            <a:off x="8330184" y="3703320"/>
            <a:ext cx="3063240" cy="640080"/>
          </a:xfrm>
          <a:prstGeom prst="rect">
            <a:avLst/>
          </a:prstGeom>
          <a:noFill/>
          <a:ln/>
        </p:spPr>
        <p:txBody>
          <a:bodyPr wrap="square" lIns="0" tIns="0" rIns="0" bIns="0" rtlCol="0" anchor="ctr"/>
          <a:lstStyle/>
          <a:p>
            <a:pPr marL="0" indent="0">
              <a:lnSpc>
                <a:spcPts val="1600"/>
              </a:lnSpc>
              <a:buNone/>
            </a:pPr>
            <a:r>
              <a:rPr lang="en-US" sz="1200" i="1" dirty="0">
                <a:solidFill>
                  <a:srgbClr val="D7E3EE"/>
                </a:solidFill>
                <a:latin typeface="Calibri" pitchFamily="34" charset="0"/>
                <a:ea typeface="Calibri" pitchFamily="34" charset="-122"/>
                <a:cs typeface="Calibri" pitchFamily="34" charset="-120"/>
              </a:rPr>
              <a:t>«¿Qué variables se asocian a la ocurrencia en este registro?»</a:t>
            </a:r>
            <a:endParaRPr lang="en-US" sz="1200" dirty="0"/>
          </a:p>
        </p:txBody>
      </p:sp>
      <p:sp>
        <p:nvSpPr>
          <p:cNvPr id="24" name="Text 22"/>
          <p:cNvSpPr/>
          <p:nvPr/>
        </p:nvSpPr>
        <p:spPr>
          <a:xfrm>
            <a:off x="548640" y="4754880"/>
            <a:ext cx="7315200" cy="36576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Tres condiciones de una pregunta analizable</a:t>
            </a:r>
            <a:endParaRPr lang="en-US" sz="1500" dirty="0"/>
          </a:p>
        </p:txBody>
      </p:sp>
      <p:sp>
        <p:nvSpPr>
          <p:cNvPr id="25" name="Shape 23"/>
          <p:cNvSpPr/>
          <p:nvPr/>
        </p:nvSpPr>
        <p:spPr>
          <a:xfrm>
            <a:off x="548640"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6" name="Text 24"/>
          <p:cNvSpPr/>
          <p:nvPr/>
        </p:nvSpPr>
        <p:spPr>
          <a:xfrm>
            <a:off x="777240"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datos necesarios existen y son accesibles.</a:t>
            </a:r>
            <a:endParaRPr lang="en-US" sz="1250" dirty="0"/>
          </a:p>
        </p:txBody>
      </p:sp>
      <p:sp>
        <p:nvSpPr>
          <p:cNvPr id="27" name="Shape 25"/>
          <p:cNvSpPr/>
          <p:nvPr/>
        </p:nvSpPr>
        <p:spPr>
          <a:xfrm>
            <a:off x="4325112"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8" name="Text 26"/>
          <p:cNvSpPr/>
          <p:nvPr/>
        </p:nvSpPr>
        <p:spPr>
          <a:xfrm>
            <a:off x="4553712"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conceptos involucrados se pueden medir con esas variables.</a:t>
            </a:r>
            <a:endParaRPr lang="en-US" sz="1250" dirty="0"/>
          </a:p>
        </p:txBody>
      </p:sp>
      <p:sp>
        <p:nvSpPr>
          <p:cNvPr id="29" name="Shape 27"/>
          <p:cNvSpPr/>
          <p:nvPr/>
        </p:nvSpPr>
        <p:spPr>
          <a:xfrm>
            <a:off x="8101584" y="5166360"/>
            <a:ext cx="35204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30" name="Text 28"/>
          <p:cNvSpPr/>
          <p:nvPr/>
        </p:nvSpPr>
        <p:spPr>
          <a:xfrm>
            <a:off x="8330184" y="5166360"/>
            <a:ext cx="3063240" cy="7772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El alcance está acotado: se sabe qué queda fuera.</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ciclo de vida de un proyecto de datos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Las etapas no son burocráticas: cada una transforma el dato y deja evidencia de esa transformación.</a:t>
            </a:r>
            <a:endParaRPr lang="en-US" sz="1400" dirty="0"/>
          </a:p>
        </p:txBody>
      </p:sp>
      <p:sp>
        <p:nvSpPr>
          <p:cNvPr id="4" name="Shape 2"/>
          <p:cNvSpPr/>
          <p:nvPr/>
        </p:nvSpPr>
        <p:spPr>
          <a:xfrm>
            <a:off x="548640" y="1874520"/>
            <a:ext cx="1700784" cy="2286000"/>
          </a:xfrm>
          <a:prstGeom prst="roundRect">
            <a:avLst>
              <a:gd name="adj" fmla="val 4839"/>
            </a:avLst>
          </a:prstGeom>
          <a:solidFill>
            <a:srgbClr val="F6E7E9"/>
          </a:solidFill>
          <a:ln w="12700">
            <a:solidFill>
              <a:srgbClr val="F6E7E9"/>
            </a:solidFill>
            <a:prstDash val="solid"/>
          </a:ln>
        </p:spPr>
        <p:txBody>
          <a:bodyPr/>
          <a:lstStyle/>
          <a:p>
            <a:endParaRPr lang="es-CL"/>
          </a:p>
        </p:txBody>
      </p:sp>
      <p:sp>
        <p:nvSpPr>
          <p:cNvPr id="5" name="Shape 3"/>
          <p:cNvSpPr/>
          <p:nvPr/>
        </p:nvSpPr>
        <p:spPr>
          <a:xfrm>
            <a:off x="1207008" y="2057400"/>
            <a:ext cx="384048" cy="384048"/>
          </a:xfrm>
          <a:prstGeom prst="ellipse">
            <a:avLst/>
          </a:prstGeom>
          <a:solidFill>
            <a:srgbClr val="AC212E"/>
          </a:solidFill>
          <a:ln/>
        </p:spPr>
        <p:txBody>
          <a:bodyPr/>
          <a:lstStyle/>
          <a:p>
            <a:endParaRPr lang="es-CL"/>
          </a:p>
        </p:txBody>
      </p:sp>
      <p:sp>
        <p:nvSpPr>
          <p:cNvPr id="6" name="Text 4"/>
          <p:cNvSpPr/>
          <p:nvPr/>
        </p:nvSpPr>
        <p:spPr>
          <a:xfrm>
            <a:off x="1207008"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658368" y="2542032"/>
            <a:ext cx="1481328" cy="502920"/>
          </a:xfrm>
          <a:prstGeom prst="rect">
            <a:avLst/>
          </a:prstGeom>
          <a:noFill/>
          <a:ln/>
        </p:spPr>
        <p:txBody>
          <a:bodyPr wrap="square" lIns="0" tIns="0" rIns="0" bIns="0" rtlCol="0" anchor="ctr"/>
          <a:lstStyle/>
          <a:p>
            <a:pPr marL="0" indent="0" algn="ctr">
              <a:buNone/>
            </a:pPr>
            <a:r>
              <a:rPr lang="en-US" sz="1250" b="1" dirty="0">
                <a:solidFill>
                  <a:srgbClr val="AC212E"/>
                </a:solidFill>
                <a:latin typeface="Calibri" pitchFamily="34" charset="0"/>
                <a:ea typeface="Calibri" pitchFamily="34" charset="-122"/>
                <a:cs typeface="Calibri" pitchFamily="34" charset="-120"/>
              </a:rPr>
              <a:t>Definición</a:t>
            </a:r>
            <a:endParaRPr lang="en-US" sz="1250" dirty="0"/>
          </a:p>
        </p:txBody>
      </p:sp>
      <p:sp>
        <p:nvSpPr>
          <p:cNvPr id="8" name="Text 6"/>
          <p:cNvSpPr/>
          <p:nvPr/>
        </p:nvSpPr>
        <p:spPr>
          <a:xfrm>
            <a:off x="658368"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acota el problema y se identifican los datos.</a:t>
            </a:r>
            <a:endParaRPr lang="en-US" sz="1050" dirty="0"/>
          </a:p>
        </p:txBody>
      </p:sp>
      <p:sp>
        <p:nvSpPr>
          <p:cNvPr id="9" name="Text 7"/>
          <p:cNvSpPr/>
          <p:nvPr/>
        </p:nvSpPr>
        <p:spPr>
          <a:xfrm>
            <a:off x="2249424"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2395728"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3054096" y="2057400"/>
            <a:ext cx="384048" cy="384048"/>
          </a:xfrm>
          <a:prstGeom prst="ellipse">
            <a:avLst/>
          </a:prstGeom>
          <a:solidFill>
            <a:srgbClr val="AC212E"/>
          </a:solidFill>
          <a:ln/>
        </p:spPr>
        <p:txBody>
          <a:bodyPr/>
          <a:lstStyle/>
          <a:p>
            <a:endParaRPr lang="es-CL"/>
          </a:p>
        </p:txBody>
      </p:sp>
      <p:sp>
        <p:nvSpPr>
          <p:cNvPr id="12" name="Text 10"/>
          <p:cNvSpPr/>
          <p:nvPr/>
        </p:nvSpPr>
        <p:spPr>
          <a:xfrm>
            <a:off x="3054096"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2505456"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Obtención</a:t>
            </a:r>
            <a:endParaRPr lang="en-US" sz="1250" dirty="0"/>
          </a:p>
        </p:txBody>
      </p:sp>
      <p:sp>
        <p:nvSpPr>
          <p:cNvPr id="14" name="Text 12"/>
          <p:cNvSpPr/>
          <p:nvPr/>
        </p:nvSpPr>
        <p:spPr>
          <a:xfrm>
            <a:off x="2505456"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accede a las fuentes y se incorpora el dato crudo.</a:t>
            </a:r>
            <a:endParaRPr lang="en-US" sz="1050" dirty="0"/>
          </a:p>
        </p:txBody>
      </p:sp>
      <p:sp>
        <p:nvSpPr>
          <p:cNvPr id="15" name="Text 13"/>
          <p:cNvSpPr/>
          <p:nvPr/>
        </p:nvSpPr>
        <p:spPr>
          <a:xfrm>
            <a:off x="4096512"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4242816"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4901184" y="2057400"/>
            <a:ext cx="384048" cy="384048"/>
          </a:xfrm>
          <a:prstGeom prst="ellipse">
            <a:avLst/>
          </a:prstGeom>
          <a:solidFill>
            <a:srgbClr val="AC212E"/>
          </a:solidFill>
          <a:ln/>
        </p:spPr>
        <p:txBody>
          <a:bodyPr/>
          <a:lstStyle/>
          <a:p>
            <a:endParaRPr lang="es-CL"/>
          </a:p>
        </p:txBody>
      </p:sp>
      <p:sp>
        <p:nvSpPr>
          <p:cNvPr id="18" name="Text 16"/>
          <p:cNvSpPr/>
          <p:nvPr/>
        </p:nvSpPr>
        <p:spPr>
          <a:xfrm>
            <a:off x="4901184"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4352544"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Exploración</a:t>
            </a:r>
            <a:endParaRPr lang="en-US" sz="1250" dirty="0"/>
          </a:p>
        </p:txBody>
      </p:sp>
      <p:sp>
        <p:nvSpPr>
          <p:cNvPr id="20" name="Text 18"/>
          <p:cNvSpPr/>
          <p:nvPr/>
        </p:nvSpPr>
        <p:spPr>
          <a:xfrm>
            <a:off x="4352544"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examina la estructura, la calidad y las anomalías.</a:t>
            </a:r>
            <a:endParaRPr lang="en-US" sz="1050" dirty="0"/>
          </a:p>
        </p:txBody>
      </p:sp>
      <p:sp>
        <p:nvSpPr>
          <p:cNvPr id="21" name="Text 19"/>
          <p:cNvSpPr/>
          <p:nvPr/>
        </p:nvSpPr>
        <p:spPr>
          <a:xfrm>
            <a:off x="5943600"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22" name="Shape 20"/>
          <p:cNvSpPr/>
          <p:nvPr/>
        </p:nvSpPr>
        <p:spPr>
          <a:xfrm>
            <a:off x="6089904"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23" name="Shape 21"/>
          <p:cNvSpPr/>
          <p:nvPr/>
        </p:nvSpPr>
        <p:spPr>
          <a:xfrm>
            <a:off x="6748272" y="2057400"/>
            <a:ext cx="384048" cy="384048"/>
          </a:xfrm>
          <a:prstGeom prst="ellipse">
            <a:avLst/>
          </a:prstGeom>
          <a:solidFill>
            <a:srgbClr val="AC212E"/>
          </a:solidFill>
          <a:ln/>
        </p:spPr>
        <p:txBody>
          <a:bodyPr/>
          <a:lstStyle/>
          <a:p>
            <a:endParaRPr lang="es-CL"/>
          </a:p>
        </p:txBody>
      </p:sp>
      <p:sp>
        <p:nvSpPr>
          <p:cNvPr id="24" name="Text 22"/>
          <p:cNvSpPr/>
          <p:nvPr/>
        </p:nvSpPr>
        <p:spPr>
          <a:xfrm>
            <a:off x="6748272"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6199632"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Transformación</a:t>
            </a:r>
            <a:endParaRPr lang="en-US" sz="1250" dirty="0"/>
          </a:p>
        </p:txBody>
      </p:sp>
      <p:sp>
        <p:nvSpPr>
          <p:cNvPr id="26" name="Text 24"/>
          <p:cNvSpPr/>
          <p:nvPr/>
        </p:nvSpPr>
        <p:spPr>
          <a:xfrm>
            <a:off x="6199632"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limpia, se corrige y se derivan nuevas variables.</a:t>
            </a:r>
            <a:endParaRPr lang="en-US" sz="1050" dirty="0"/>
          </a:p>
        </p:txBody>
      </p:sp>
      <p:sp>
        <p:nvSpPr>
          <p:cNvPr id="27" name="Text 25"/>
          <p:cNvSpPr/>
          <p:nvPr/>
        </p:nvSpPr>
        <p:spPr>
          <a:xfrm>
            <a:off x="7790688"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28" name="Shape 26"/>
          <p:cNvSpPr/>
          <p:nvPr/>
        </p:nvSpPr>
        <p:spPr>
          <a:xfrm>
            <a:off x="7936992"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29" name="Shape 27"/>
          <p:cNvSpPr/>
          <p:nvPr/>
        </p:nvSpPr>
        <p:spPr>
          <a:xfrm>
            <a:off x="8595360" y="2057400"/>
            <a:ext cx="384048" cy="384048"/>
          </a:xfrm>
          <a:prstGeom prst="ellipse">
            <a:avLst/>
          </a:prstGeom>
          <a:solidFill>
            <a:srgbClr val="AC212E"/>
          </a:solidFill>
          <a:ln/>
        </p:spPr>
        <p:txBody>
          <a:bodyPr/>
          <a:lstStyle/>
          <a:p>
            <a:endParaRPr lang="es-CL"/>
          </a:p>
        </p:txBody>
      </p:sp>
      <p:sp>
        <p:nvSpPr>
          <p:cNvPr id="30" name="Text 28"/>
          <p:cNvSpPr/>
          <p:nvPr/>
        </p:nvSpPr>
        <p:spPr>
          <a:xfrm>
            <a:off x="8595360"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p:nvPr/>
        </p:nvSpPr>
        <p:spPr>
          <a:xfrm>
            <a:off x="8046720"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Análisis</a:t>
            </a:r>
            <a:endParaRPr lang="en-US" sz="1250" dirty="0"/>
          </a:p>
        </p:txBody>
      </p:sp>
      <p:sp>
        <p:nvSpPr>
          <p:cNvPr id="32" name="Text 30"/>
          <p:cNvSpPr/>
          <p:nvPr/>
        </p:nvSpPr>
        <p:spPr>
          <a:xfrm>
            <a:off x="8046720"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aplican procedimientos para responder la pregunta.</a:t>
            </a:r>
            <a:endParaRPr lang="en-US" sz="1050" dirty="0"/>
          </a:p>
        </p:txBody>
      </p:sp>
      <p:sp>
        <p:nvSpPr>
          <p:cNvPr id="33" name="Text 31"/>
          <p:cNvSpPr/>
          <p:nvPr/>
        </p:nvSpPr>
        <p:spPr>
          <a:xfrm>
            <a:off x="9637776" y="2743200"/>
            <a:ext cx="146304" cy="365760"/>
          </a:xfrm>
          <a:prstGeom prst="rect">
            <a:avLst/>
          </a:prstGeom>
          <a:noFill/>
          <a:ln/>
        </p:spPr>
        <p:txBody>
          <a:bodyPr wrap="square" lIns="0" tIns="0" rIns="0" bIns="0" rtlCol="0" anchor="ctr"/>
          <a:lstStyle/>
          <a:p>
            <a:pPr marL="0" indent="0" algn="ctr">
              <a:buNone/>
            </a:pPr>
            <a:r>
              <a:rPr lang="en-US" sz="1500" dirty="0">
                <a:solidFill>
                  <a:srgbClr val="AC212E"/>
                </a:solidFill>
                <a:latin typeface="Calibri" pitchFamily="34" charset="0"/>
                <a:ea typeface="Calibri" pitchFamily="34" charset="-122"/>
                <a:cs typeface="Calibri" pitchFamily="34" charset="-120"/>
              </a:rPr>
              <a:t>›</a:t>
            </a:r>
            <a:endParaRPr lang="en-US" sz="1500" dirty="0"/>
          </a:p>
        </p:txBody>
      </p:sp>
      <p:sp>
        <p:nvSpPr>
          <p:cNvPr id="34" name="Shape 32"/>
          <p:cNvSpPr/>
          <p:nvPr/>
        </p:nvSpPr>
        <p:spPr>
          <a:xfrm>
            <a:off x="9784080" y="1874520"/>
            <a:ext cx="1700784" cy="2286000"/>
          </a:xfrm>
          <a:prstGeom prst="roundRect">
            <a:avLst>
              <a:gd name="adj" fmla="val 4839"/>
            </a:avLst>
          </a:prstGeom>
          <a:solidFill>
            <a:srgbClr val="F4F7FA"/>
          </a:solidFill>
          <a:ln w="12700">
            <a:solidFill>
              <a:srgbClr val="F4F7FA"/>
            </a:solidFill>
            <a:prstDash val="solid"/>
          </a:ln>
        </p:spPr>
        <p:txBody>
          <a:bodyPr/>
          <a:lstStyle/>
          <a:p>
            <a:endParaRPr lang="es-CL"/>
          </a:p>
        </p:txBody>
      </p:sp>
      <p:sp>
        <p:nvSpPr>
          <p:cNvPr id="35" name="Shape 33"/>
          <p:cNvSpPr/>
          <p:nvPr/>
        </p:nvSpPr>
        <p:spPr>
          <a:xfrm>
            <a:off x="10442448" y="2057400"/>
            <a:ext cx="384048" cy="384048"/>
          </a:xfrm>
          <a:prstGeom prst="ellipse">
            <a:avLst/>
          </a:prstGeom>
          <a:solidFill>
            <a:srgbClr val="AC212E"/>
          </a:solidFill>
          <a:ln/>
        </p:spPr>
        <p:txBody>
          <a:bodyPr/>
          <a:lstStyle/>
          <a:p>
            <a:endParaRPr lang="es-CL"/>
          </a:p>
        </p:txBody>
      </p:sp>
      <p:sp>
        <p:nvSpPr>
          <p:cNvPr id="36" name="Text 34"/>
          <p:cNvSpPr/>
          <p:nvPr/>
        </p:nvSpPr>
        <p:spPr>
          <a:xfrm>
            <a:off x="10442448"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p:nvPr/>
        </p:nvSpPr>
        <p:spPr>
          <a:xfrm>
            <a:off x="9893808" y="2542032"/>
            <a:ext cx="1481328" cy="502920"/>
          </a:xfrm>
          <a:prstGeom prst="rect">
            <a:avLst/>
          </a:prstGeom>
          <a:noFill/>
          <a:ln/>
        </p:spPr>
        <p:txBody>
          <a:bodyPr wrap="square" lIns="0" tIns="0" rIns="0" bIns="0" rtlCol="0" anchor="ctr"/>
          <a:lstStyle/>
          <a:p>
            <a:pPr marL="0" indent="0" algn="ctr">
              <a:buNone/>
            </a:pPr>
            <a:r>
              <a:rPr lang="en-US" sz="1250" b="1" dirty="0">
                <a:solidFill>
                  <a:srgbClr val="06304A"/>
                </a:solidFill>
                <a:latin typeface="Calibri" pitchFamily="34" charset="0"/>
                <a:ea typeface="Calibri" pitchFamily="34" charset="-122"/>
                <a:cs typeface="Calibri" pitchFamily="34" charset="-120"/>
              </a:rPr>
              <a:t>Comunicación</a:t>
            </a:r>
            <a:endParaRPr lang="en-US" sz="1250" dirty="0"/>
          </a:p>
        </p:txBody>
      </p:sp>
      <p:sp>
        <p:nvSpPr>
          <p:cNvPr id="38" name="Text 36"/>
          <p:cNvSpPr/>
          <p:nvPr/>
        </p:nvSpPr>
        <p:spPr>
          <a:xfrm>
            <a:off x="9893808" y="3017520"/>
            <a:ext cx="1481328" cy="1005840"/>
          </a:xfrm>
          <a:prstGeom prst="rect">
            <a:avLst/>
          </a:prstGeom>
          <a:noFill/>
          <a:ln/>
        </p:spPr>
        <p:txBody>
          <a:bodyPr wrap="square" lIns="0" tIns="0" rIns="0" bIns="0" rtlCol="0" anchor="ctr"/>
          <a:lstStyle/>
          <a:p>
            <a:pPr marL="0" indent="0" algn="ctr">
              <a:lnSpc>
                <a:spcPts val="1400"/>
              </a:lnSpc>
              <a:buNone/>
            </a:pPr>
            <a:r>
              <a:rPr lang="en-US" sz="1050" dirty="0">
                <a:solidFill>
                  <a:srgbClr val="5A6B7B"/>
                </a:solidFill>
                <a:latin typeface="Calibri" pitchFamily="34" charset="0"/>
                <a:ea typeface="Calibri" pitchFamily="34" charset="-122"/>
                <a:cs typeface="Calibri" pitchFamily="34" charset="-120"/>
              </a:rPr>
              <a:t>Se interpretan y se transmiten los hallazgos.</a:t>
            </a:r>
            <a:endParaRPr lang="en-US" sz="1050" dirty="0"/>
          </a:p>
        </p:txBody>
      </p:sp>
      <p:sp>
        <p:nvSpPr>
          <p:cNvPr id="39" name="Shape 37"/>
          <p:cNvSpPr/>
          <p:nvPr/>
        </p:nvSpPr>
        <p:spPr>
          <a:xfrm>
            <a:off x="548640" y="4434840"/>
            <a:ext cx="11064240" cy="1508760"/>
          </a:xfrm>
          <a:prstGeom prst="roundRect">
            <a:avLst>
              <a:gd name="adj" fmla="val 5455"/>
            </a:avLst>
          </a:prstGeom>
          <a:solidFill>
            <a:srgbClr val="0A1526"/>
          </a:solidFill>
          <a:ln w="12700">
            <a:solidFill>
              <a:srgbClr val="0A1526"/>
            </a:solidFill>
            <a:prstDash val="solid"/>
          </a:ln>
        </p:spPr>
        <p:txBody>
          <a:bodyPr/>
          <a:lstStyle/>
          <a:p>
            <a:endParaRPr lang="es-CL"/>
          </a:p>
        </p:txBody>
      </p:sp>
      <p:sp>
        <p:nvSpPr>
          <p:cNvPr id="40" name="Text 38"/>
          <p:cNvSpPr/>
          <p:nvPr/>
        </p:nvSpPr>
        <p:spPr>
          <a:xfrm>
            <a:off x="868680" y="4590288"/>
            <a:ext cx="36576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propiedades del ciclo</a:t>
            </a:r>
            <a:endParaRPr lang="en-US" sz="1400" dirty="0"/>
          </a:p>
        </p:txBody>
      </p:sp>
      <p:sp>
        <p:nvSpPr>
          <p:cNvPr id="41" name="Text 39"/>
          <p:cNvSpPr/>
          <p:nvPr/>
        </p:nvSpPr>
        <p:spPr>
          <a:xfrm>
            <a:off x="868680" y="4956048"/>
            <a:ext cx="10424160" cy="868680"/>
          </a:xfrm>
          <a:prstGeom prst="rect">
            <a:avLst/>
          </a:prstGeom>
          <a:noFill/>
          <a:ln/>
        </p:spPr>
        <p:txBody>
          <a:bodyPr wrap="square" lIns="0" tIns="0" rIns="0" bIns="0" rtlCol="0" anchor="ctr"/>
          <a:lstStyle/>
          <a:p>
            <a:pPr marL="0" indent="0">
              <a:lnSpc>
                <a:spcPts val="1900"/>
              </a:lnSpc>
              <a:buNone/>
            </a:pPr>
            <a:r>
              <a:rPr lang="en-US" sz="1350" dirty="0">
                <a:solidFill>
                  <a:srgbClr val="D7E3EE"/>
                </a:solidFill>
                <a:latin typeface="Calibri" pitchFamily="34" charset="0"/>
                <a:ea typeface="Calibri" pitchFamily="34" charset="-122"/>
                <a:cs typeface="Calibri" pitchFamily="34" charset="-120"/>
              </a:rPr>
              <a:t>No es lineal en la práctica: se vuelve atrás cada vez que la exploración revela algo que obliga a redefinir. Y el dato crudo nunca se modifica: cada etapa produce una versión nueva, de modo que siempre se puede volver al origen y demostrar qué se transformó.</a:t>
            </a:r>
            <a:endParaRPr lang="en-US" sz="1350" dirty="0"/>
          </a:p>
        </p:txBody>
      </p:sp>
      <p:pic>
        <p:nvPicPr>
          <p:cNvPr id="43" name="Imagen 42">
            <a:extLst>
              <a:ext uri="{FF2B5EF4-FFF2-40B4-BE49-F238E27FC236}">
                <a16:creationId xmlns:a16="http://schemas.microsoft.com/office/drawing/2014/main" id="{38D39BFD-9FBE-56B1-013E-3FAEE6FFE06E}"/>
              </a:ext>
            </a:extLst>
          </p:cNvPr>
          <p:cNvPicPr>
            <a:picLocks noChangeAspect="1"/>
          </p:cNvPicPr>
          <p:nvPr/>
        </p:nvPicPr>
        <p:blipFill>
          <a:blip r:embed="rId3"/>
          <a:stretch>
            <a:fillRect/>
          </a:stretch>
        </p:blipFill>
        <p:spPr>
          <a:xfrm>
            <a:off x="8514842" y="171817"/>
            <a:ext cx="2970022" cy="156554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Reproducibilidad: el concepto central de la unidad</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Es la propiedad que distingue un resultado verificable de una afirmación sin respaldo.</a:t>
            </a:r>
            <a:endParaRPr lang="en-US" sz="1400" dirty="0"/>
          </a:p>
        </p:txBody>
      </p:sp>
      <p:sp>
        <p:nvSpPr>
          <p:cNvPr id="4" name="Shape 2"/>
          <p:cNvSpPr/>
          <p:nvPr/>
        </p:nvSpPr>
        <p:spPr>
          <a:xfrm>
            <a:off x="548640" y="1737360"/>
            <a:ext cx="11064240" cy="914400"/>
          </a:xfrm>
          <a:prstGeom prst="roundRect">
            <a:avLst>
              <a:gd name="adj" fmla="val 9000"/>
            </a:avLst>
          </a:prstGeom>
          <a:solidFill>
            <a:srgbClr val="0A1526"/>
          </a:solidFill>
          <a:ln w="12700">
            <a:solidFill>
              <a:srgbClr val="0A1526"/>
            </a:solidFill>
            <a:prstDash val="solid"/>
          </a:ln>
        </p:spPr>
        <p:txBody>
          <a:bodyPr/>
          <a:lstStyle/>
          <a:p>
            <a:endParaRPr lang="es-CL"/>
          </a:p>
        </p:txBody>
      </p:sp>
      <p:sp>
        <p:nvSpPr>
          <p:cNvPr id="5" name="Text 3"/>
          <p:cNvSpPr/>
          <p:nvPr/>
        </p:nvSpPr>
        <p:spPr>
          <a:xfrm>
            <a:off x="868680" y="1874520"/>
            <a:ext cx="10424160" cy="6400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Un trabajo es reproducible cuando otra persona, con los mismos datos y el mismo código, obtiene exactamente el mismo resultado.</a:t>
            </a:r>
            <a:endParaRPr lang="en-US" sz="1600" dirty="0"/>
          </a:p>
        </p:txBody>
      </p:sp>
      <p:sp>
        <p:nvSpPr>
          <p:cNvPr id="6" name="Shape 4"/>
          <p:cNvSpPr/>
          <p:nvPr/>
        </p:nvSpPr>
        <p:spPr>
          <a:xfrm>
            <a:off x="548640" y="2834640"/>
            <a:ext cx="530352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7" name="Text 5"/>
          <p:cNvSpPr/>
          <p:nvPr/>
        </p:nvSpPr>
        <p:spPr>
          <a:xfrm>
            <a:off x="822960" y="2999232"/>
            <a:ext cx="4754880" cy="347472"/>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Reproducibilidad</a:t>
            </a:r>
            <a:endParaRPr lang="en-US" sz="1600" dirty="0"/>
          </a:p>
        </p:txBody>
      </p:sp>
      <p:sp>
        <p:nvSpPr>
          <p:cNvPr id="8" name="Text 6"/>
          <p:cNvSpPr/>
          <p:nvPr/>
        </p:nvSpPr>
        <p:spPr>
          <a:xfrm>
            <a:off x="822960" y="3364992"/>
            <a:ext cx="4754880" cy="457200"/>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Mismos datos, mismo código, mismo resultado.</a:t>
            </a:r>
            <a:endParaRPr lang="en-US" sz="1300" dirty="0"/>
          </a:p>
        </p:txBody>
      </p:sp>
      <p:sp>
        <p:nvSpPr>
          <p:cNvPr id="9" name="Text 7"/>
          <p:cNvSpPr/>
          <p:nvPr/>
        </p:nvSpPr>
        <p:spPr>
          <a:xfrm>
            <a:off x="822960" y="3840480"/>
            <a:ext cx="4754880" cy="32004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Es lo que se exige en este curso.</a:t>
            </a:r>
            <a:endParaRPr lang="en-US" sz="1200" dirty="0"/>
          </a:p>
        </p:txBody>
      </p:sp>
      <p:sp>
        <p:nvSpPr>
          <p:cNvPr id="10" name="Shape 8"/>
          <p:cNvSpPr/>
          <p:nvPr/>
        </p:nvSpPr>
        <p:spPr>
          <a:xfrm>
            <a:off x="6309360" y="2834640"/>
            <a:ext cx="530352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83680" y="2999232"/>
            <a:ext cx="4754880" cy="347472"/>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Replicabilidad</a:t>
            </a:r>
            <a:endParaRPr lang="en-US" sz="1600" dirty="0"/>
          </a:p>
        </p:txBody>
      </p:sp>
      <p:sp>
        <p:nvSpPr>
          <p:cNvPr id="12" name="Text 10"/>
          <p:cNvSpPr/>
          <p:nvPr/>
        </p:nvSpPr>
        <p:spPr>
          <a:xfrm>
            <a:off x="6583680" y="3364992"/>
            <a:ext cx="4754880" cy="457200"/>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Datos nuevos, mismo procedimiento, conclusiones equivalentes.</a:t>
            </a:r>
            <a:endParaRPr lang="en-US" sz="1300" dirty="0"/>
          </a:p>
        </p:txBody>
      </p:sp>
      <p:sp>
        <p:nvSpPr>
          <p:cNvPr id="13" name="Text 11"/>
          <p:cNvSpPr/>
          <p:nvPr/>
        </p:nvSpPr>
        <p:spPr>
          <a:xfrm>
            <a:off x="6583680" y="3840480"/>
            <a:ext cx="4754880" cy="32004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Pertenece al diseño de la investigación.</a:t>
            </a:r>
            <a:endParaRPr lang="en-US" sz="1200" dirty="0"/>
          </a:p>
        </p:txBody>
      </p:sp>
      <p:sp>
        <p:nvSpPr>
          <p:cNvPr id="14" name="Text 12"/>
          <p:cNvSpPr/>
          <p:nvPr/>
        </p:nvSpPr>
        <p:spPr>
          <a:xfrm>
            <a:off x="548640" y="4434840"/>
            <a:ext cx="7315200" cy="36576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Tres condiciones que deben cumplirse a la vez</a:t>
            </a:r>
            <a:endParaRPr lang="en-US" sz="1500" dirty="0"/>
          </a:p>
        </p:txBody>
      </p:sp>
      <p:sp>
        <p:nvSpPr>
          <p:cNvPr id="15" name="Shape 13"/>
          <p:cNvSpPr/>
          <p:nvPr/>
        </p:nvSpPr>
        <p:spPr>
          <a:xfrm>
            <a:off x="548640" y="4846320"/>
            <a:ext cx="352044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6" name="Text 14"/>
          <p:cNvSpPr/>
          <p:nvPr/>
        </p:nvSpPr>
        <p:spPr>
          <a:xfrm>
            <a:off x="777240" y="498348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Los datos</a:t>
            </a:r>
            <a:endParaRPr lang="en-US" sz="1400" dirty="0"/>
          </a:p>
        </p:txBody>
      </p:sp>
      <p:sp>
        <p:nvSpPr>
          <p:cNvPr id="17" name="Text 15"/>
          <p:cNvSpPr/>
          <p:nvPr/>
        </p:nvSpPr>
        <p:spPr>
          <a:xfrm>
            <a:off x="777240" y="5303520"/>
            <a:ext cx="3063240" cy="5486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Disponibles, o su origen documentado con precisión.</a:t>
            </a:r>
            <a:endParaRPr lang="en-US" sz="1250" dirty="0"/>
          </a:p>
        </p:txBody>
      </p:sp>
      <p:sp>
        <p:nvSpPr>
          <p:cNvPr id="18" name="Shape 16"/>
          <p:cNvSpPr/>
          <p:nvPr/>
        </p:nvSpPr>
        <p:spPr>
          <a:xfrm>
            <a:off x="4325112" y="4846320"/>
            <a:ext cx="352044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9" name="Text 17"/>
          <p:cNvSpPr/>
          <p:nvPr/>
        </p:nvSpPr>
        <p:spPr>
          <a:xfrm>
            <a:off x="4553712" y="498348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código</a:t>
            </a:r>
            <a:endParaRPr lang="en-US" sz="1400" dirty="0"/>
          </a:p>
        </p:txBody>
      </p:sp>
      <p:sp>
        <p:nvSpPr>
          <p:cNvPr id="20" name="Text 18"/>
          <p:cNvSpPr/>
          <p:nvPr/>
        </p:nvSpPr>
        <p:spPr>
          <a:xfrm>
            <a:off x="4553712" y="5303520"/>
            <a:ext cx="3063240" cy="5486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Completo, ordenado y ejecutable de principio a fin.</a:t>
            </a:r>
            <a:endParaRPr lang="en-US" sz="1250" dirty="0"/>
          </a:p>
        </p:txBody>
      </p:sp>
      <p:sp>
        <p:nvSpPr>
          <p:cNvPr id="21" name="Shape 19"/>
          <p:cNvSpPr/>
          <p:nvPr/>
        </p:nvSpPr>
        <p:spPr>
          <a:xfrm>
            <a:off x="8101584" y="4846320"/>
            <a:ext cx="352044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2" name="Text 20"/>
          <p:cNvSpPr/>
          <p:nvPr/>
        </p:nvSpPr>
        <p:spPr>
          <a:xfrm>
            <a:off x="8330184" y="498348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entorno</a:t>
            </a:r>
            <a:endParaRPr lang="en-US" sz="1400" dirty="0"/>
          </a:p>
        </p:txBody>
      </p:sp>
      <p:sp>
        <p:nvSpPr>
          <p:cNvPr id="23" name="Text 21"/>
          <p:cNvSpPr/>
          <p:nvPr/>
        </p:nvSpPr>
        <p:spPr>
          <a:xfrm>
            <a:off x="8330184" y="5303520"/>
            <a:ext cx="3063240" cy="54864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Las versiones de las librerías, declaradas explícitamente.</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Trazabilidad: poder reconstruir el camino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 reproducibilidad mira el resultado. La trazabilidad mira el proceso que llevó a él.</a:t>
            </a:r>
            <a:endParaRPr lang="en-US" sz="1400" dirty="0"/>
          </a:p>
        </p:txBody>
      </p:sp>
      <p:sp>
        <p:nvSpPr>
          <p:cNvPr id="4" name="Shape 2"/>
          <p:cNvSpPr/>
          <p:nvPr/>
        </p:nvSpPr>
        <p:spPr>
          <a:xfrm>
            <a:off x="548640" y="1783080"/>
            <a:ext cx="539496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Qué debe poder reconstruirse</a:t>
            </a:r>
            <a:endParaRPr lang="en-US" sz="1400" dirty="0"/>
          </a:p>
        </p:txBody>
      </p:sp>
      <p:sp>
        <p:nvSpPr>
          <p:cNvPr id="6" name="Shape 4"/>
          <p:cNvSpPr/>
          <p:nvPr/>
        </p:nvSpPr>
        <p:spPr>
          <a:xfrm>
            <a:off x="868680" y="2432304"/>
            <a:ext cx="182880" cy="182880"/>
          </a:xfrm>
          <a:prstGeom prst="ellipse">
            <a:avLst/>
          </a:prstGeom>
          <a:solidFill>
            <a:srgbClr val="AC212E"/>
          </a:solidFill>
          <a:ln/>
        </p:spPr>
        <p:txBody>
          <a:bodyPr/>
          <a:lstStyle/>
          <a:p>
            <a:endParaRPr lang="es-CL"/>
          </a:p>
        </p:txBody>
      </p:sp>
      <p:sp>
        <p:nvSpPr>
          <p:cNvPr id="7" name="Text 5"/>
          <p:cNvSpPr/>
          <p:nvPr/>
        </p:nvSpPr>
        <p:spPr>
          <a:xfrm>
            <a:off x="1188720" y="2359152"/>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Qué cambió en el proyecto.</a:t>
            </a:r>
            <a:endParaRPr lang="en-US" sz="1300" dirty="0"/>
          </a:p>
        </p:txBody>
      </p:sp>
      <p:sp>
        <p:nvSpPr>
          <p:cNvPr id="8" name="Shape 6"/>
          <p:cNvSpPr/>
          <p:nvPr/>
        </p:nvSpPr>
        <p:spPr>
          <a:xfrm>
            <a:off x="868680" y="2852928"/>
            <a:ext cx="182880" cy="182880"/>
          </a:xfrm>
          <a:prstGeom prst="ellipse">
            <a:avLst/>
          </a:prstGeom>
          <a:solidFill>
            <a:srgbClr val="AC212E"/>
          </a:solidFill>
          <a:ln/>
        </p:spPr>
        <p:txBody>
          <a:bodyPr/>
          <a:lstStyle/>
          <a:p>
            <a:endParaRPr lang="es-CL"/>
          </a:p>
        </p:txBody>
      </p:sp>
      <p:sp>
        <p:nvSpPr>
          <p:cNvPr id="9" name="Text 7"/>
          <p:cNvSpPr/>
          <p:nvPr/>
        </p:nvSpPr>
        <p:spPr>
          <a:xfrm>
            <a:off x="1188720" y="2779776"/>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Cuándo se produjo ese cambio.</a:t>
            </a:r>
            <a:endParaRPr lang="en-US" sz="1300" dirty="0"/>
          </a:p>
        </p:txBody>
      </p:sp>
      <p:sp>
        <p:nvSpPr>
          <p:cNvPr id="10" name="Shape 8"/>
          <p:cNvSpPr/>
          <p:nvPr/>
        </p:nvSpPr>
        <p:spPr>
          <a:xfrm>
            <a:off x="868680" y="3273552"/>
            <a:ext cx="182880" cy="182880"/>
          </a:xfrm>
          <a:prstGeom prst="ellipse">
            <a:avLst/>
          </a:prstGeom>
          <a:solidFill>
            <a:srgbClr val="AC212E"/>
          </a:solidFill>
          <a:ln/>
        </p:spPr>
        <p:txBody>
          <a:bodyPr/>
          <a:lstStyle/>
          <a:p>
            <a:endParaRPr lang="es-CL"/>
          </a:p>
        </p:txBody>
      </p:sp>
      <p:sp>
        <p:nvSpPr>
          <p:cNvPr id="11" name="Text 9"/>
          <p:cNvSpPr/>
          <p:nvPr/>
        </p:nvSpPr>
        <p:spPr>
          <a:xfrm>
            <a:off x="1188720" y="3200400"/>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Quién lo hizo.</a:t>
            </a:r>
            <a:endParaRPr lang="en-US" sz="1300" dirty="0"/>
          </a:p>
        </p:txBody>
      </p:sp>
      <p:sp>
        <p:nvSpPr>
          <p:cNvPr id="12" name="Shape 10"/>
          <p:cNvSpPr/>
          <p:nvPr/>
        </p:nvSpPr>
        <p:spPr>
          <a:xfrm>
            <a:off x="868680" y="3694176"/>
            <a:ext cx="182880" cy="182880"/>
          </a:xfrm>
          <a:prstGeom prst="ellipse">
            <a:avLst/>
          </a:prstGeom>
          <a:solidFill>
            <a:srgbClr val="AC212E"/>
          </a:solidFill>
          <a:ln/>
        </p:spPr>
        <p:txBody>
          <a:bodyPr/>
          <a:lstStyle/>
          <a:p>
            <a:endParaRPr lang="es-CL"/>
          </a:p>
        </p:txBody>
      </p:sp>
      <p:sp>
        <p:nvSpPr>
          <p:cNvPr id="13" name="Text 11"/>
          <p:cNvSpPr/>
          <p:nvPr/>
        </p:nvSpPr>
        <p:spPr>
          <a:xfrm>
            <a:off x="1188720" y="3621024"/>
            <a:ext cx="4480560" cy="329184"/>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Por qué se decidió hacerlo.</a:t>
            </a:r>
            <a:endParaRPr lang="en-US" sz="1300" dirty="0"/>
          </a:p>
        </p:txBody>
      </p:sp>
      <p:sp>
        <p:nvSpPr>
          <p:cNvPr id="14" name="Shape 12"/>
          <p:cNvSpPr/>
          <p:nvPr/>
        </p:nvSpPr>
        <p:spPr>
          <a:xfrm>
            <a:off x="6217920" y="1783080"/>
            <a:ext cx="5394960" cy="2377440"/>
          </a:xfrm>
          <a:prstGeom prst="roundRect">
            <a:avLst>
              <a:gd name="adj" fmla="val 3462"/>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653796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control de versiones como concepto</a:t>
            </a:r>
            <a:endParaRPr lang="en-US" sz="1400" dirty="0"/>
          </a:p>
        </p:txBody>
      </p:sp>
      <p:sp>
        <p:nvSpPr>
          <p:cNvPr id="16" name="Text 14"/>
          <p:cNvSpPr/>
          <p:nvPr/>
        </p:nvSpPr>
        <p:spPr>
          <a:xfrm>
            <a:off x="6537960" y="2331720"/>
            <a:ext cx="4754880" cy="169164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Es la práctica de registrar la evolución de un proyecto como una secuencia de estados identificables, en lugar de una sucesión de archivos sobrescritos.</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Git es una implementación de esa práctica; la práctica es anterior a la herramienta y más importante que ella.</a:t>
            </a:r>
            <a:endParaRPr lang="en-US" sz="1300" dirty="0"/>
          </a:p>
        </p:txBody>
      </p:sp>
      <p:sp>
        <p:nvSpPr>
          <p:cNvPr id="17" name="Shape 15"/>
          <p:cNvSpPr/>
          <p:nvPr/>
        </p:nvSpPr>
        <p:spPr>
          <a:xfrm>
            <a:off x="548640" y="4434840"/>
            <a:ext cx="11064240" cy="1508760"/>
          </a:xfrm>
          <a:prstGeom prst="roundRect">
            <a:avLst>
              <a:gd name="adj" fmla="val 5455"/>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4590288"/>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Por qué importa en trabajo grupal</a:t>
            </a:r>
            <a:endParaRPr lang="en-US" sz="1400" dirty="0"/>
          </a:p>
        </p:txBody>
      </p:sp>
      <p:sp>
        <p:nvSpPr>
          <p:cNvPr id="19" name="Text 17"/>
          <p:cNvSpPr/>
          <p:nvPr/>
        </p:nvSpPr>
        <p:spPr>
          <a:xfrm>
            <a:off x="868680" y="4956048"/>
            <a:ext cx="10424160" cy="86868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La trazabilidad hace visible la contribución individual dentro de un producto colectivo. Sin ella, el trabajo del equipo aparece como una masa indistinta y no hay forma de reconocer —ni de evaluar— el aporte de cada integrante.</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Documentación científica y narrativa computacional</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notebook no es un editor de código: es un formato de comunicación científica.</a:t>
            </a:r>
            <a:endParaRPr lang="en-US" sz="1400" dirty="0"/>
          </a:p>
        </p:txBody>
      </p:sp>
      <p:sp>
        <p:nvSpPr>
          <p:cNvPr id="4" name="Shape 2"/>
          <p:cNvSpPr/>
          <p:nvPr/>
        </p:nvSpPr>
        <p:spPr>
          <a:xfrm>
            <a:off x="548640" y="1737360"/>
            <a:ext cx="5394960" cy="2651760"/>
          </a:xfrm>
          <a:prstGeom prst="roundRect">
            <a:avLst>
              <a:gd name="adj" fmla="val 310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01952"/>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La idea de fondo</a:t>
            </a:r>
            <a:endParaRPr lang="en-US" sz="1400" dirty="0"/>
          </a:p>
        </p:txBody>
      </p:sp>
      <p:sp>
        <p:nvSpPr>
          <p:cNvPr id="6" name="Text 4"/>
          <p:cNvSpPr/>
          <p:nvPr/>
        </p:nvSpPr>
        <p:spPr>
          <a:xfrm>
            <a:off x="868680" y="2286000"/>
            <a:ext cx="4754880" cy="19202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Un análisis no se comunica solo con su código, ni solo con sus resultados. Se comunica con el razonamiento que los une.</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notebook materializa esa idea: el texto explica, el código ejecuta y la salida evidencia, en un mismo documento y en el mismo orden en que ocurrió el pensamiento.</a:t>
            </a:r>
            <a:endParaRPr lang="en-US" sz="1300" dirty="0"/>
          </a:p>
        </p:txBody>
      </p:sp>
      <p:sp>
        <p:nvSpPr>
          <p:cNvPr id="7" name="Shape 5"/>
          <p:cNvSpPr/>
          <p:nvPr/>
        </p:nvSpPr>
        <p:spPr>
          <a:xfrm>
            <a:off x="6217920" y="1737360"/>
            <a:ext cx="5394960" cy="2651760"/>
          </a:xfrm>
          <a:prstGeom prst="roundRect">
            <a:avLst>
              <a:gd name="adj" fmla="val 3103"/>
            </a:avLst>
          </a:prstGeom>
          <a:solidFill>
            <a:srgbClr val="0A1526"/>
          </a:solidFill>
          <a:ln w="12700">
            <a:solidFill>
              <a:srgbClr val="0A1526"/>
            </a:solidFill>
            <a:prstDash val="solid"/>
          </a:ln>
        </p:spPr>
        <p:txBody>
          <a:bodyPr/>
          <a:lstStyle/>
          <a:p>
            <a:endParaRPr lang="es-CL"/>
          </a:p>
        </p:txBody>
      </p:sp>
      <p:sp>
        <p:nvSpPr>
          <p:cNvPr id="8" name="Text 6"/>
          <p:cNvSpPr/>
          <p:nvPr/>
        </p:nvSpPr>
        <p:spPr>
          <a:xfrm>
            <a:off x="6537960" y="1901952"/>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niveles de documentación</a:t>
            </a:r>
            <a:endParaRPr lang="en-US" sz="1400" dirty="0"/>
          </a:p>
        </p:txBody>
      </p:sp>
      <p:sp>
        <p:nvSpPr>
          <p:cNvPr id="9" name="Text 7"/>
          <p:cNvSpPr/>
          <p:nvPr/>
        </p:nvSpPr>
        <p:spPr>
          <a:xfrm>
            <a:off x="6537960" y="2377440"/>
            <a:ext cx="47548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Descriptivo</a:t>
            </a:r>
            <a:endParaRPr lang="en-US" sz="1400" dirty="0"/>
          </a:p>
        </p:txBody>
      </p:sp>
      <p:sp>
        <p:nvSpPr>
          <p:cNvPr id="10" name="Text 8"/>
          <p:cNvSpPr/>
          <p:nvPr/>
        </p:nvSpPr>
        <p:spPr>
          <a:xfrm>
            <a:off x="6537960" y="2697480"/>
            <a:ext cx="4754880" cy="54864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Registra qué se hizo. Es necesario, pero insuficiente.</a:t>
            </a:r>
            <a:endParaRPr lang="en-US" sz="1250" dirty="0"/>
          </a:p>
        </p:txBody>
      </p:sp>
      <p:sp>
        <p:nvSpPr>
          <p:cNvPr id="11" name="Text 9"/>
          <p:cNvSpPr/>
          <p:nvPr/>
        </p:nvSpPr>
        <p:spPr>
          <a:xfrm>
            <a:off x="6537960" y="3337560"/>
            <a:ext cx="47548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Justificativo</a:t>
            </a:r>
            <a:endParaRPr lang="en-US" sz="1400" dirty="0"/>
          </a:p>
        </p:txBody>
      </p:sp>
      <p:sp>
        <p:nvSpPr>
          <p:cNvPr id="12" name="Text 10"/>
          <p:cNvSpPr/>
          <p:nvPr/>
        </p:nvSpPr>
        <p:spPr>
          <a:xfrm>
            <a:off x="6537960" y="3657600"/>
            <a:ext cx="4754880" cy="54864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Registra por qué se decidió hacerlo así y qué alternativas se descartaron.</a:t>
            </a:r>
            <a:endParaRPr lang="en-US" sz="1250" dirty="0"/>
          </a:p>
        </p:txBody>
      </p:sp>
      <p:sp>
        <p:nvSpPr>
          <p:cNvPr id="13" name="Text 11"/>
          <p:cNvSpPr/>
          <p:nvPr/>
        </p:nvSpPr>
        <p:spPr>
          <a:xfrm>
            <a:off x="6537960" y="3977640"/>
            <a:ext cx="4754880" cy="32004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El nivel justificativo es el que exige el trabajo académico.</a:t>
            </a:r>
            <a:endParaRPr lang="en-US" sz="1200" dirty="0"/>
          </a:p>
        </p:txBody>
      </p:sp>
      <p:sp>
        <p:nvSpPr>
          <p:cNvPr id="14" name="Shape 12"/>
          <p:cNvSpPr/>
          <p:nvPr/>
        </p:nvSpPr>
        <p:spPr>
          <a:xfrm>
            <a:off x="548640" y="4663440"/>
            <a:ext cx="11064240" cy="1280160"/>
          </a:xfrm>
          <a:prstGeom prst="roundRect">
            <a:avLst>
              <a:gd name="adj" fmla="val 6429"/>
            </a:avLst>
          </a:prstGeom>
          <a:solidFill>
            <a:srgbClr val="F6E7E9"/>
          </a:solidFill>
          <a:ln w="12700">
            <a:solidFill>
              <a:srgbClr val="F6E7E9"/>
            </a:solidFill>
            <a:prstDash val="solid"/>
          </a:ln>
        </p:spPr>
        <p:txBody>
          <a:bodyPr/>
          <a:lstStyle/>
          <a:p>
            <a:endParaRPr lang="es-CL"/>
          </a:p>
        </p:txBody>
      </p:sp>
      <p:sp>
        <p:nvSpPr>
          <p:cNvPr id="15" name="Text 13"/>
          <p:cNvSpPr/>
          <p:nvPr/>
        </p:nvSpPr>
        <p:spPr>
          <a:xfrm>
            <a:off x="868680" y="4800600"/>
            <a:ext cx="3657600" cy="292608"/>
          </a:xfrm>
          <a:prstGeom prst="rect">
            <a:avLst/>
          </a:prstGeom>
          <a:noFill/>
          <a:ln/>
        </p:spPr>
        <p:txBody>
          <a:bodyPr wrap="square" lIns="0" tIns="0" rIns="0" bIns="0" rtlCol="0" anchor="ctr"/>
          <a:lstStyle/>
          <a:p>
            <a:pPr marL="0" indent="0">
              <a:buNone/>
            </a:pPr>
            <a:r>
              <a:rPr lang="en-US" sz="1350" b="1" dirty="0">
                <a:solidFill>
                  <a:srgbClr val="AC212E"/>
                </a:solidFill>
                <a:latin typeface="Calibri" pitchFamily="34" charset="0"/>
                <a:ea typeface="Calibri" pitchFamily="34" charset="-122"/>
                <a:cs typeface="Calibri" pitchFamily="34" charset="-120"/>
              </a:rPr>
              <a:t>Ejemplo de la diferencia</a:t>
            </a:r>
            <a:endParaRPr lang="en-US" sz="1350" dirty="0"/>
          </a:p>
        </p:txBody>
      </p:sp>
      <p:sp>
        <p:nvSpPr>
          <p:cNvPr id="16" name="Text 14"/>
          <p:cNvSpPr/>
          <p:nvPr/>
        </p:nvSpPr>
        <p:spPr>
          <a:xfrm>
            <a:off x="868680" y="5138928"/>
            <a:ext cx="10424160" cy="64008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«Se imputó la mediana» describe.   |   «Se imputó la mediana porque el 9% de los valores falta y la variable presenta valores extremos que desplazarían la media» justifica.</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Buenas prácticas de software científico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contenidos de la unidad temática 1, leídos como principios y no como sintaxis.</a:t>
            </a:r>
            <a:endParaRPr lang="en-US" sz="1400" dirty="0"/>
          </a:p>
        </p:txBody>
      </p:sp>
      <p:sp>
        <p:nvSpPr>
          <p:cNvPr id="4" name="Shape 2"/>
          <p:cNvSpPr/>
          <p:nvPr/>
        </p:nvSpPr>
        <p:spPr>
          <a:xfrm>
            <a:off x="548640" y="178308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11680"/>
            <a:ext cx="438912" cy="438912"/>
          </a:xfrm>
          <a:prstGeom prst="ellipse">
            <a:avLst/>
          </a:prstGeom>
          <a:solidFill>
            <a:srgbClr val="AC212E"/>
          </a:solidFill>
          <a:ln/>
        </p:spPr>
        <p:txBody>
          <a:bodyPr/>
          <a:lstStyle/>
          <a:p>
            <a:endParaRPr lang="es-CL"/>
          </a:p>
        </p:txBody>
      </p:sp>
      <p:sp>
        <p:nvSpPr>
          <p:cNvPr id="6" name="Text 4"/>
          <p:cNvSpPr/>
          <p:nvPr/>
        </p:nvSpPr>
        <p:spPr>
          <a:xfrm>
            <a:off x="804672" y="201168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04672" y="2606040"/>
            <a:ext cx="3017520" cy="384048"/>
          </a:xfrm>
          <a:prstGeom prst="rect">
            <a:avLst/>
          </a:prstGeom>
          <a:noFill/>
          <a:ln/>
        </p:spPr>
        <p:txBody>
          <a:bodyPr wrap="square" lIns="0" tIns="0" rIns="0" bIns="0" rtlCol="0" anchor="ctr"/>
          <a:lstStyle/>
          <a:p>
            <a:pPr marL="0" indent="0">
              <a:buNone/>
            </a:pPr>
            <a:r>
              <a:rPr lang="en-US" sz="1900" b="1" dirty="0">
                <a:solidFill>
                  <a:srgbClr val="06304A"/>
                </a:solidFill>
                <a:latin typeface="Cambria" pitchFamily="34" charset="0"/>
                <a:ea typeface="Cambria" pitchFamily="34" charset="-122"/>
                <a:cs typeface="Cambria" pitchFamily="34" charset="-120"/>
              </a:rPr>
              <a:t>Funciones</a:t>
            </a:r>
            <a:endParaRPr lang="en-US" sz="1900" dirty="0"/>
          </a:p>
        </p:txBody>
      </p:sp>
      <p:sp>
        <p:nvSpPr>
          <p:cNvPr id="8" name="Text 6"/>
          <p:cNvSpPr/>
          <p:nvPr/>
        </p:nvSpPr>
        <p:spPr>
          <a:xfrm>
            <a:off x="804672" y="3017520"/>
            <a:ext cx="3017520" cy="731520"/>
          </a:xfrm>
          <a:prstGeom prst="rect">
            <a:avLst/>
          </a:prstGeom>
          <a:noFill/>
          <a:ln/>
        </p:spPr>
        <p:txBody>
          <a:bodyPr wrap="square" lIns="0" tIns="0" rIns="0" bIns="0" rtlCol="0" anchor="ctr"/>
          <a:lstStyle/>
          <a:p>
            <a:pPr marL="0" indent="0">
              <a:lnSpc>
                <a:spcPts val="1700"/>
              </a:lnSpc>
              <a:buNone/>
            </a:pPr>
            <a:r>
              <a:rPr lang="en-US" sz="1300" b="1" dirty="0">
                <a:solidFill>
                  <a:srgbClr val="AC212E"/>
                </a:solidFill>
                <a:latin typeface="Calibri" pitchFamily="34" charset="0"/>
                <a:ea typeface="Calibri" pitchFamily="34" charset="-122"/>
                <a:cs typeface="Calibri" pitchFamily="34" charset="-120"/>
              </a:rPr>
              <a:t>Encapsular una tarea con entradas y salidas explícitas.</a:t>
            </a:r>
            <a:endParaRPr lang="en-US" sz="1300" dirty="0"/>
          </a:p>
        </p:txBody>
      </p:sp>
      <p:sp>
        <p:nvSpPr>
          <p:cNvPr id="9" name="Text 7"/>
          <p:cNvSpPr/>
          <p:nvPr/>
        </p:nvSpPr>
        <p:spPr>
          <a:xfrm>
            <a:off x="804672" y="37947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Un análisis escrito como una sucesión de celdas sueltas no se puede reutilizar ni verificar por partes.</a:t>
            </a:r>
            <a:endParaRPr lang="en-US" sz="1200" dirty="0"/>
          </a:p>
        </p:txBody>
      </p:sp>
      <p:sp>
        <p:nvSpPr>
          <p:cNvPr id="10" name="Shape 8"/>
          <p:cNvSpPr/>
          <p:nvPr/>
        </p:nvSpPr>
        <p:spPr>
          <a:xfrm>
            <a:off x="4325112" y="178308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4581144" y="2011680"/>
            <a:ext cx="438912" cy="438912"/>
          </a:xfrm>
          <a:prstGeom prst="ellipse">
            <a:avLst/>
          </a:prstGeom>
          <a:solidFill>
            <a:srgbClr val="AC212E"/>
          </a:solidFill>
          <a:ln/>
        </p:spPr>
        <p:txBody>
          <a:bodyPr/>
          <a:lstStyle/>
          <a:p>
            <a:endParaRPr lang="es-CL"/>
          </a:p>
        </p:txBody>
      </p:sp>
      <p:sp>
        <p:nvSpPr>
          <p:cNvPr id="12" name="Text 10"/>
          <p:cNvSpPr/>
          <p:nvPr/>
        </p:nvSpPr>
        <p:spPr>
          <a:xfrm>
            <a:off x="4581144" y="201168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4581144" y="2606040"/>
            <a:ext cx="3017520" cy="384048"/>
          </a:xfrm>
          <a:prstGeom prst="rect">
            <a:avLst/>
          </a:prstGeom>
          <a:noFill/>
          <a:ln/>
        </p:spPr>
        <p:txBody>
          <a:bodyPr wrap="square" lIns="0" tIns="0" rIns="0" bIns="0" rtlCol="0" anchor="ctr"/>
          <a:lstStyle/>
          <a:p>
            <a:pPr marL="0" indent="0">
              <a:buNone/>
            </a:pPr>
            <a:r>
              <a:rPr lang="en-US" sz="1900" b="1" dirty="0">
                <a:solidFill>
                  <a:srgbClr val="06304A"/>
                </a:solidFill>
                <a:latin typeface="Cambria" pitchFamily="34" charset="0"/>
                <a:ea typeface="Cambria" pitchFamily="34" charset="-122"/>
                <a:cs typeface="Cambria" pitchFamily="34" charset="-120"/>
              </a:rPr>
              <a:t>Módulos</a:t>
            </a:r>
            <a:endParaRPr lang="en-US" sz="1900" dirty="0"/>
          </a:p>
        </p:txBody>
      </p:sp>
      <p:sp>
        <p:nvSpPr>
          <p:cNvPr id="14" name="Text 12"/>
          <p:cNvSpPr/>
          <p:nvPr/>
        </p:nvSpPr>
        <p:spPr>
          <a:xfrm>
            <a:off x="4581144" y="3017520"/>
            <a:ext cx="3017520" cy="731520"/>
          </a:xfrm>
          <a:prstGeom prst="rect">
            <a:avLst/>
          </a:prstGeom>
          <a:noFill/>
          <a:ln/>
        </p:spPr>
        <p:txBody>
          <a:bodyPr wrap="square" lIns="0" tIns="0" rIns="0" bIns="0" rtlCol="0" anchor="ctr"/>
          <a:lstStyle/>
          <a:p>
            <a:pPr marL="0" indent="0">
              <a:lnSpc>
                <a:spcPts val="1700"/>
              </a:lnSpc>
              <a:buNone/>
            </a:pPr>
            <a:r>
              <a:rPr lang="en-US" sz="1300" b="1" dirty="0">
                <a:solidFill>
                  <a:srgbClr val="AC212E"/>
                </a:solidFill>
                <a:latin typeface="Calibri" pitchFamily="34" charset="0"/>
                <a:ea typeface="Calibri" pitchFamily="34" charset="-122"/>
                <a:cs typeface="Calibri" pitchFamily="34" charset="-120"/>
              </a:rPr>
              <a:t>Separar el código reutilizable del documento narrativo.</a:t>
            </a:r>
            <a:endParaRPr lang="en-US" sz="1300" dirty="0"/>
          </a:p>
        </p:txBody>
      </p:sp>
      <p:sp>
        <p:nvSpPr>
          <p:cNvPr id="15" name="Text 13"/>
          <p:cNvSpPr/>
          <p:nvPr/>
        </p:nvSpPr>
        <p:spPr>
          <a:xfrm>
            <a:off x="4581144" y="37947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Lo que se usa en varias etapas vive en un archivo propio, no copiado tres veces.</a:t>
            </a:r>
            <a:endParaRPr lang="en-US" sz="1200" dirty="0"/>
          </a:p>
        </p:txBody>
      </p:sp>
      <p:sp>
        <p:nvSpPr>
          <p:cNvPr id="16" name="Shape 14"/>
          <p:cNvSpPr/>
          <p:nvPr/>
        </p:nvSpPr>
        <p:spPr>
          <a:xfrm>
            <a:off x="8101584" y="178308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8357616" y="2011680"/>
            <a:ext cx="438912" cy="438912"/>
          </a:xfrm>
          <a:prstGeom prst="ellipse">
            <a:avLst/>
          </a:prstGeom>
          <a:solidFill>
            <a:srgbClr val="AC212E"/>
          </a:solidFill>
          <a:ln/>
        </p:spPr>
        <p:txBody>
          <a:bodyPr/>
          <a:lstStyle/>
          <a:p>
            <a:endParaRPr lang="es-CL"/>
          </a:p>
        </p:txBody>
      </p:sp>
      <p:sp>
        <p:nvSpPr>
          <p:cNvPr id="18" name="Text 16"/>
          <p:cNvSpPr/>
          <p:nvPr/>
        </p:nvSpPr>
        <p:spPr>
          <a:xfrm>
            <a:off x="8357616" y="2011680"/>
            <a:ext cx="438912"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357616" y="2606040"/>
            <a:ext cx="3017520" cy="384048"/>
          </a:xfrm>
          <a:prstGeom prst="rect">
            <a:avLst/>
          </a:prstGeom>
          <a:noFill/>
          <a:ln/>
        </p:spPr>
        <p:txBody>
          <a:bodyPr wrap="square" lIns="0" tIns="0" rIns="0" bIns="0" rtlCol="0" anchor="ctr"/>
          <a:lstStyle/>
          <a:p>
            <a:pPr marL="0" indent="0">
              <a:buNone/>
            </a:pPr>
            <a:r>
              <a:rPr lang="en-US" sz="1900" b="1" dirty="0">
                <a:solidFill>
                  <a:srgbClr val="06304A"/>
                </a:solidFill>
                <a:latin typeface="Cambria" pitchFamily="34" charset="0"/>
                <a:ea typeface="Cambria" pitchFamily="34" charset="-122"/>
                <a:cs typeface="Cambria" pitchFamily="34" charset="-120"/>
              </a:rPr>
              <a:t>Excepciones</a:t>
            </a:r>
            <a:endParaRPr lang="en-US" sz="1900" dirty="0"/>
          </a:p>
        </p:txBody>
      </p:sp>
      <p:sp>
        <p:nvSpPr>
          <p:cNvPr id="20" name="Text 18"/>
          <p:cNvSpPr/>
          <p:nvPr/>
        </p:nvSpPr>
        <p:spPr>
          <a:xfrm>
            <a:off x="8357616" y="3017520"/>
            <a:ext cx="3017520" cy="731520"/>
          </a:xfrm>
          <a:prstGeom prst="rect">
            <a:avLst/>
          </a:prstGeom>
          <a:noFill/>
          <a:ln/>
        </p:spPr>
        <p:txBody>
          <a:bodyPr wrap="square" lIns="0" tIns="0" rIns="0" bIns="0" rtlCol="0" anchor="ctr"/>
          <a:lstStyle/>
          <a:p>
            <a:pPr marL="0" indent="0">
              <a:lnSpc>
                <a:spcPts val="1700"/>
              </a:lnSpc>
              <a:buNone/>
            </a:pPr>
            <a:r>
              <a:rPr lang="en-US" sz="1300" b="1" dirty="0">
                <a:solidFill>
                  <a:srgbClr val="AC212E"/>
                </a:solidFill>
                <a:latin typeface="Calibri" pitchFamily="34" charset="0"/>
                <a:ea typeface="Calibri" pitchFamily="34" charset="-122"/>
                <a:cs typeface="Calibri" pitchFamily="34" charset="-120"/>
              </a:rPr>
              <a:t>Prever y gestionar lo que puede fallar.</a:t>
            </a:r>
            <a:endParaRPr lang="en-US" sz="1300" dirty="0"/>
          </a:p>
        </p:txBody>
      </p:sp>
      <p:sp>
        <p:nvSpPr>
          <p:cNvPr id="21" name="Text 19"/>
          <p:cNvSpPr/>
          <p:nvPr/>
        </p:nvSpPr>
        <p:spPr>
          <a:xfrm>
            <a:off x="8357616" y="3794760"/>
            <a:ext cx="3017520" cy="105156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Los datos reales traen valores anómalos: el código debe decidir qué hacer con ellos, no detenerse.</a:t>
            </a:r>
            <a:endParaRPr lang="en-US" sz="1200" dirty="0"/>
          </a:p>
        </p:txBody>
      </p:sp>
      <p:sp>
        <p:nvSpPr>
          <p:cNvPr id="22" name="Shape 20"/>
          <p:cNvSpPr/>
          <p:nvPr/>
        </p:nvSpPr>
        <p:spPr>
          <a:xfrm>
            <a:off x="548640" y="5212080"/>
            <a:ext cx="11064240" cy="777240"/>
          </a:xfrm>
          <a:prstGeom prst="roundRect">
            <a:avLst>
              <a:gd name="adj" fmla="val 10588"/>
            </a:avLst>
          </a:prstGeom>
          <a:solidFill>
            <a:srgbClr val="0A1526"/>
          </a:solidFill>
          <a:ln w="12700">
            <a:solidFill>
              <a:srgbClr val="0A1526"/>
            </a:solidFill>
            <a:prstDash val="solid"/>
          </a:ln>
        </p:spPr>
        <p:txBody>
          <a:bodyPr/>
          <a:lstStyle/>
          <a:p>
            <a:endParaRPr lang="es-CL"/>
          </a:p>
        </p:txBody>
      </p:sp>
      <p:sp>
        <p:nvSpPr>
          <p:cNvPr id="23" name="Text 21"/>
          <p:cNvSpPr/>
          <p:nvPr/>
        </p:nvSpPr>
        <p:spPr>
          <a:xfrm>
            <a:off x="868680" y="5212080"/>
            <a:ext cx="10424160" cy="77724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El principio común: un programa científico se escribe para ser leído, revisado y ejecutado por otros, no solo por quien lo escribió.</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El mapa conceptual como instrumento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No es un resumen ilustrado: es una representación de relaciones entre conceptos.</a:t>
            </a:r>
            <a:endParaRPr lang="en-US" sz="1400" dirty="0"/>
          </a:p>
        </p:txBody>
      </p:sp>
      <p:sp>
        <p:nvSpPr>
          <p:cNvPr id="4" name="Shape 2"/>
          <p:cNvSpPr/>
          <p:nvPr/>
        </p:nvSpPr>
        <p:spPr>
          <a:xfrm>
            <a:off x="548640" y="178308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5" name="Shape 3"/>
          <p:cNvSpPr/>
          <p:nvPr/>
        </p:nvSpPr>
        <p:spPr>
          <a:xfrm>
            <a:off x="804672" y="2130552"/>
            <a:ext cx="420624" cy="420624"/>
          </a:xfrm>
          <a:prstGeom prst="ellipse">
            <a:avLst/>
          </a:prstGeom>
          <a:solidFill>
            <a:srgbClr val="AC212E"/>
          </a:solidFill>
          <a:ln/>
        </p:spPr>
        <p:txBody>
          <a:bodyPr/>
          <a:lstStyle/>
          <a:p>
            <a:endParaRPr lang="es-CL"/>
          </a:p>
        </p:txBody>
      </p:sp>
      <p:sp>
        <p:nvSpPr>
          <p:cNvPr id="6" name="Text 4"/>
          <p:cNvSpPr/>
          <p:nvPr/>
        </p:nvSpPr>
        <p:spPr>
          <a:xfrm>
            <a:off x="804672" y="21305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94767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Conceptos</a:t>
            </a:r>
            <a:endParaRPr lang="en-US" sz="1500" dirty="0"/>
          </a:p>
        </p:txBody>
      </p:sp>
      <p:sp>
        <p:nvSpPr>
          <p:cNvPr id="8" name="Text 6"/>
          <p:cNvSpPr/>
          <p:nvPr/>
        </p:nvSpPr>
        <p:spPr>
          <a:xfrm>
            <a:off x="1371600" y="228600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Las ideas, en nodos. Sustantivos, no frases.</a:t>
            </a:r>
            <a:endParaRPr lang="en-US" sz="1250" dirty="0"/>
          </a:p>
        </p:txBody>
      </p:sp>
      <p:sp>
        <p:nvSpPr>
          <p:cNvPr id="9" name="Shape 7"/>
          <p:cNvSpPr/>
          <p:nvPr/>
        </p:nvSpPr>
        <p:spPr>
          <a:xfrm>
            <a:off x="6309360" y="178308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10" name="Shape 8"/>
          <p:cNvSpPr/>
          <p:nvPr/>
        </p:nvSpPr>
        <p:spPr>
          <a:xfrm>
            <a:off x="6565392" y="2130552"/>
            <a:ext cx="420624" cy="420624"/>
          </a:xfrm>
          <a:prstGeom prst="ellipse">
            <a:avLst/>
          </a:prstGeom>
          <a:solidFill>
            <a:srgbClr val="AC212E"/>
          </a:solidFill>
          <a:ln/>
        </p:spPr>
        <p:txBody>
          <a:bodyPr/>
          <a:lstStyle/>
          <a:p>
            <a:endParaRPr lang="es-CL"/>
          </a:p>
        </p:txBody>
      </p:sp>
      <p:sp>
        <p:nvSpPr>
          <p:cNvPr id="11" name="Text 9"/>
          <p:cNvSpPr/>
          <p:nvPr/>
        </p:nvSpPr>
        <p:spPr>
          <a:xfrm>
            <a:off x="6565392" y="21305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32320" y="194767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Conectores</a:t>
            </a:r>
            <a:endParaRPr lang="en-US" sz="1500" dirty="0"/>
          </a:p>
        </p:txBody>
      </p:sp>
      <p:sp>
        <p:nvSpPr>
          <p:cNvPr id="13" name="Text 11"/>
          <p:cNvSpPr/>
          <p:nvPr/>
        </p:nvSpPr>
        <p:spPr>
          <a:xfrm>
            <a:off x="7132320" y="228600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Las líneas que unen. Llevan una relación explícita.</a:t>
            </a:r>
            <a:endParaRPr lang="en-US" sz="1250" dirty="0"/>
          </a:p>
        </p:txBody>
      </p:sp>
      <p:sp>
        <p:nvSpPr>
          <p:cNvPr id="14" name="Shape 12"/>
          <p:cNvSpPr/>
          <p:nvPr/>
        </p:nvSpPr>
        <p:spPr>
          <a:xfrm>
            <a:off x="548640" y="310896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15" name="Shape 13"/>
          <p:cNvSpPr/>
          <p:nvPr/>
        </p:nvSpPr>
        <p:spPr>
          <a:xfrm>
            <a:off x="804672" y="3456432"/>
            <a:ext cx="420624" cy="420624"/>
          </a:xfrm>
          <a:prstGeom prst="ellipse">
            <a:avLst/>
          </a:prstGeom>
          <a:solidFill>
            <a:srgbClr val="AC212E"/>
          </a:solidFill>
          <a:ln/>
        </p:spPr>
        <p:txBody>
          <a:bodyPr/>
          <a:lstStyle/>
          <a:p>
            <a:endParaRPr lang="es-CL"/>
          </a:p>
        </p:txBody>
      </p:sp>
      <p:sp>
        <p:nvSpPr>
          <p:cNvPr id="16" name="Text 14"/>
          <p:cNvSpPr/>
          <p:nvPr/>
        </p:nvSpPr>
        <p:spPr>
          <a:xfrm>
            <a:off x="804672" y="3456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71600" y="327355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Proposiciones</a:t>
            </a:r>
            <a:endParaRPr lang="en-US" sz="1500" dirty="0"/>
          </a:p>
        </p:txBody>
      </p:sp>
      <p:sp>
        <p:nvSpPr>
          <p:cNvPr id="18" name="Text 16"/>
          <p:cNvSpPr/>
          <p:nvPr/>
        </p:nvSpPr>
        <p:spPr>
          <a:xfrm>
            <a:off x="1371600" y="361188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Concepto + conector + concepto forman una afirmación.</a:t>
            </a:r>
            <a:endParaRPr lang="en-US" sz="1250" dirty="0"/>
          </a:p>
        </p:txBody>
      </p:sp>
      <p:sp>
        <p:nvSpPr>
          <p:cNvPr id="19" name="Shape 17"/>
          <p:cNvSpPr/>
          <p:nvPr/>
        </p:nvSpPr>
        <p:spPr>
          <a:xfrm>
            <a:off x="6309360" y="3108960"/>
            <a:ext cx="530352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20" name="Shape 18"/>
          <p:cNvSpPr/>
          <p:nvPr/>
        </p:nvSpPr>
        <p:spPr>
          <a:xfrm>
            <a:off x="6565392" y="3456432"/>
            <a:ext cx="420624" cy="420624"/>
          </a:xfrm>
          <a:prstGeom prst="ellipse">
            <a:avLst/>
          </a:prstGeom>
          <a:solidFill>
            <a:srgbClr val="AC212E"/>
          </a:solidFill>
          <a:ln/>
        </p:spPr>
        <p:txBody>
          <a:bodyPr/>
          <a:lstStyle/>
          <a:p>
            <a:endParaRPr lang="es-CL"/>
          </a:p>
        </p:txBody>
      </p:sp>
      <p:sp>
        <p:nvSpPr>
          <p:cNvPr id="21" name="Text 19"/>
          <p:cNvSpPr/>
          <p:nvPr/>
        </p:nvSpPr>
        <p:spPr>
          <a:xfrm>
            <a:off x="6565392" y="34564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32320" y="3273552"/>
            <a:ext cx="429768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Jerarquía</a:t>
            </a:r>
            <a:endParaRPr lang="en-US" sz="1500" dirty="0"/>
          </a:p>
        </p:txBody>
      </p:sp>
      <p:sp>
        <p:nvSpPr>
          <p:cNvPr id="23" name="Text 21"/>
          <p:cNvSpPr/>
          <p:nvPr/>
        </p:nvSpPr>
        <p:spPr>
          <a:xfrm>
            <a:off x="7132320" y="3611880"/>
            <a:ext cx="4297680" cy="5029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Lo general arriba, lo específico abajo o hacia fuera.</a:t>
            </a:r>
            <a:endParaRPr lang="en-US" sz="1250" dirty="0"/>
          </a:p>
        </p:txBody>
      </p:sp>
      <p:sp>
        <p:nvSpPr>
          <p:cNvPr id="24" name="Shape 22"/>
          <p:cNvSpPr/>
          <p:nvPr/>
        </p:nvSpPr>
        <p:spPr>
          <a:xfrm>
            <a:off x="548640" y="4526280"/>
            <a:ext cx="11064240" cy="1371600"/>
          </a:xfrm>
          <a:prstGeom prst="roundRect">
            <a:avLst>
              <a:gd name="adj" fmla="val 6000"/>
            </a:avLst>
          </a:prstGeom>
          <a:solidFill>
            <a:srgbClr val="12203A"/>
          </a:solidFill>
          <a:ln w="12700">
            <a:solidFill>
              <a:srgbClr val="12203A"/>
            </a:solidFill>
            <a:prstDash val="solid"/>
          </a:ln>
        </p:spPr>
        <p:txBody>
          <a:bodyPr/>
          <a:lstStyle/>
          <a:p>
            <a:endParaRPr lang="es-CL"/>
          </a:p>
        </p:txBody>
      </p:sp>
      <p:sp>
        <p:nvSpPr>
          <p:cNvPr id="25" name="Text 23"/>
          <p:cNvSpPr/>
          <p:nvPr/>
        </p:nvSpPr>
        <p:spPr>
          <a:xfrm>
            <a:off x="868680" y="4681728"/>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La prueba de un buen conector</a:t>
            </a:r>
            <a:endParaRPr lang="en-US" sz="1400" dirty="0"/>
          </a:p>
        </p:txBody>
      </p:sp>
      <p:sp>
        <p:nvSpPr>
          <p:cNvPr id="26" name="Text 24"/>
          <p:cNvSpPr/>
          <p:nvPr/>
        </p:nvSpPr>
        <p:spPr>
          <a:xfrm>
            <a:off x="868680" y="5029200"/>
            <a:ext cx="10424160" cy="77724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Una flecha sin etiqueta no dice nada. «Git ——→ GitHub» es ambiguo; «Git ——sincroniza con——→ GitHub» es una proposición verificable. Si al leer una flecha en voz alta no resulta una frase con sentido, esa relación todavía no está definida.</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Del concepto a la evidencia evaluada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concepto teórico se manifiesta en algo concreto del proyecto.</a:t>
            </a:r>
            <a:endParaRPr lang="en-US" sz="1400" dirty="0"/>
          </a:p>
        </p:txBody>
      </p:sp>
      <p:graphicFrame>
        <p:nvGraphicFramePr>
          <p:cNvPr id="13" name="Table 0"/>
          <p:cNvGraphicFramePr>
            <a:graphicFrameLocks noGrp="1"/>
          </p:cNvGraphicFramePr>
          <p:nvPr/>
        </p:nvGraphicFramePr>
        <p:xfrm>
          <a:off x="548640" y="1737360"/>
          <a:ext cx="11064240" cy="3182112"/>
        </p:xfrm>
        <a:graphic>
          <a:graphicData uri="http://schemas.openxmlformats.org/drawingml/2006/table">
            <a:tbl>
              <a:tblPr/>
              <a:tblGrid>
                <a:gridCol w="365760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3035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Concepto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Evidencia en el proyecto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Indicador</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Contexto problematizador</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Problema y dataset declarados y acotados</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1.1</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Ciclo de vida del dato</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Secuencia de etapas representada en el mapa</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1.1</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Reproducibilidad</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Entorno, dependencias y ejecución verificable</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1.2</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Trazabilidad</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Historial de cambios con autoría identificable</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1.2</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0352">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Documentación científica</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Código, narrativa y referencias articulados</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50" dirty="0">
                          <a:solidFill>
                            <a:srgbClr val="06304A"/>
                          </a:solidFill>
                          <a:latin typeface="Calibri" pitchFamily="34" charset="0"/>
                          <a:ea typeface="Calibri" pitchFamily="34" charset="-122"/>
                          <a:cs typeface="Calibri" pitchFamily="34" charset="-120"/>
                        </a:rPr>
                        <a:t>ID 1.3</a:t>
                      </a:r>
                      <a:endParaRPr lang="en-US" sz="12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48640" y="5257800"/>
            <a:ext cx="11064240" cy="731520"/>
          </a:xfrm>
          <a:prstGeom prst="roundRect">
            <a:avLst>
              <a:gd name="adj" fmla="val 11250"/>
            </a:avLst>
          </a:prstGeom>
          <a:solidFill>
            <a:srgbClr val="0A1526"/>
          </a:solidFill>
          <a:ln w="12700">
            <a:solidFill>
              <a:srgbClr val="0A1526"/>
            </a:solidFill>
            <a:prstDash val="solid"/>
          </a:ln>
        </p:spPr>
        <p:txBody>
          <a:bodyPr/>
          <a:lstStyle/>
          <a:p>
            <a:endParaRPr lang="es-CL"/>
          </a:p>
        </p:txBody>
      </p:sp>
      <p:sp>
        <p:nvSpPr>
          <p:cNvPr id="6" name="Text 3"/>
          <p:cNvSpPr/>
          <p:nvPr/>
        </p:nvSpPr>
        <p:spPr>
          <a:xfrm>
            <a:off x="868680" y="5257800"/>
            <a:ext cx="10424160" cy="7315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Los conceptos no se evalúan preguntando su definición: se evalúan observando si el trabajo los aplica.</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Compruebe su comprensión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Si puede responder estas seis preguntas, tiene la base conceptual para elaborar el mapa.</a:t>
            </a:r>
            <a:endParaRPr lang="en-US" sz="1400" dirty="0"/>
          </a:p>
        </p:txBody>
      </p:sp>
      <p:sp>
        <p:nvSpPr>
          <p:cNvPr id="4" name="Shape 2"/>
          <p:cNvSpPr/>
          <p:nvPr/>
        </p:nvSpPr>
        <p:spPr>
          <a:xfrm>
            <a:off x="54864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112264"/>
            <a:ext cx="402336" cy="402336"/>
          </a:xfrm>
          <a:prstGeom prst="ellipse">
            <a:avLst/>
          </a:prstGeom>
          <a:solidFill>
            <a:srgbClr val="AC212E"/>
          </a:solidFill>
          <a:ln/>
        </p:spPr>
        <p:txBody>
          <a:bodyPr/>
          <a:lstStyle/>
          <a:p>
            <a:endParaRPr lang="es-CL"/>
          </a:p>
        </p:txBody>
      </p:sp>
      <p:sp>
        <p:nvSpPr>
          <p:cNvPr id="6" name="Text 4"/>
          <p:cNvSpPr/>
          <p:nvPr/>
        </p:nvSpPr>
        <p:spPr>
          <a:xfrm>
            <a:off x="804672" y="211226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¿Por qué una situación no equivale todavía a una pregunta analizable?</a:t>
            </a:r>
            <a:endParaRPr lang="en-US" sz="1300" dirty="0"/>
          </a:p>
        </p:txBody>
      </p:sp>
      <p:sp>
        <p:nvSpPr>
          <p:cNvPr id="8" name="Shape 6"/>
          <p:cNvSpPr/>
          <p:nvPr/>
        </p:nvSpPr>
        <p:spPr>
          <a:xfrm>
            <a:off x="630936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9" name="Shape 7"/>
          <p:cNvSpPr/>
          <p:nvPr/>
        </p:nvSpPr>
        <p:spPr>
          <a:xfrm>
            <a:off x="6565392" y="2112264"/>
            <a:ext cx="402336" cy="402336"/>
          </a:xfrm>
          <a:prstGeom prst="ellipse">
            <a:avLst/>
          </a:prstGeom>
          <a:solidFill>
            <a:srgbClr val="AC212E"/>
          </a:solidFill>
          <a:ln/>
        </p:spPr>
        <p:txBody>
          <a:bodyPr/>
          <a:lstStyle/>
          <a:p>
            <a:endParaRPr lang="es-CL"/>
          </a:p>
        </p:txBody>
      </p:sp>
      <p:sp>
        <p:nvSpPr>
          <p:cNvPr id="10" name="Text 8"/>
          <p:cNvSpPr/>
          <p:nvPr/>
        </p:nvSpPr>
        <p:spPr>
          <a:xfrm>
            <a:off x="6565392" y="211226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713232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¿Qué diferencia hay entre reproducibilidad y replicabilidad?</a:t>
            </a:r>
            <a:endParaRPr lang="en-US" sz="1300" dirty="0"/>
          </a:p>
        </p:txBody>
      </p:sp>
      <p:sp>
        <p:nvSpPr>
          <p:cNvPr id="12" name="Shape 10"/>
          <p:cNvSpPr/>
          <p:nvPr/>
        </p:nvSpPr>
        <p:spPr>
          <a:xfrm>
            <a:off x="54864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3" name="Shape 11"/>
          <p:cNvSpPr/>
          <p:nvPr/>
        </p:nvSpPr>
        <p:spPr>
          <a:xfrm>
            <a:off x="804672" y="3410712"/>
            <a:ext cx="402336" cy="402336"/>
          </a:xfrm>
          <a:prstGeom prst="ellipse">
            <a:avLst/>
          </a:prstGeom>
          <a:solidFill>
            <a:srgbClr val="AC212E"/>
          </a:solidFill>
          <a:ln/>
        </p:spPr>
        <p:txBody>
          <a:bodyPr/>
          <a:lstStyle/>
          <a:p>
            <a:endParaRPr lang="es-CL"/>
          </a:p>
        </p:txBody>
      </p:sp>
      <p:sp>
        <p:nvSpPr>
          <p:cNvPr id="14" name="Text 12"/>
          <p:cNvSpPr/>
          <p:nvPr/>
        </p:nvSpPr>
        <p:spPr>
          <a:xfrm>
            <a:off x="804672" y="34107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37160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¿Puede un trabajo ser reproducible y no trazable? ¿Y al revés?</a:t>
            </a:r>
            <a:endParaRPr lang="en-US" sz="1300" dirty="0"/>
          </a:p>
        </p:txBody>
      </p:sp>
      <p:sp>
        <p:nvSpPr>
          <p:cNvPr id="16" name="Shape 14"/>
          <p:cNvSpPr/>
          <p:nvPr/>
        </p:nvSpPr>
        <p:spPr>
          <a:xfrm>
            <a:off x="630936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6565392" y="3410712"/>
            <a:ext cx="402336" cy="402336"/>
          </a:xfrm>
          <a:prstGeom prst="ellipse">
            <a:avLst/>
          </a:prstGeom>
          <a:solidFill>
            <a:srgbClr val="AC212E"/>
          </a:solidFill>
          <a:ln/>
        </p:spPr>
        <p:txBody>
          <a:bodyPr/>
          <a:lstStyle/>
          <a:p>
            <a:endParaRPr lang="es-CL"/>
          </a:p>
        </p:txBody>
      </p:sp>
      <p:sp>
        <p:nvSpPr>
          <p:cNvPr id="18" name="Text 16"/>
          <p:cNvSpPr/>
          <p:nvPr/>
        </p:nvSpPr>
        <p:spPr>
          <a:xfrm>
            <a:off x="6565392" y="341071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713232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¿Qué distingue documentar «qué se hizo» de documentar «por qué se hizo»?</a:t>
            </a:r>
            <a:endParaRPr lang="en-US" sz="1300" dirty="0"/>
          </a:p>
        </p:txBody>
      </p:sp>
      <p:sp>
        <p:nvSpPr>
          <p:cNvPr id="20" name="Shape 18"/>
          <p:cNvSpPr/>
          <p:nvPr/>
        </p:nvSpPr>
        <p:spPr>
          <a:xfrm>
            <a:off x="54864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1" name="Shape 19"/>
          <p:cNvSpPr/>
          <p:nvPr/>
        </p:nvSpPr>
        <p:spPr>
          <a:xfrm>
            <a:off x="804672" y="4709160"/>
            <a:ext cx="402336" cy="402336"/>
          </a:xfrm>
          <a:prstGeom prst="ellipse">
            <a:avLst/>
          </a:prstGeom>
          <a:solidFill>
            <a:srgbClr val="AC212E"/>
          </a:solidFill>
          <a:ln/>
        </p:spPr>
        <p:txBody>
          <a:bodyPr/>
          <a:lstStyle/>
          <a:p>
            <a:endParaRPr lang="es-CL"/>
          </a:p>
        </p:txBody>
      </p:sp>
      <p:sp>
        <p:nvSpPr>
          <p:cNvPr id="22" name="Text 20"/>
          <p:cNvSpPr/>
          <p:nvPr/>
        </p:nvSpPr>
        <p:spPr>
          <a:xfrm>
            <a:off x="804672" y="4709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37160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¿Por qué el ciclo de vida del dato no es realmente lineal?</a:t>
            </a:r>
            <a:endParaRPr lang="en-US" sz="1300" dirty="0"/>
          </a:p>
        </p:txBody>
      </p:sp>
      <p:sp>
        <p:nvSpPr>
          <p:cNvPr id="24" name="Shape 22"/>
          <p:cNvSpPr/>
          <p:nvPr/>
        </p:nvSpPr>
        <p:spPr>
          <a:xfrm>
            <a:off x="630936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6565392" y="4709160"/>
            <a:ext cx="402336" cy="402336"/>
          </a:xfrm>
          <a:prstGeom prst="ellipse">
            <a:avLst/>
          </a:prstGeom>
          <a:solidFill>
            <a:srgbClr val="AC212E"/>
          </a:solidFill>
          <a:ln/>
        </p:spPr>
        <p:txBody>
          <a:bodyPr/>
          <a:lstStyle/>
          <a:p>
            <a:endParaRPr lang="es-CL"/>
          </a:p>
        </p:txBody>
      </p:sp>
      <p:sp>
        <p:nvSpPr>
          <p:cNvPr id="26" name="Text 24"/>
          <p:cNvSpPr/>
          <p:nvPr/>
        </p:nvSpPr>
        <p:spPr>
          <a:xfrm>
            <a:off x="6565392" y="470916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713232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¿Qué convierte una flecha de su mapa en una proposición verificable?</a:t>
            </a:r>
            <a:endParaRPr lang="en-US" sz="13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Estas preguntas son también un buen punto de partida para las intervenciones en el foro de reflexión de la fase.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920240"/>
            <a:ext cx="7680960" cy="594360"/>
          </a:xfrm>
          <a:prstGeom prst="rect">
            <a:avLst/>
          </a:prstGeom>
          <a:noFill/>
          <a:ln/>
        </p:spPr>
        <p:txBody>
          <a:bodyPr wrap="square" lIns="0" tIns="0" rIns="0" bIns="0" rtlCol="0" anchor="ctr"/>
          <a:lstStyle/>
          <a:p>
            <a:pPr marL="0" indent="0">
              <a:buNone/>
            </a:pPr>
            <a:r>
              <a:rPr lang="en-US" sz="3400" b="1" kern="0" spc="200" dirty="0">
                <a:solidFill>
                  <a:srgbClr val="FFFFFF"/>
                </a:solidFill>
                <a:latin typeface="Cambria" pitchFamily="34" charset="0"/>
                <a:ea typeface="Cambria" pitchFamily="34" charset="-122"/>
                <a:cs typeface="Cambria" pitchFamily="34" charset="-120"/>
              </a:rPr>
              <a:t>EL ECOSISTEMA CIENTÍFICO</a:t>
            </a:r>
            <a:endParaRPr lang="en-US" sz="3400" dirty="0"/>
          </a:p>
        </p:txBody>
      </p:sp>
      <p:sp>
        <p:nvSpPr>
          <p:cNvPr id="6" name="Text 2"/>
          <p:cNvSpPr/>
          <p:nvPr/>
        </p:nvSpPr>
        <p:spPr>
          <a:xfrm>
            <a:off x="548640" y="2606040"/>
            <a:ext cx="7680960" cy="548640"/>
          </a:xfrm>
          <a:prstGeom prst="rect">
            <a:avLst/>
          </a:prstGeom>
          <a:noFill/>
          <a:ln/>
        </p:spPr>
        <p:txBody>
          <a:bodyPr wrap="square" lIns="0" tIns="0" rIns="0" bIns="0" rtlCol="0" anchor="ctr"/>
          <a:lstStyle/>
          <a:p>
            <a:pPr marL="0" indent="0">
              <a:buNone/>
            </a:pPr>
            <a:r>
              <a:rPr lang="en-US" sz="2600" dirty="0">
                <a:solidFill>
                  <a:srgbClr val="D7E3EE"/>
                </a:solidFill>
                <a:latin typeface="Cambria" pitchFamily="34" charset="0"/>
                <a:ea typeface="Cambria" pitchFamily="34" charset="-122"/>
                <a:cs typeface="Cambria" pitchFamily="34" charset="-120"/>
              </a:rPr>
              <a:t>Python · Jupyter · Git · GitHub</a:t>
            </a:r>
            <a:endParaRPr lang="en-US" sz="2600" dirty="0"/>
          </a:p>
        </p:txBody>
      </p:sp>
      <p:sp>
        <p:nvSpPr>
          <p:cNvPr id="7" name="Shape 3"/>
          <p:cNvSpPr/>
          <p:nvPr/>
        </p:nvSpPr>
        <p:spPr>
          <a:xfrm>
            <a:off x="548640" y="333756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1188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Cuatro herramientas, una sola forma de trabajar</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Material de apoyo del proyecto transversal</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problema que este ecosistema resuelve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Casi todos hemos tenido esta carpeta.</a:t>
            </a:r>
            <a:endParaRPr lang="en-US" sz="1400" dirty="0"/>
          </a:p>
        </p:txBody>
      </p:sp>
      <p:sp>
        <p:nvSpPr>
          <p:cNvPr id="4" name="Shape 2"/>
          <p:cNvSpPr/>
          <p:nvPr/>
        </p:nvSpPr>
        <p:spPr>
          <a:xfrm>
            <a:off x="548640" y="1737360"/>
            <a:ext cx="5394960" cy="2926080"/>
          </a:xfrm>
          <a:prstGeom prst="roundRect">
            <a:avLst>
              <a:gd name="adj" fmla="val 2813"/>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2057400"/>
            <a:ext cx="4754880" cy="219456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analisis_final_v2.ipynb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analisis_final_v2_CORREGIDO.ipynb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analisis_final_ESTE_SI.ipynb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analisis_ESTE_SI_camila.ipynb</a:t>
            </a:r>
            <a:endParaRPr lang="en-US" sz="1300" dirty="0"/>
          </a:p>
          <a:p>
            <a:pPr marL="0" indent="0">
              <a:lnSpc>
                <a:spcPts val="1800"/>
              </a:lnSpc>
              <a:buNone/>
            </a:pPr>
            <a:r>
              <a:rPr lang="en-US" sz="1300" dirty="0">
                <a:solidFill>
                  <a:srgbClr val="06304A"/>
                </a:solidFill>
                <a:latin typeface="Courier New" pitchFamily="34" charset="0"/>
                <a:ea typeface="Courier New" pitchFamily="34" charset="-122"/>
                <a:cs typeface="Courier New" pitchFamily="34" charset="-120"/>
              </a:rPr>
              <a:t>analisis_definitivo_ok.ipynb</a:t>
            </a:r>
            <a:endParaRPr lang="en-US" sz="1300" dirty="0"/>
          </a:p>
        </p:txBody>
      </p:sp>
      <p:sp>
        <p:nvSpPr>
          <p:cNvPr id="6" name="Shape 4"/>
          <p:cNvSpPr/>
          <p:nvPr/>
        </p:nvSpPr>
        <p:spPr>
          <a:xfrm>
            <a:off x="6217920" y="1737360"/>
            <a:ext cx="5394960" cy="2926080"/>
          </a:xfrm>
          <a:prstGeom prst="roundRect">
            <a:avLst>
              <a:gd name="adj" fmla="val 2813"/>
            </a:avLst>
          </a:prstGeom>
          <a:solidFill>
            <a:srgbClr val="F4F7FA"/>
          </a:solidFill>
          <a:ln w="12700">
            <a:solidFill>
              <a:srgbClr val="F4F7FA"/>
            </a:solidFill>
            <a:prstDash val="solid"/>
          </a:ln>
        </p:spPr>
        <p:txBody>
          <a:bodyPr/>
          <a:lstStyle/>
          <a:p>
            <a:endParaRPr lang="es-CL"/>
          </a:p>
        </p:txBody>
      </p:sp>
      <p:sp>
        <p:nvSpPr>
          <p:cNvPr id="7" name="Text 5"/>
          <p:cNvSpPr/>
          <p:nvPr/>
        </p:nvSpPr>
        <p:spPr>
          <a:xfrm>
            <a:off x="6537960" y="196596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Tres preguntas que esa carpeta no puede responder</a:t>
            </a:r>
            <a:endParaRPr lang="en-US" sz="1500" dirty="0"/>
          </a:p>
        </p:txBody>
      </p:sp>
      <p:sp>
        <p:nvSpPr>
          <p:cNvPr id="8" name="Shape 6"/>
          <p:cNvSpPr/>
          <p:nvPr/>
        </p:nvSpPr>
        <p:spPr>
          <a:xfrm>
            <a:off x="6537960" y="2468880"/>
            <a:ext cx="365760" cy="365760"/>
          </a:xfrm>
          <a:prstGeom prst="ellipse">
            <a:avLst/>
          </a:prstGeom>
          <a:solidFill>
            <a:srgbClr val="AC212E"/>
          </a:solidFill>
          <a:ln/>
        </p:spPr>
        <p:txBody>
          <a:bodyPr/>
          <a:lstStyle/>
          <a:p>
            <a:endParaRPr lang="es-CL"/>
          </a:p>
        </p:txBody>
      </p:sp>
      <p:sp>
        <p:nvSpPr>
          <p:cNvPr id="9" name="Text 7"/>
          <p:cNvSpPr/>
          <p:nvPr/>
        </p:nvSpPr>
        <p:spPr>
          <a:xfrm>
            <a:off x="6537960" y="246888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7059168" y="2450592"/>
            <a:ext cx="4297680" cy="411480"/>
          </a:xfrm>
          <a:prstGeom prst="rect">
            <a:avLst/>
          </a:prstGeom>
          <a:noFill/>
          <a:ln/>
        </p:spPr>
        <p:txBody>
          <a:bodyPr wrap="square" lIns="0" tIns="0" rIns="0" bIns="0" rtlCol="0" anchor="ctr"/>
          <a:lstStyle/>
          <a:p>
            <a:pPr marL="0" indent="0">
              <a:buNone/>
            </a:pPr>
            <a:r>
              <a:rPr lang="en-US" sz="1350" dirty="0">
                <a:solidFill>
                  <a:srgbClr val="06304A"/>
                </a:solidFill>
                <a:latin typeface="Calibri" pitchFamily="34" charset="0"/>
                <a:ea typeface="Calibri" pitchFamily="34" charset="-122"/>
                <a:cs typeface="Calibri" pitchFamily="34" charset="-120"/>
              </a:rPr>
              <a:t>¿Qué cambió entre una versión y otra?</a:t>
            </a:r>
            <a:endParaRPr lang="en-US" sz="1350" dirty="0"/>
          </a:p>
        </p:txBody>
      </p:sp>
      <p:sp>
        <p:nvSpPr>
          <p:cNvPr id="11" name="Shape 9"/>
          <p:cNvSpPr/>
          <p:nvPr/>
        </p:nvSpPr>
        <p:spPr>
          <a:xfrm>
            <a:off x="6537960" y="3127248"/>
            <a:ext cx="365760" cy="365760"/>
          </a:xfrm>
          <a:prstGeom prst="ellipse">
            <a:avLst/>
          </a:prstGeom>
          <a:solidFill>
            <a:srgbClr val="AC212E"/>
          </a:solidFill>
          <a:ln/>
        </p:spPr>
        <p:txBody>
          <a:bodyPr/>
          <a:lstStyle/>
          <a:p>
            <a:endParaRPr lang="es-CL"/>
          </a:p>
        </p:txBody>
      </p:sp>
      <p:sp>
        <p:nvSpPr>
          <p:cNvPr id="12" name="Text 10"/>
          <p:cNvSpPr/>
          <p:nvPr/>
        </p:nvSpPr>
        <p:spPr>
          <a:xfrm>
            <a:off x="6537960" y="3127248"/>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7059168" y="3108960"/>
            <a:ext cx="4297680" cy="411480"/>
          </a:xfrm>
          <a:prstGeom prst="rect">
            <a:avLst/>
          </a:prstGeom>
          <a:noFill/>
          <a:ln/>
        </p:spPr>
        <p:txBody>
          <a:bodyPr wrap="square" lIns="0" tIns="0" rIns="0" bIns="0" rtlCol="0" anchor="ctr"/>
          <a:lstStyle/>
          <a:p>
            <a:pPr marL="0" indent="0">
              <a:buNone/>
            </a:pPr>
            <a:r>
              <a:rPr lang="en-US" sz="1350" dirty="0">
                <a:solidFill>
                  <a:srgbClr val="06304A"/>
                </a:solidFill>
                <a:latin typeface="Calibri" pitchFamily="34" charset="0"/>
                <a:ea typeface="Calibri" pitchFamily="34" charset="-122"/>
                <a:cs typeface="Calibri" pitchFamily="34" charset="-120"/>
              </a:rPr>
              <a:t>¿Por qué se hizo ese cambio?</a:t>
            </a:r>
            <a:endParaRPr lang="en-US" sz="1350" dirty="0"/>
          </a:p>
        </p:txBody>
      </p:sp>
      <p:sp>
        <p:nvSpPr>
          <p:cNvPr id="14" name="Shape 12"/>
          <p:cNvSpPr/>
          <p:nvPr/>
        </p:nvSpPr>
        <p:spPr>
          <a:xfrm>
            <a:off x="6537960" y="3785616"/>
            <a:ext cx="365760" cy="365760"/>
          </a:xfrm>
          <a:prstGeom prst="ellipse">
            <a:avLst/>
          </a:prstGeom>
          <a:solidFill>
            <a:srgbClr val="AC212E"/>
          </a:solidFill>
          <a:ln/>
        </p:spPr>
        <p:txBody>
          <a:bodyPr/>
          <a:lstStyle/>
          <a:p>
            <a:endParaRPr lang="es-CL"/>
          </a:p>
        </p:txBody>
      </p:sp>
      <p:sp>
        <p:nvSpPr>
          <p:cNvPr id="15" name="Text 13"/>
          <p:cNvSpPr/>
          <p:nvPr/>
        </p:nvSpPr>
        <p:spPr>
          <a:xfrm>
            <a:off x="6537960" y="3785616"/>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7059168" y="3767328"/>
            <a:ext cx="4297680" cy="411480"/>
          </a:xfrm>
          <a:prstGeom prst="rect">
            <a:avLst/>
          </a:prstGeom>
          <a:noFill/>
          <a:ln/>
        </p:spPr>
        <p:txBody>
          <a:bodyPr wrap="square" lIns="0" tIns="0" rIns="0" bIns="0" rtlCol="0" anchor="ctr"/>
          <a:lstStyle/>
          <a:p>
            <a:pPr marL="0" indent="0">
              <a:buNone/>
            </a:pPr>
            <a:r>
              <a:rPr lang="en-US" sz="1350" dirty="0">
                <a:solidFill>
                  <a:srgbClr val="06304A"/>
                </a:solidFill>
                <a:latin typeface="Calibri" pitchFamily="34" charset="0"/>
                <a:ea typeface="Calibri" pitchFamily="34" charset="-122"/>
                <a:cs typeface="Calibri" pitchFamily="34" charset="-120"/>
              </a:rPr>
              <a:t>¿Cuál era el estado el día en que sí funcionaba?</a:t>
            </a:r>
            <a:endParaRPr lang="en-US" sz="1350" dirty="0"/>
          </a:p>
        </p:txBody>
      </p:sp>
      <p:sp>
        <p:nvSpPr>
          <p:cNvPr id="17" name="Shape 15"/>
          <p:cNvSpPr/>
          <p:nvPr/>
        </p:nvSpPr>
        <p:spPr>
          <a:xfrm>
            <a:off x="548640" y="4937760"/>
            <a:ext cx="11064240" cy="1005840"/>
          </a:xfrm>
          <a:prstGeom prst="roundRect">
            <a:avLst>
              <a:gd name="adj" fmla="val 8182"/>
            </a:avLst>
          </a:prstGeom>
          <a:solidFill>
            <a:srgbClr val="0A1526"/>
          </a:solidFill>
          <a:ln w="12700">
            <a:solidFill>
              <a:srgbClr val="0A1526"/>
            </a:solidFill>
            <a:prstDash val="solid"/>
          </a:ln>
        </p:spPr>
        <p:txBody>
          <a:bodyPr/>
          <a:lstStyle/>
          <a:p>
            <a:endParaRPr lang="es-CL"/>
          </a:p>
        </p:txBody>
      </p:sp>
      <p:sp>
        <p:nvSpPr>
          <p:cNvPr id="18" name="Text 16"/>
          <p:cNvSpPr/>
          <p:nvPr/>
        </p:nvSpPr>
        <p:spPr>
          <a:xfrm>
            <a:off x="868680" y="5120640"/>
            <a:ext cx="10424160" cy="658368"/>
          </a:xfrm>
          <a:prstGeom prst="rect">
            <a:avLst/>
          </a:prstGeom>
          <a:noFill/>
          <a:ln/>
        </p:spPr>
        <p:txBody>
          <a:bodyPr wrap="square" lIns="0" tIns="0" rIns="0" bIns="0" rtlCol="0" anchor="ctr"/>
          <a:lstStyle/>
          <a:p>
            <a:pPr marL="0" indent="0">
              <a:lnSpc>
                <a:spcPts val="2100"/>
              </a:lnSpc>
              <a:buNone/>
            </a:pPr>
            <a:r>
              <a:rPr lang="en-US" sz="1500" dirty="0">
                <a:solidFill>
                  <a:srgbClr val="FFFFFF"/>
                </a:solidFill>
                <a:latin typeface="Calibri" pitchFamily="34" charset="0"/>
                <a:ea typeface="Calibri" pitchFamily="34" charset="-122"/>
                <a:cs typeface="Calibri" pitchFamily="34" charset="-120"/>
              </a:rPr>
              <a:t>En un trabajo grupal el problema se multiplica: además, nadie sabe qué versión tiene el resto. El ecosistema científico existe para que el proceso quede registrado, no solo el resultado.</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Cuatro piezas, cuatro funciones distintas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Ninguna reemplaza a otra. La confusión más común es tratarlas como si fueran lo mismo.</a:t>
            </a:r>
            <a:endParaRPr lang="en-US" sz="1400" dirty="0"/>
          </a:p>
        </p:txBody>
      </p:sp>
      <p:sp>
        <p:nvSpPr>
          <p:cNvPr id="4" name="Shape 2"/>
          <p:cNvSpPr/>
          <p:nvPr/>
        </p:nvSpPr>
        <p:spPr>
          <a:xfrm>
            <a:off x="548640"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57400"/>
            <a:ext cx="457200" cy="457200"/>
          </a:xfrm>
          <a:prstGeom prst="ellipse">
            <a:avLst/>
          </a:prstGeom>
          <a:solidFill>
            <a:srgbClr val="AC212E"/>
          </a:solidFill>
          <a:ln/>
        </p:spPr>
        <p:txBody>
          <a:bodyPr/>
          <a:lstStyle/>
          <a:p>
            <a:endParaRPr lang="es-CL"/>
          </a:p>
        </p:txBody>
      </p:sp>
      <p:sp>
        <p:nvSpPr>
          <p:cNvPr id="6" name="Text 4"/>
          <p:cNvSpPr/>
          <p:nvPr/>
        </p:nvSpPr>
        <p:spPr>
          <a:xfrm>
            <a:off x="777240"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777240"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Python</a:t>
            </a:r>
            <a:endParaRPr lang="en-US" sz="2200" dirty="0"/>
          </a:p>
        </p:txBody>
      </p:sp>
      <p:sp>
        <p:nvSpPr>
          <p:cNvPr id="8" name="Text 6"/>
          <p:cNvSpPr/>
          <p:nvPr/>
        </p:nvSpPr>
        <p:spPr>
          <a:xfrm>
            <a:off x="777240"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lenguaje</a:t>
            </a:r>
            <a:endParaRPr lang="en-US" sz="1300" dirty="0"/>
          </a:p>
        </p:txBody>
      </p:sp>
      <p:sp>
        <p:nvSpPr>
          <p:cNvPr id="9" name="Text 7"/>
          <p:cNvSpPr/>
          <p:nvPr/>
        </p:nvSpPr>
        <p:spPr>
          <a:xfrm>
            <a:off x="777240"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Ejecuta el análisis: transforma los datos y produce los resultados.</a:t>
            </a:r>
            <a:endParaRPr lang="en-US" sz="1250" dirty="0"/>
          </a:p>
        </p:txBody>
      </p:sp>
      <p:sp>
        <p:nvSpPr>
          <p:cNvPr id="10" name="Shape 8"/>
          <p:cNvSpPr/>
          <p:nvPr/>
        </p:nvSpPr>
        <p:spPr>
          <a:xfrm>
            <a:off x="3419856"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3648456" y="2057400"/>
            <a:ext cx="457200" cy="457200"/>
          </a:xfrm>
          <a:prstGeom prst="ellipse">
            <a:avLst/>
          </a:prstGeom>
          <a:solidFill>
            <a:srgbClr val="AC212E"/>
          </a:solidFill>
          <a:ln/>
        </p:spPr>
        <p:txBody>
          <a:bodyPr/>
          <a:lstStyle/>
          <a:p>
            <a:endParaRPr lang="es-CL"/>
          </a:p>
        </p:txBody>
      </p:sp>
      <p:sp>
        <p:nvSpPr>
          <p:cNvPr id="12" name="Text 10"/>
          <p:cNvSpPr/>
          <p:nvPr/>
        </p:nvSpPr>
        <p:spPr>
          <a:xfrm>
            <a:off x="3648456"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3648456"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Jupyter</a:t>
            </a:r>
            <a:endParaRPr lang="en-US" sz="2200" dirty="0"/>
          </a:p>
        </p:txBody>
      </p:sp>
      <p:sp>
        <p:nvSpPr>
          <p:cNvPr id="14" name="Text 12"/>
          <p:cNvSpPr/>
          <p:nvPr/>
        </p:nvSpPr>
        <p:spPr>
          <a:xfrm>
            <a:off x="3648456"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cuaderno</a:t>
            </a:r>
            <a:endParaRPr lang="en-US" sz="1300" dirty="0"/>
          </a:p>
        </p:txBody>
      </p:sp>
      <p:sp>
        <p:nvSpPr>
          <p:cNvPr id="15" name="Text 13"/>
          <p:cNvSpPr/>
          <p:nvPr/>
        </p:nvSpPr>
        <p:spPr>
          <a:xfrm>
            <a:off x="3648456"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Reúne código, resultados y explicación en un solo documento.</a:t>
            </a:r>
            <a:endParaRPr lang="en-US" sz="1250" dirty="0"/>
          </a:p>
        </p:txBody>
      </p:sp>
      <p:sp>
        <p:nvSpPr>
          <p:cNvPr id="16" name="Shape 14"/>
          <p:cNvSpPr/>
          <p:nvPr/>
        </p:nvSpPr>
        <p:spPr>
          <a:xfrm>
            <a:off x="6291072"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6519672" y="2057400"/>
            <a:ext cx="457200" cy="457200"/>
          </a:xfrm>
          <a:prstGeom prst="ellipse">
            <a:avLst/>
          </a:prstGeom>
          <a:solidFill>
            <a:srgbClr val="AC212E"/>
          </a:solidFill>
          <a:ln/>
        </p:spPr>
        <p:txBody>
          <a:bodyPr/>
          <a:lstStyle/>
          <a:p>
            <a:endParaRPr lang="es-CL"/>
          </a:p>
        </p:txBody>
      </p:sp>
      <p:sp>
        <p:nvSpPr>
          <p:cNvPr id="18" name="Text 16"/>
          <p:cNvSpPr/>
          <p:nvPr/>
        </p:nvSpPr>
        <p:spPr>
          <a:xfrm>
            <a:off x="6519672"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6519672"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Git</a:t>
            </a:r>
            <a:endParaRPr lang="en-US" sz="2200" dirty="0"/>
          </a:p>
        </p:txBody>
      </p:sp>
      <p:sp>
        <p:nvSpPr>
          <p:cNvPr id="20" name="Text 18"/>
          <p:cNvSpPr/>
          <p:nvPr/>
        </p:nvSpPr>
        <p:spPr>
          <a:xfrm>
            <a:off x="6519672"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historial</a:t>
            </a:r>
            <a:endParaRPr lang="en-US" sz="1300" dirty="0"/>
          </a:p>
        </p:txBody>
      </p:sp>
      <p:sp>
        <p:nvSpPr>
          <p:cNvPr id="21" name="Text 19"/>
          <p:cNvSpPr/>
          <p:nvPr/>
        </p:nvSpPr>
        <p:spPr>
          <a:xfrm>
            <a:off x="6519672"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Registra qué cambió, cuándo y por quién, en su computador.</a:t>
            </a:r>
            <a:endParaRPr lang="en-US" sz="1250" dirty="0"/>
          </a:p>
        </p:txBody>
      </p:sp>
      <p:sp>
        <p:nvSpPr>
          <p:cNvPr id="22" name="Shape 20"/>
          <p:cNvSpPr/>
          <p:nvPr/>
        </p:nvSpPr>
        <p:spPr>
          <a:xfrm>
            <a:off x="9162288" y="1828800"/>
            <a:ext cx="2606040" cy="274320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23" name="Shape 21"/>
          <p:cNvSpPr/>
          <p:nvPr/>
        </p:nvSpPr>
        <p:spPr>
          <a:xfrm>
            <a:off x="9390888" y="2057400"/>
            <a:ext cx="457200" cy="457200"/>
          </a:xfrm>
          <a:prstGeom prst="ellipse">
            <a:avLst/>
          </a:prstGeom>
          <a:solidFill>
            <a:srgbClr val="AC212E"/>
          </a:solidFill>
          <a:ln/>
        </p:spPr>
        <p:txBody>
          <a:bodyPr/>
          <a:lstStyle/>
          <a:p>
            <a:endParaRPr lang="es-CL"/>
          </a:p>
        </p:txBody>
      </p:sp>
      <p:sp>
        <p:nvSpPr>
          <p:cNvPr id="24" name="Text 22"/>
          <p:cNvSpPr/>
          <p:nvPr/>
        </p:nvSpPr>
        <p:spPr>
          <a:xfrm>
            <a:off x="9390888" y="20574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9390888" y="2651760"/>
            <a:ext cx="2148840" cy="411480"/>
          </a:xfrm>
          <a:prstGeom prst="rect">
            <a:avLst/>
          </a:prstGeom>
          <a:noFill/>
          <a:ln/>
        </p:spPr>
        <p:txBody>
          <a:bodyPr wrap="square" lIns="0" tIns="0" rIns="0" bIns="0" rtlCol="0" anchor="ctr"/>
          <a:lstStyle/>
          <a:p>
            <a:pPr marL="0" indent="0">
              <a:buNone/>
            </a:pPr>
            <a:r>
              <a:rPr lang="en-US" sz="2200" b="1" dirty="0">
                <a:solidFill>
                  <a:srgbClr val="06304A"/>
                </a:solidFill>
                <a:latin typeface="Cambria" pitchFamily="34" charset="0"/>
                <a:ea typeface="Cambria" pitchFamily="34" charset="-122"/>
                <a:cs typeface="Cambria" pitchFamily="34" charset="-120"/>
              </a:rPr>
              <a:t>GitHub</a:t>
            </a:r>
            <a:endParaRPr lang="en-US" sz="2200" dirty="0"/>
          </a:p>
        </p:txBody>
      </p:sp>
      <p:sp>
        <p:nvSpPr>
          <p:cNvPr id="26" name="Text 24"/>
          <p:cNvSpPr/>
          <p:nvPr/>
        </p:nvSpPr>
        <p:spPr>
          <a:xfrm>
            <a:off x="9390888" y="3063240"/>
            <a:ext cx="2148840" cy="320040"/>
          </a:xfrm>
          <a:prstGeom prst="rect">
            <a:avLst/>
          </a:prstGeom>
          <a:noFill/>
          <a:ln/>
        </p:spPr>
        <p:txBody>
          <a:bodyPr wrap="square" lIns="0" tIns="0" rIns="0" bIns="0" rtlCol="0" anchor="ctr"/>
          <a:lstStyle/>
          <a:p>
            <a:pPr marL="0" indent="0">
              <a:buNone/>
            </a:pPr>
            <a:r>
              <a:rPr lang="en-US" sz="1300" b="1" dirty="0">
                <a:solidFill>
                  <a:srgbClr val="AC212E"/>
                </a:solidFill>
                <a:latin typeface="Calibri" pitchFamily="34" charset="0"/>
                <a:ea typeface="Calibri" pitchFamily="34" charset="-122"/>
                <a:cs typeface="Calibri" pitchFamily="34" charset="-120"/>
              </a:rPr>
              <a:t>El punto de encuentro</a:t>
            </a:r>
            <a:endParaRPr lang="en-US" sz="1300" dirty="0"/>
          </a:p>
        </p:txBody>
      </p:sp>
      <p:sp>
        <p:nvSpPr>
          <p:cNvPr id="27" name="Text 25"/>
          <p:cNvSpPr/>
          <p:nvPr/>
        </p:nvSpPr>
        <p:spPr>
          <a:xfrm>
            <a:off x="9390888" y="3429000"/>
            <a:ext cx="2148840" cy="9601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Aloja el repositorio en la nube y permite trabajar en equipo.</a:t>
            </a:r>
            <a:endParaRPr lang="en-US" sz="1250" dirty="0"/>
          </a:p>
        </p:txBody>
      </p:sp>
      <p:sp>
        <p:nvSpPr>
          <p:cNvPr id="28" name="Shape 26"/>
          <p:cNvSpPr/>
          <p:nvPr/>
        </p:nvSpPr>
        <p:spPr>
          <a:xfrm>
            <a:off x="548640" y="4892040"/>
            <a:ext cx="11064240" cy="960120"/>
          </a:xfrm>
          <a:prstGeom prst="roundRect">
            <a:avLst>
              <a:gd name="adj" fmla="val 8571"/>
            </a:avLst>
          </a:prstGeom>
          <a:solidFill>
            <a:srgbClr val="F6E7E9"/>
          </a:solidFill>
          <a:ln w="12700">
            <a:solidFill>
              <a:srgbClr val="F6E7E9"/>
            </a:solidFill>
            <a:prstDash val="solid"/>
          </a:ln>
        </p:spPr>
        <p:txBody>
          <a:bodyPr/>
          <a:lstStyle/>
          <a:p>
            <a:endParaRPr lang="es-CL"/>
          </a:p>
        </p:txBody>
      </p:sp>
      <p:sp>
        <p:nvSpPr>
          <p:cNvPr id="29" name="Text 27"/>
          <p:cNvSpPr/>
          <p:nvPr/>
        </p:nvSpPr>
        <p:spPr>
          <a:xfrm>
            <a:off x="868680" y="5074920"/>
            <a:ext cx="146304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Git ≠ GitHub</a:t>
            </a:r>
            <a:endParaRPr lang="en-US" sz="1500" dirty="0"/>
          </a:p>
        </p:txBody>
      </p:sp>
      <p:sp>
        <p:nvSpPr>
          <p:cNvPr id="30" name="Text 28"/>
          <p:cNvSpPr/>
          <p:nvPr/>
        </p:nvSpPr>
        <p:spPr>
          <a:xfrm>
            <a:off x="2377440" y="5074920"/>
            <a:ext cx="8961120" cy="566928"/>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Git funciona en su computador y sin internet. GitHub es un servicio que aloja repositorios Git. Puede usar Git sin GitHub; no al revés.</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Python: el lenguaje y su entorno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código es solo una parte. Lo que hace reproducible el análisis es el entorno donde corre.</a:t>
            </a:r>
            <a:endParaRPr lang="en-US" sz="1400" dirty="0"/>
          </a:p>
        </p:txBody>
      </p:sp>
      <p:sp>
        <p:nvSpPr>
          <p:cNvPr id="4" name="Shape 2"/>
          <p:cNvSpPr/>
          <p:nvPr/>
        </p:nvSpPr>
        <p:spPr>
          <a:xfrm>
            <a:off x="548640" y="1737360"/>
            <a:ext cx="352044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20240"/>
            <a:ext cx="29260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El intérprete</a:t>
            </a:r>
            <a:endParaRPr lang="en-US" sz="1500" dirty="0"/>
          </a:p>
        </p:txBody>
      </p:sp>
      <p:sp>
        <p:nvSpPr>
          <p:cNvPr id="6" name="Text 4"/>
          <p:cNvSpPr/>
          <p:nvPr/>
        </p:nvSpPr>
        <p:spPr>
          <a:xfrm>
            <a:off x="868680" y="2331720"/>
            <a:ext cx="2926080" cy="14630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Ejecuta las instrucciones. En macOS y Linux se invoca como python3; en Windows, como python.</a:t>
            </a:r>
            <a:endParaRPr lang="en-US" sz="1300" dirty="0"/>
          </a:p>
        </p:txBody>
      </p:sp>
      <p:sp>
        <p:nvSpPr>
          <p:cNvPr id="7" name="Shape 5"/>
          <p:cNvSpPr/>
          <p:nvPr/>
        </p:nvSpPr>
        <p:spPr>
          <a:xfrm>
            <a:off x="4325112" y="1737360"/>
            <a:ext cx="352044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8" name="Text 6"/>
          <p:cNvSpPr/>
          <p:nvPr/>
        </p:nvSpPr>
        <p:spPr>
          <a:xfrm>
            <a:off x="4645152" y="1920240"/>
            <a:ext cx="29260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Las librerías</a:t>
            </a:r>
            <a:endParaRPr lang="en-US" sz="1500" dirty="0"/>
          </a:p>
        </p:txBody>
      </p:sp>
      <p:sp>
        <p:nvSpPr>
          <p:cNvPr id="9" name="Text 7"/>
          <p:cNvSpPr/>
          <p:nvPr/>
        </p:nvSpPr>
        <p:spPr>
          <a:xfrm>
            <a:off x="4645152" y="2331720"/>
            <a:ext cx="2926080" cy="14630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NumPy, pandas, Matplotlib, scikit-learn. No vienen con Python: se instalan, y cada una tiene su versión.</a:t>
            </a:r>
            <a:endParaRPr lang="en-US" sz="1300" dirty="0"/>
          </a:p>
        </p:txBody>
      </p:sp>
      <p:sp>
        <p:nvSpPr>
          <p:cNvPr id="10" name="Shape 8"/>
          <p:cNvSpPr/>
          <p:nvPr/>
        </p:nvSpPr>
        <p:spPr>
          <a:xfrm>
            <a:off x="8092440" y="1737360"/>
            <a:ext cx="3520440" cy="2286000"/>
          </a:xfrm>
          <a:prstGeom prst="roundRect">
            <a:avLst>
              <a:gd name="adj" fmla="val 3600"/>
            </a:avLst>
          </a:prstGeom>
          <a:solidFill>
            <a:srgbClr val="0A1526"/>
          </a:solidFill>
          <a:ln w="12700">
            <a:solidFill>
              <a:srgbClr val="0A1526"/>
            </a:solidFill>
            <a:prstDash val="solid"/>
          </a:ln>
        </p:spPr>
        <p:txBody>
          <a:bodyPr/>
          <a:lstStyle/>
          <a:p>
            <a:endParaRPr lang="es-CL"/>
          </a:p>
        </p:txBody>
      </p:sp>
      <p:sp>
        <p:nvSpPr>
          <p:cNvPr id="11" name="Text 9"/>
          <p:cNvSpPr/>
          <p:nvPr/>
        </p:nvSpPr>
        <p:spPr>
          <a:xfrm>
            <a:off x="8412480" y="1920240"/>
            <a:ext cx="29260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El entorno virtual</a:t>
            </a:r>
            <a:endParaRPr lang="en-US" sz="1500" dirty="0"/>
          </a:p>
        </p:txBody>
      </p:sp>
      <p:sp>
        <p:nvSpPr>
          <p:cNvPr id="12" name="Text 10"/>
          <p:cNvSpPr/>
          <p:nvPr/>
        </p:nvSpPr>
        <p:spPr>
          <a:xfrm>
            <a:off x="8412480" y="2331720"/>
            <a:ext cx="2926080" cy="146304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Una instalación aislada, propia del proyecto. Evita que las versiones de un trabajo rompan las de otro.</a:t>
            </a:r>
            <a:endParaRPr lang="en-US" sz="1300" dirty="0"/>
          </a:p>
        </p:txBody>
      </p:sp>
      <p:sp>
        <p:nvSpPr>
          <p:cNvPr id="13" name="Text 11"/>
          <p:cNvSpPr/>
          <p:nvPr/>
        </p:nvSpPr>
        <p:spPr>
          <a:xfrm>
            <a:off x="548640" y="4251960"/>
            <a:ext cx="54864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Un entorno por proyecto</a:t>
            </a:r>
            <a:endParaRPr lang="en-US" sz="1600" dirty="0"/>
          </a:p>
        </p:txBody>
      </p:sp>
      <p:sp>
        <p:nvSpPr>
          <p:cNvPr id="14" name="Shape 12"/>
          <p:cNvSpPr/>
          <p:nvPr/>
        </p:nvSpPr>
        <p:spPr>
          <a:xfrm>
            <a:off x="548640" y="4663440"/>
            <a:ext cx="5577840" cy="1417320"/>
          </a:xfrm>
          <a:prstGeom prst="roundRect">
            <a:avLst>
              <a:gd name="adj" fmla="val 5806"/>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68680" y="4846320"/>
            <a:ext cx="5029200" cy="100584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python -m venv .venv          crea el entorno</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source .venv/bin/activate     lo activa (macOS)</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python -m pip install pandas  instala dentro de él</a:t>
            </a:r>
            <a:endParaRPr lang="en-US" sz="1100" dirty="0"/>
          </a:p>
        </p:txBody>
      </p:sp>
      <p:sp>
        <p:nvSpPr>
          <p:cNvPr id="16" name="Shape 14"/>
          <p:cNvSpPr/>
          <p:nvPr/>
        </p:nvSpPr>
        <p:spPr>
          <a:xfrm>
            <a:off x="6400800" y="4251960"/>
            <a:ext cx="5212080" cy="1828800"/>
          </a:xfrm>
          <a:prstGeom prst="roundRect">
            <a:avLst>
              <a:gd name="adj" fmla="val 4500"/>
            </a:avLst>
          </a:prstGeom>
          <a:solidFill>
            <a:srgbClr val="F6E7E9"/>
          </a:solidFill>
          <a:ln w="12700">
            <a:solidFill>
              <a:srgbClr val="F6E7E9"/>
            </a:solidFill>
            <a:prstDash val="solid"/>
          </a:ln>
        </p:spPr>
        <p:txBody>
          <a:bodyPr/>
          <a:lstStyle/>
          <a:p>
            <a:endParaRPr lang="es-CL"/>
          </a:p>
        </p:txBody>
      </p:sp>
      <p:sp>
        <p:nvSpPr>
          <p:cNvPr id="17" name="Text 15"/>
          <p:cNvSpPr/>
          <p:nvPr/>
        </p:nvSpPr>
        <p:spPr>
          <a:xfrm>
            <a:off x="6720840" y="4434840"/>
            <a:ext cx="457200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Por qué importa para el curso</a:t>
            </a:r>
            <a:endParaRPr lang="en-US" sz="1400" dirty="0"/>
          </a:p>
        </p:txBody>
      </p:sp>
      <p:sp>
        <p:nvSpPr>
          <p:cNvPr id="18" name="Text 16"/>
          <p:cNvSpPr/>
          <p:nvPr/>
        </p:nvSpPr>
        <p:spPr>
          <a:xfrm>
            <a:off x="6720840" y="4828032"/>
            <a:ext cx="4572000" cy="109728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Si cada integrante instala versiones distintas, el mismo notebook produce resultados distintos. El entorno declarado es la condición para que el análisis sea verificable.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Jupyter Notebook: código, resultado y explicación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Es el formato natural de la comunicación científica: el razonamiento va junto al cálculo.</a:t>
            </a:r>
            <a:endParaRPr lang="en-US" sz="1400" dirty="0"/>
          </a:p>
        </p:txBody>
      </p:sp>
      <p:sp>
        <p:nvSpPr>
          <p:cNvPr id="4" name="Shape 2"/>
          <p:cNvSpPr/>
          <p:nvPr/>
        </p:nvSpPr>
        <p:spPr>
          <a:xfrm>
            <a:off x="548640" y="1737360"/>
            <a:ext cx="5852160" cy="3657600"/>
          </a:xfrm>
          <a:prstGeom prst="roundRect">
            <a:avLst>
              <a:gd name="adj" fmla="val 225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01952"/>
            <a:ext cx="52120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Anatomía de un notebook</a:t>
            </a:r>
            <a:endParaRPr lang="en-US" sz="1400" dirty="0"/>
          </a:p>
        </p:txBody>
      </p:sp>
      <p:sp>
        <p:nvSpPr>
          <p:cNvPr id="6" name="Shape 4"/>
          <p:cNvSpPr/>
          <p:nvPr/>
        </p:nvSpPr>
        <p:spPr>
          <a:xfrm>
            <a:off x="868680" y="2331720"/>
            <a:ext cx="5212080" cy="822960"/>
          </a:xfrm>
          <a:prstGeom prst="roundRect">
            <a:avLst>
              <a:gd name="adj" fmla="val 6667"/>
            </a:avLst>
          </a:prstGeom>
          <a:solidFill>
            <a:srgbClr val="E8EEF5"/>
          </a:solidFill>
          <a:ln w="12700">
            <a:solidFill>
              <a:srgbClr val="E8EEF5"/>
            </a:solidFill>
            <a:prstDash val="solid"/>
          </a:ln>
        </p:spPr>
        <p:txBody>
          <a:bodyPr/>
          <a:lstStyle/>
          <a:p>
            <a:endParaRPr lang="es-CL"/>
          </a:p>
        </p:txBody>
      </p:sp>
      <p:sp>
        <p:nvSpPr>
          <p:cNvPr id="7" name="Text 5"/>
          <p:cNvSpPr/>
          <p:nvPr/>
        </p:nvSpPr>
        <p:spPr>
          <a:xfrm>
            <a:off x="1005840" y="2395728"/>
            <a:ext cx="4937760" cy="256032"/>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Celda Markdown</a:t>
            </a:r>
            <a:endParaRPr lang="en-US" sz="1100" dirty="0"/>
          </a:p>
        </p:txBody>
      </p:sp>
      <p:sp>
        <p:nvSpPr>
          <p:cNvPr id="8" name="Text 6"/>
          <p:cNvSpPr/>
          <p:nvPr/>
        </p:nvSpPr>
        <p:spPr>
          <a:xfrm>
            <a:off x="1005840" y="2642616"/>
            <a:ext cx="4937760" cy="457200"/>
          </a:xfrm>
          <a:prstGeom prst="rect">
            <a:avLst/>
          </a:prstGeom>
          <a:noFill/>
          <a:ln/>
        </p:spPr>
        <p:txBody>
          <a:bodyPr wrap="square" lIns="0" tIns="0" rIns="0" bIns="0" rtlCol="0" anchor="ctr"/>
          <a:lstStyle/>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 Limpieza de valores faltantes</a:t>
            </a:r>
            <a:endParaRPr lang="en-US" sz="1050" dirty="0"/>
          </a:p>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Se imputa la mediana porque...</a:t>
            </a:r>
            <a:endParaRPr lang="en-US" sz="1050" dirty="0"/>
          </a:p>
        </p:txBody>
      </p:sp>
      <p:sp>
        <p:nvSpPr>
          <p:cNvPr id="9" name="Shape 7"/>
          <p:cNvSpPr/>
          <p:nvPr/>
        </p:nvSpPr>
        <p:spPr>
          <a:xfrm>
            <a:off x="868680" y="3291840"/>
            <a:ext cx="5212080" cy="822960"/>
          </a:xfrm>
          <a:prstGeom prst="roundRect">
            <a:avLst>
              <a:gd name="adj" fmla="val 6667"/>
            </a:avLst>
          </a:prstGeom>
          <a:solidFill>
            <a:srgbClr val="E8EEF5"/>
          </a:solidFill>
          <a:ln w="12700">
            <a:solidFill>
              <a:srgbClr val="E8EEF5"/>
            </a:solidFill>
            <a:prstDash val="solid"/>
          </a:ln>
        </p:spPr>
        <p:txBody>
          <a:bodyPr/>
          <a:lstStyle/>
          <a:p>
            <a:endParaRPr lang="es-CL"/>
          </a:p>
        </p:txBody>
      </p:sp>
      <p:sp>
        <p:nvSpPr>
          <p:cNvPr id="10" name="Text 8"/>
          <p:cNvSpPr/>
          <p:nvPr/>
        </p:nvSpPr>
        <p:spPr>
          <a:xfrm>
            <a:off x="1005840" y="3355848"/>
            <a:ext cx="4937760" cy="256032"/>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Celda de código</a:t>
            </a:r>
            <a:endParaRPr lang="en-US" sz="1100" dirty="0"/>
          </a:p>
        </p:txBody>
      </p:sp>
      <p:sp>
        <p:nvSpPr>
          <p:cNvPr id="11" name="Text 9"/>
          <p:cNvSpPr/>
          <p:nvPr/>
        </p:nvSpPr>
        <p:spPr>
          <a:xfrm>
            <a:off x="1005840" y="3602736"/>
            <a:ext cx="4937760" cy="457200"/>
          </a:xfrm>
          <a:prstGeom prst="rect">
            <a:avLst/>
          </a:prstGeom>
          <a:noFill/>
          <a:ln/>
        </p:spPr>
        <p:txBody>
          <a:bodyPr wrap="square" lIns="0" tIns="0" rIns="0" bIns="0" rtlCol="0" anchor="ctr"/>
          <a:lstStyle/>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df["imc"] = df["imc"].fillna(mediana)</a:t>
            </a:r>
            <a:endParaRPr lang="en-US" sz="1050" dirty="0"/>
          </a:p>
        </p:txBody>
      </p:sp>
      <p:sp>
        <p:nvSpPr>
          <p:cNvPr id="12" name="Shape 10"/>
          <p:cNvSpPr/>
          <p:nvPr/>
        </p:nvSpPr>
        <p:spPr>
          <a:xfrm>
            <a:off x="868680" y="4251960"/>
            <a:ext cx="5212080" cy="822960"/>
          </a:xfrm>
          <a:prstGeom prst="roundRect">
            <a:avLst>
              <a:gd name="adj" fmla="val 6667"/>
            </a:avLst>
          </a:prstGeom>
          <a:solidFill>
            <a:srgbClr val="DCE6F0"/>
          </a:solidFill>
          <a:ln w="12700">
            <a:solidFill>
              <a:srgbClr val="DCE6F0"/>
            </a:solidFill>
            <a:prstDash val="solid"/>
          </a:ln>
        </p:spPr>
        <p:txBody>
          <a:bodyPr/>
          <a:lstStyle/>
          <a:p>
            <a:endParaRPr lang="es-CL"/>
          </a:p>
        </p:txBody>
      </p:sp>
      <p:sp>
        <p:nvSpPr>
          <p:cNvPr id="13" name="Text 11"/>
          <p:cNvSpPr/>
          <p:nvPr/>
        </p:nvSpPr>
        <p:spPr>
          <a:xfrm>
            <a:off x="1005840" y="4315968"/>
            <a:ext cx="4937760" cy="256032"/>
          </a:xfrm>
          <a:prstGeom prst="rect">
            <a:avLst/>
          </a:prstGeom>
          <a:noFill/>
          <a:ln/>
        </p:spPr>
        <p:txBody>
          <a:bodyPr wrap="square" lIns="0" tIns="0" rIns="0" bIns="0" rtlCol="0" anchor="ctr"/>
          <a:lstStyle/>
          <a:p>
            <a:pPr marL="0" indent="0">
              <a:buNone/>
            </a:pPr>
            <a:r>
              <a:rPr lang="en-US" sz="1100" b="1" dirty="0">
                <a:solidFill>
                  <a:srgbClr val="AC212E"/>
                </a:solidFill>
                <a:latin typeface="Calibri" pitchFamily="34" charset="0"/>
                <a:ea typeface="Calibri" pitchFamily="34" charset="-122"/>
                <a:cs typeface="Calibri" pitchFamily="34" charset="-120"/>
              </a:rPr>
              <a:t>Salida</a:t>
            </a:r>
            <a:endParaRPr lang="en-US" sz="1100" dirty="0"/>
          </a:p>
        </p:txBody>
      </p:sp>
      <p:sp>
        <p:nvSpPr>
          <p:cNvPr id="14" name="Text 12"/>
          <p:cNvSpPr/>
          <p:nvPr/>
        </p:nvSpPr>
        <p:spPr>
          <a:xfrm>
            <a:off x="1005840" y="4562856"/>
            <a:ext cx="4937760" cy="457200"/>
          </a:xfrm>
          <a:prstGeom prst="rect">
            <a:avLst/>
          </a:prstGeom>
          <a:noFill/>
          <a:ln/>
        </p:spPr>
        <p:txBody>
          <a:bodyPr wrap="square" lIns="0" tIns="0" rIns="0" bIns="0" rtlCol="0" anchor="ctr"/>
          <a:lstStyle/>
          <a:p>
            <a:pPr marL="0" indent="0">
              <a:lnSpc>
                <a:spcPts val="1400"/>
              </a:lnSpc>
              <a:buNone/>
            </a:pPr>
            <a:r>
              <a:rPr lang="en-US" sz="1050" dirty="0">
                <a:solidFill>
                  <a:srgbClr val="06304A"/>
                </a:solidFill>
                <a:latin typeface="Courier New" pitchFamily="34" charset="0"/>
                <a:ea typeface="Courier New" pitchFamily="34" charset="-122"/>
                <a:cs typeface="Courier New" pitchFamily="34" charset="-120"/>
              </a:rPr>
              <a:t>228 filas procesadas · 0 nulos restantes</a:t>
            </a:r>
            <a:endParaRPr lang="en-US" sz="1050" dirty="0"/>
          </a:p>
        </p:txBody>
      </p:sp>
      <p:sp>
        <p:nvSpPr>
          <p:cNvPr id="15" name="Shape 13"/>
          <p:cNvSpPr/>
          <p:nvPr/>
        </p:nvSpPr>
        <p:spPr>
          <a:xfrm>
            <a:off x="6675120" y="1737360"/>
            <a:ext cx="4937760" cy="3657600"/>
          </a:xfrm>
          <a:prstGeom prst="roundRect">
            <a:avLst>
              <a:gd name="adj" fmla="val 2250"/>
            </a:avLst>
          </a:prstGeom>
          <a:solidFill>
            <a:srgbClr val="0A1526"/>
          </a:solidFill>
          <a:ln w="12700">
            <a:solidFill>
              <a:srgbClr val="0A1526"/>
            </a:solidFill>
            <a:prstDash val="solid"/>
          </a:ln>
        </p:spPr>
        <p:txBody>
          <a:bodyPr/>
          <a:lstStyle/>
          <a:p>
            <a:endParaRPr lang="es-CL"/>
          </a:p>
        </p:txBody>
      </p:sp>
      <p:sp>
        <p:nvSpPr>
          <p:cNvPr id="16" name="Text 14"/>
          <p:cNvSpPr/>
          <p:nvPr/>
        </p:nvSpPr>
        <p:spPr>
          <a:xfrm>
            <a:off x="6995160" y="1901952"/>
            <a:ext cx="42976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cosas que conviene saber</a:t>
            </a:r>
            <a:endParaRPr lang="en-US" sz="1400" dirty="0"/>
          </a:p>
        </p:txBody>
      </p:sp>
      <p:sp>
        <p:nvSpPr>
          <p:cNvPr id="17" name="Text 15"/>
          <p:cNvSpPr/>
          <p:nvPr/>
        </p:nvSpPr>
        <p:spPr>
          <a:xfrm>
            <a:off x="6995160" y="2331720"/>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kernel</a:t>
            </a:r>
            <a:endParaRPr lang="en-US" sz="1400" dirty="0"/>
          </a:p>
        </p:txBody>
      </p:sp>
      <p:sp>
        <p:nvSpPr>
          <p:cNvPr id="18" name="Text 16"/>
          <p:cNvSpPr/>
          <p:nvPr/>
        </p:nvSpPr>
        <p:spPr>
          <a:xfrm>
            <a:off x="6995160" y="2651760"/>
            <a:ext cx="4297680" cy="105156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Es el intérprete de Python que ejecuta el notebook. Debe ser el del entorno del proyecto, no el genérico «Python 3»: ahí se origina la mayoría de los «a mí me funciona».</a:t>
            </a:r>
            <a:endParaRPr lang="en-US" sz="1250" dirty="0"/>
          </a:p>
        </p:txBody>
      </p:sp>
      <p:sp>
        <p:nvSpPr>
          <p:cNvPr id="19" name="Text 17"/>
          <p:cNvSpPr/>
          <p:nvPr/>
        </p:nvSpPr>
        <p:spPr>
          <a:xfrm>
            <a:off x="6995160" y="3794760"/>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orden de ejecución</a:t>
            </a:r>
            <a:endParaRPr lang="en-US" sz="1400" dirty="0"/>
          </a:p>
        </p:txBody>
      </p:sp>
      <p:sp>
        <p:nvSpPr>
          <p:cNvPr id="20" name="Text 18"/>
          <p:cNvSpPr/>
          <p:nvPr/>
        </p:nvSpPr>
        <p:spPr>
          <a:xfrm>
            <a:off x="6995160" y="4114800"/>
            <a:ext cx="4297680" cy="105156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Las celdas pueden ejecutarse en cualquier orden, y eso rompe la reproducibilidad. Antes de entregar: Kernel → Restart Kernel and Run All Cells.</a:t>
            </a:r>
            <a:endParaRPr lang="en-US" sz="1250" dirty="0"/>
          </a:p>
        </p:txBody>
      </p:sp>
      <p:sp>
        <p:nvSpPr>
          <p:cNvPr id="21" name="Text 19"/>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Los contadores In [7], In [3], In [12] delatan un notebook que solo funciona en el orden en que su autor lo fue ejecutando.</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se rozan Jupyter y Git</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punto que las guías genéricas omiten y que en trabajo grupal aparece la primera semana.</a:t>
            </a:r>
            <a:endParaRPr lang="en-US" sz="1400" dirty="0"/>
          </a:p>
        </p:txBody>
      </p:sp>
      <p:sp>
        <p:nvSpPr>
          <p:cNvPr id="4" name="Shape 2"/>
          <p:cNvSpPr/>
          <p:nvPr/>
        </p:nvSpPr>
        <p:spPr>
          <a:xfrm>
            <a:off x="548640" y="1783080"/>
            <a:ext cx="11064240" cy="1051560"/>
          </a:xfrm>
          <a:prstGeom prst="roundRect">
            <a:avLst>
              <a:gd name="adj" fmla="val 7826"/>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965960"/>
            <a:ext cx="10424160" cy="685800"/>
          </a:xfrm>
          <a:prstGeom prst="rect">
            <a:avLst/>
          </a:prstGeom>
          <a:noFill/>
          <a:ln/>
        </p:spPr>
        <p:txBody>
          <a:bodyPr wrap="square" lIns="0" tIns="0" rIns="0" bIns="0" rtlCol="0" anchor="ctr"/>
          <a:lstStyle/>
          <a:p>
            <a:pPr marL="0" indent="0">
              <a:buNone/>
            </a:pPr>
            <a:r>
              <a:rPr lang="en-US" sz="1500" dirty="0">
                <a:solidFill>
                  <a:srgbClr val="06304A"/>
                </a:solidFill>
                <a:latin typeface="Calibri" pitchFamily="34" charset="0"/>
                <a:ea typeface="Calibri" pitchFamily="34" charset="-122"/>
                <a:cs typeface="Calibri" pitchFamily="34" charset="-120"/>
              </a:rPr>
              <a:t>Un archivo .ipynb guarda, dentro del mismo JSON, las salidas de cada celda y los contadores de ejecución.</a:t>
            </a:r>
            <a:endParaRPr lang="en-US" sz="1500" dirty="0"/>
          </a:p>
        </p:txBody>
      </p:sp>
      <p:sp>
        <p:nvSpPr>
          <p:cNvPr id="6" name="Shape 4"/>
          <p:cNvSpPr/>
          <p:nvPr/>
        </p:nvSpPr>
        <p:spPr>
          <a:xfrm>
            <a:off x="548640" y="3063240"/>
            <a:ext cx="3520440" cy="1600200"/>
          </a:xfrm>
          <a:prstGeom prst="roundRect">
            <a:avLst>
              <a:gd name="adj" fmla="val 5143"/>
            </a:avLst>
          </a:prstGeom>
          <a:solidFill>
            <a:srgbClr val="F4F7FA"/>
          </a:solidFill>
          <a:ln w="12700">
            <a:solidFill>
              <a:srgbClr val="F4F7FA"/>
            </a:solidFill>
            <a:prstDash val="solid"/>
          </a:ln>
        </p:spPr>
        <p:txBody>
          <a:bodyPr/>
          <a:lstStyle/>
          <a:p>
            <a:endParaRPr lang="es-CL"/>
          </a:p>
        </p:txBody>
      </p:sp>
      <p:sp>
        <p:nvSpPr>
          <p:cNvPr id="7" name="Text 5"/>
          <p:cNvSpPr/>
          <p:nvPr/>
        </p:nvSpPr>
        <p:spPr>
          <a:xfrm>
            <a:off x="777240" y="3246120"/>
            <a:ext cx="306324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Diferencias ilegibles</a:t>
            </a:r>
            <a:endParaRPr lang="en-US" sz="1400" dirty="0"/>
          </a:p>
        </p:txBody>
      </p:sp>
      <p:sp>
        <p:nvSpPr>
          <p:cNvPr id="8" name="Text 6"/>
          <p:cNvSpPr/>
          <p:nvPr/>
        </p:nvSpPr>
        <p:spPr>
          <a:xfrm>
            <a:off x="777240" y="3611880"/>
            <a:ext cx="3063240" cy="9144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Cambiar una línea genera cientos de líneas de diferencia, porque también cambian las imágenes codificadas.</a:t>
            </a:r>
            <a:endParaRPr lang="en-US" sz="1250" dirty="0"/>
          </a:p>
        </p:txBody>
      </p:sp>
      <p:sp>
        <p:nvSpPr>
          <p:cNvPr id="9" name="Shape 7"/>
          <p:cNvSpPr/>
          <p:nvPr/>
        </p:nvSpPr>
        <p:spPr>
          <a:xfrm>
            <a:off x="4325112" y="3063240"/>
            <a:ext cx="3520440" cy="1600200"/>
          </a:xfrm>
          <a:prstGeom prst="roundRect">
            <a:avLst>
              <a:gd name="adj" fmla="val 5143"/>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4553712" y="3246120"/>
            <a:ext cx="306324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Conflictos constantes</a:t>
            </a:r>
            <a:endParaRPr lang="en-US" sz="1400" dirty="0"/>
          </a:p>
        </p:txBody>
      </p:sp>
      <p:sp>
        <p:nvSpPr>
          <p:cNvPr id="11" name="Text 9"/>
          <p:cNvSpPr/>
          <p:nvPr/>
        </p:nvSpPr>
        <p:spPr>
          <a:xfrm>
            <a:off x="4553712" y="3611880"/>
            <a:ext cx="3063240" cy="9144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Dos personas que solo ejecutaron el notebook, sin editarlo, ya tienen versiones distintas.</a:t>
            </a:r>
            <a:endParaRPr lang="en-US" sz="1250" dirty="0"/>
          </a:p>
        </p:txBody>
      </p:sp>
      <p:sp>
        <p:nvSpPr>
          <p:cNvPr id="12" name="Shape 10"/>
          <p:cNvSpPr/>
          <p:nvPr/>
        </p:nvSpPr>
        <p:spPr>
          <a:xfrm>
            <a:off x="8101584" y="3063240"/>
            <a:ext cx="3520440" cy="1600200"/>
          </a:xfrm>
          <a:prstGeom prst="roundRect">
            <a:avLst>
              <a:gd name="adj" fmla="val 5143"/>
            </a:avLst>
          </a:prstGeom>
          <a:solidFill>
            <a:srgbClr val="F4F7FA"/>
          </a:solidFill>
          <a:ln w="12700">
            <a:solidFill>
              <a:srgbClr val="F4F7FA"/>
            </a:solidFill>
            <a:prstDash val="solid"/>
          </a:ln>
        </p:spPr>
        <p:txBody>
          <a:bodyPr/>
          <a:lstStyle/>
          <a:p>
            <a:endParaRPr lang="es-CL"/>
          </a:p>
        </p:txBody>
      </p:sp>
      <p:sp>
        <p:nvSpPr>
          <p:cNvPr id="13" name="Text 11"/>
          <p:cNvSpPr/>
          <p:nvPr/>
        </p:nvSpPr>
        <p:spPr>
          <a:xfrm>
            <a:off x="8330184" y="3246120"/>
            <a:ext cx="306324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Datos expuestos</a:t>
            </a:r>
            <a:endParaRPr lang="en-US" sz="1400" dirty="0"/>
          </a:p>
        </p:txBody>
      </p:sp>
      <p:sp>
        <p:nvSpPr>
          <p:cNvPr id="14" name="Text 12"/>
          <p:cNvSpPr/>
          <p:nvPr/>
        </p:nvSpPr>
        <p:spPr>
          <a:xfrm>
            <a:off x="8330184" y="3611880"/>
            <a:ext cx="3063240" cy="91440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Una tabla o un gráfico impreso puede dejar información sensible en un repositorio público.</a:t>
            </a:r>
            <a:endParaRPr lang="en-US" sz="1250" dirty="0"/>
          </a:p>
        </p:txBody>
      </p:sp>
      <p:sp>
        <p:nvSpPr>
          <p:cNvPr id="15" name="Shape 13"/>
          <p:cNvSpPr/>
          <p:nvPr/>
        </p:nvSpPr>
        <p:spPr>
          <a:xfrm>
            <a:off x="548640" y="4892040"/>
            <a:ext cx="11064240" cy="1051560"/>
          </a:xfrm>
          <a:prstGeom prst="roundRect">
            <a:avLst>
              <a:gd name="adj" fmla="val 7826"/>
            </a:avLst>
          </a:prstGeom>
          <a:solidFill>
            <a:srgbClr val="0A1526"/>
          </a:solidFill>
          <a:ln w="12700">
            <a:solidFill>
              <a:srgbClr val="0A1526"/>
            </a:solidFill>
            <a:prstDash val="solid"/>
          </a:ln>
        </p:spPr>
        <p:txBody>
          <a:bodyPr/>
          <a:lstStyle/>
          <a:p>
            <a:endParaRPr lang="es-CL"/>
          </a:p>
        </p:txBody>
      </p:sp>
      <p:sp>
        <p:nvSpPr>
          <p:cNvPr id="16" name="Text 14"/>
          <p:cNvSpPr/>
          <p:nvPr/>
        </p:nvSpPr>
        <p:spPr>
          <a:xfrm>
            <a:off x="868680" y="5029200"/>
            <a:ext cx="20116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Cómo se resuelve</a:t>
            </a:r>
            <a:endParaRPr lang="en-US" sz="1400" dirty="0"/>
          </a:p>
        </p:txBody>
      </p:sp>
      <p:sp>
        <p:nvSpPr>
          <p:cNvPr id="17" name="Text 15"/>
          <p:cNvSpPr/>
          <p:nvPr/>
        </p:nvSpPr>
        <p:spPr>
          <a:xfrm>
            <a:off x="2926080" y="5029200"/>
            <a:ext cx="8412480" cy="731520"/>
          </a:xfrm>
          <a:prstGeom prst="rect">
            <a:avLst/>
          </a:prstGeom>
          <a:noFill/>
          <a:ln/>
        </p:spPr>
        <p:txBody>
          <a:bodyPr wrap="square" lIns="0" tIns="0" rIns="0" bIns="0" rtlCol="0" anchor="ctr"/>
          <a:lstStyle/>
          <a:p>
            <a:pPr marL="0" indent="0">
              <a:lnSpc>
                <a:spcPts val="1800"/>
              </a:lnSpc>
              <a:buNone/>
            </a:pPr>
            <a:r>
              <a:rPr lang="en-US" sz="1350" dirty="0">
                <a:solidFill>
                  <a:srgbClr val="FFFFFF"/>
                </a:solidFill>
                <a:latin typeface="Calibri" pitchFamily="34" charset="0"/>
                <a:ea typeface="Calibri" pitchFamily="34" charset="-122"/>
                <a:cs typeface="Calibri" pitchFamily="34" charset="-120"/>
              </a:rPr>
              <a:t>nbstripout limpia las salidas antes de cada commit: el notebook en pantalla no cambia, solo se limpia lo que va al historial. Para la entrega, se exporta aparte el notebook ejecutado.</a:t>
            </a:r>
            <a:endParaRPr lang="en-US" sz="13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Git: por dónde pasa un archivo antes de quedar guardado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Tres estados. Entenderlos evita la mayoría de las confusiones posteriores.</a:t>
            </a:r>
            <a:endParaRPr lang="en-US" sz="1400" dirty="0"/>
          </a:p>
        </p:txBody>
      </p:sp>
      <p:sp>
        <p:nvSpPr>
          <p:cNvPr id="4" name="Shape 2"/>
          <p:cNvSpPr/>
          <p:nvPr/>
        </p:nvSpPr>
        <p:spPr>
          <a:xfrm>
            <a:off x="548640" y="1920240"/>
            <a:ext cx="3291840" cy="1737360"/>
          </a:xfrm>
          <a:prstGeom prst="roundRect">
            <a:avLst>
              <a:gd name="adj" fmla="val 4737"/>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103120"/>
            <a:ext cx="402336" cy="402336"/>
          </a:xfrm>
          <a:prstGeom prst="ellipse">
            <a:avLst/>
          </a:prstGeom>
          <a:solidFill>
            <a:srgbClr val="AC212E"/>
          </a:solidFill>
          <a:ln/>
        </p:spPr>
        <p:txBody>
          <a:bodyPr/>
          <a:lstStyle/>
          <a:p>
            <a:endParaRPr lang="es-CL"/>
          </a:p>
        </p:txBody>
      </p:sp>
      <p:sp>
        <p:nvSpPr>
          <p:cNvPr id="6" name="Text 4"/>
          <p:cNvSpPr/>
          <p:nvPr/>
        </p:nvSpPr>
        <p:spPr>
          <a:xfrm>
            <a:off x="777240" y="21031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98448" y="2084832"/>
            <a:ext cx="2331720" cy="41148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Working Directory</a:t>
            </a:r>
            <a:endParaRPr lang="en-US" sz="1500" dirty="0"/>
          </a:p>
        </p:txBody>
      </p:sp>
      <p:sp>
        <p:nvSpPr>
          <p:cNvPr id="8" name="Text 6"/>
          <p:cNvSpPr/>
          <p:nvPr/>
        </p:nvSpPr>
        <p:spPr>
          <a:xfrm>
            <a:off x="777240" y="2651760"/>
            <a:ext cx="2834640" cy="8686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Usted edita y guarda archivos. Git ve el cambio pero no lo ha registrado.</a:t>
            </a:r>
            <a:endParaRPr lang="en-US" sz="1250" dirty="0"/>
          </a:p>
        </p:txBody>
      </p:sp>
      <p:sp>
        <p:nvSpPr>
          <p:cNvPr id="9" name="Shape 7"/>
          <p:cNvSpPr/>
          <p:nvPr/>
        </p:nvSpPr>
        <p:spPr>
          <a:xfrm>
            <a:off x="4617720" y="1920240"/>
            <a:ext cx="3291840" cy="1737360"/>
          </a:xfrm>
          <a:prstGeom prst="roundRect">
            <a:avLst>
              <a:gd name="adj" fmla="val 4737"/>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846320" y="2103120"/>
            <a:ext cx="402336" cy="402336"/>
          </a:xfrm>
          <a:prstGeom prst="ellipse">
            <a:avLst/>
          </a:prstGeom>
          <a:solidFill>
            <a:srgbClr val="AC212E"/>
          </a:solidFill>
          <a:ln/>
        </p:spPr>
        <p:txBody>
          <a:bodyPr/>
          <a:lstStyle/>
          <a:p>
            <a:endParaRPr lang="es-CL"/>
          </a:p>
        </p:txBody>
      </p:sp>
      <p:sp>
        <p:nvSpPr>
          <p:cNvPr id="11" name="Text 9"/>
          <p:cNvSpPr/>
          <p:nvPr/>
        </p:nvSpPr>
        <p:spPr>
          <a:xfrm>
            <a:off x="4846320" y="21031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5367528" y="2084832"/>
            <a:ext cx="2331720" cy="41148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Staging Area</a:t>
            </a:r>
            <a:endParaRPr lang="en-US" sz="1500" dirty="0"/>
          </a:p>
        </p:txBody>
      </p:sp>
      <p:sp>
        <p:nvSpPr>
          <p:cNvPr id="13" name="Text 11"/>
          <p:cNvSpPr/>
          <p:nvPr/>
        </p:nvSpPr>
        <p:spPr>
          <a:xfrm>
            <a:off x="4846320" y="2651760"/>
            <a:ext cx="2834640" cy="8686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Zona intermedia: aquí elige qué cambios entran en el próximo registro.</a:t>
            </a:r>
            <a:endParaRPr lang="en-US" sz="1250" dirty="0"/>
          </a:p>
        </p:txBody>
      </p:sp>
      <p:sp>
        <p:nvSpPr>
          <p:cNvPr id="14" name="Shape 12"/>
          <p:cNvSpPr/>
          <p:nvPr/>
        </p:nvSpPr>
        <p:spPr>
          <a:xfrm>
            <a:off x="8686800" y="1920240"/>
            <a:ext cx="3291840" cy="1737360"/>
          </a:xfrm>
          <a:prstGeom prst="roundRect">
            <a:avLst>
              <a:gd name="adj" fmla="val 4737"/>
            </a:avLst>
          </a:prstGeom>
          <a:solidFill>
            <a:srgbClr val="0A1526"/>
          </a:solidFill>
          <a:ln w="12700">
            <a:solidFill>
              <a:srgbClr val="0A1526"/>
            </a:solidFill>
            <a:prstDash val="solid"/>
          </a:ln>
        </p:spPr>
        <p:txBody>
          <a:bodyPr/>
          <a:lstStyle/>
          <a:p>
            <a:endParaRPr lang="es-CL"/>
          </a:p>
        </p:txBody>
      </p:sp>
      <p:sp>
        <p:nvSpPr>
          <p:cNvPr id="15" name="Shape 13"/>
          <p:cNvSpPr/>
          <p:nvPr/>
        </p:nvSpPr>
        <p:spPr>
          <a:xfrm>
            <a:off x="8915400" y="2103120"/>
            <a:ext cx="402336" cy="402336"/>
          </a:xfrm>
          <a:prstGeom prst="ellipse">
            <a:avLst/>
          </a:prstGeom>
          <a:solidFill>
            <a:srgbClr val="AC212E"/>
          </a:solidFill>
          <a:ln/>
        </p:spPr>
        <p:txBody>
          <a:bodyPr/>
          <a:lstStyle/>
          <a:p>
            <a:endParaRPr lang="es-CL"/>
          </a:p>
        </p:txBody>
      </p:sp>
      <p:sp>
        <p:nvSpPr>
          <p:cNvPr id="16" name="Text 14"/>
          <p:cNvSpPr/>
          <p:nvPr/>
        </p:nvSpPr>
        <p:spPr>
          <a:xfrm>
            <a:off x="8915400" y="21031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9436608" y="2084832"/>
            <a:ext cx="2331720" cy="4114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Committed</a:t>
            </a:r>
            <a:endParaRPr lang="en-US" sz="1500" dirty="0"/>
          </a:p>
        </p:txBody>
      </p:sp>
      <p:sp>
        <p:nvSpPr>
          <p:cNvPr id="18" name="Text 16"/>
          <p:cNvSpPr/>
          <p:nvPr/>
        </p:nvSpPr>
        <p:spPr>
          <a:xfrm>
            <a:off x="8915400" y="2651760"/>
            <a:ext cx="2834640" cy="86868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Git guardó esa versión en el historial, con autor, fecha y mensaje.</a:t>
            </a:r>
            <a:endParaRPr lang="en-US" sz="1250" dirty="0"/>
          </a:p>
        </p:txBody>
      </p:sp>
      <p:sp>
        <p:nvSpPr>
          <p:cNvPr id="19" name="Text 17"/>
          <p:cNvSpPr/>
          <p:nvPr/>
        </p:nvSpPr>
        <p:spPr>
          <a:xfrm>
            <a:off x="3840480" y="2331720"/>
            <a:ext cx="777240" cy="365760"/>
          </a:xfrm>
          <a:prstGeom prst="rect">
            <a:avLst/>
          </a:prstGeom>
          <a:noFill/>
          <a:ln/>
        </p:spPr>
        <p:txBody>
          <a:bodyPr wrap="square" lIns="0" tIns="0" rIns="0" bIns="0" rtlCol="0" anchor="ctr"/>
          <a:lstStyle/>
          <a:p>
            <a:pPr marL="0" indent="0" algn="ctr">
              <a:buNone/>
            </a:pPr>
            <a:r>
              <a:rPr lang="en-US" sz="2000" dirty="0">
                <a:solidFill>
                  <a:srgbClr val="AC212E"/>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3840480" y="2697480"/>
            <a:ext cx="777240" cy="274320"/>
          </a:xfrm>
          <a:prstGeom prst="rect">
            <a:avLst/>
          </a:prstGeom>
          <a:noFill/>
          <a:ln/>
        </p:spPr>
        <p:txBody>
          <a:bodyPr wrap="square" lIns="0" tIns="0" rIns="0" bIns="0" rtlCol="0" anchor="ctr"/>
          <a:lstStyle/>
          <a:p>
            <a:pPr marL="0" indent="0" algn="ctr">
              <a:buNone/>
            </a:pPr>
            <a:r>
              <a:rPr lang="en-US" sz="850" dirty="0">
                <a:solidFill>
                  <a:srgbClr val="AC212E"/>
                </a:solidFill>
                <a:latin typeface="Courier New" pitchFamily="34" charset="0"/>
                <a:ea typeface="Courier New" pitchFamily="34" charset="-122"/>
                <a:cs typeface="Courier New" pitchFamily="34" charset="-120"/>
              </a:rPr>
              <a:t>git add</a:t>
            </a:r>
            <a:endParaRPr lang="en-US" sz="850" dirty="0"/>
          </a:p>
        </p:txBody>
      </p:sp>
      <p:sp>
        <p:nvSpPr>
          <p:cNvPr id="21" name="Text 19"/>
          <p:cNvSpPr/>
          <p:nvPr/>
        </p:nvSpPr>
        <p:spPr>
          <a:xfrm>
            <a:off x="7909560" y="2331720"/>
            <a:ext cx="777240" cy="365760"/>
          </a:xfrm>
          <a:prstGeom prst="rect">
            <a:avLst/>
          </a:prstGeom>
          <a:noFill/>
          <a:ln/>
        </p:spPr>
        <p:txBody>
          <a:bodyPr wrap="square" lIns="0" tIns="0" rIns="0" bIns="0" rtlCol="0" anchor="ctr"/>
          <a:lstStyle/>
          <a:p>
            <a:pPr marL="0" indent="0" algn="ctr">
              <a:buNone/>
            </a:pPr>
            <a:r>
              <a:rPr lang="en-US" sz="2000" dirty="0">
                <a:solidFill>
                  <a:srgbClr val="AC212E"/>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7909560" y="2697480"/>
            <a:ext cx="777240" cy="274320"/>
          </a:xfrm>
          <a:prstGeom prst="rect">
            <a:avLst/>
          </a:prstGeom>
          <a:noFill/>
          <a:ln/>
        </p:spPr>
        <p:txBody>
          <a:bodyPr wrap="square" lIns="0" tIns="0" rIns="0" bIns="0" rtlCol="0" anchor="ctr"/>
          <a:lstStyle/>
          <a:p>
            <a:pPr marL="0" indent="0" algn="ctr">
              <a:buNone/>
            </a:pPr>
            <a:r>
              <a:rPr lang="en-US" sz="850" dirty="0">
                <a:solidFill>
                  <a:srgbClr val="AC212E"/>
                </a:solidFill>
                <a:latin typeface="Courier New" pitchFamily="34" charset="0"/>
                <a:ea typeface="Courier New" pitchFamily="34" charset="-122"/>
                <a:cs typeface="Courier New" pitchFamily="34" charset="-120"/>
              </a:rPr>
              <a:t>git commit</a:t>
            </a:r>
            <a:endParaRPr lang="en-US" sz="850" dirty="0"/>
          </a:p>
        </p:txBody>
      </p:sp>
      <p:sp>
        <p:nvSpPr>
          <p:cNvPr id="23" name="Text 21"/>
          <p:cNvSpPr/>
          <p:nvPr/>
        </p:nvSpPr>
        <p:spPr>
          <a:xfrm>
            <a:off x="548640" y="3977640"/>
            <a:ext cx="54864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El ciclo diario</a:t>
            </a:r>
            <a:endParaRPr lang="en-US" sz="1600" dirty="0"/>
          </a:p>
        </p:txBody>
      </p:sp>
      <p:sp>
        <p:nvSpPr>
          <p:cNvPr id="24" name="Shape 22"/>
          <p:cNvSpPr/>
          <p:nvPr/>
        </p:nvSpPr>
        <p:spPr>
          <a:xfrm>
            <a:off x="548640" y="4389120"/>
            <a:ext cx="5577840" cy="1554480"/>
          </a:xfrm>
          <a:prstGeom prst="roundRect">
            <a:avLst>
              <a:gd name="adj" fmla="val 5294"/>
            </a:avLst>
          </a:prstGeom>
          <a:solidFill>
            <a:srgbClr val="F4F7FA"/>
          </a:solidFill>
          <a:ln w="12700">
            <a:solidFill>
              <a:srgbClr val="F4F7FA"/>
            </a:solidFill>
            <a:prstDash val="solid"/>
          </a:ln>
        </p:spPr>
        <p:txBody>
          <a:bodyPr/>
          <a:lstStyle/>
          <a:p>
            <a:endParaRPr lang="es-CL"/>
          </a:p>
        </p:txBody>
      </p:sp>
      <p:sp>
        <p:nvSpPr>
          <p:cNvPr id="25" name="Text 23"/>
          <p:cNvSpPr/>
          <p:nvPr/>
        </p:nvSpPr>
        <p:spPr>
          <a:xfrm>
            <a:off x="868680" y="4572000"/>
            <a:ext cx="5029200" cy="118872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status    ¿qué cambió?</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add .     preparar los cambios</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commit -m "Describe el avance"</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git log --oneline    ver el historial</a:t>
            </a:r>
            <a:endParaRPr lang="en-US" sz="1100" dirty="0"/>
          </a:p>
        </p:txBody>
      </p:sp>
      <p:sp>
        <p:nvSpPr>
          <p:cNvPr id="26" name="Shape 24"/>
          <p:cNvSpPr/>
          <p:nvPr/>
        </p:nvSpPr>
        <p:spPr>
          <a:xfrm>
            <a:off x="6400800" y="3977640"/>
            <a:ext cx="5212080" cy="1965960"/>
          </a:xfrm>
          <a:prstGeom prst="roundRect">
            <a:avLst>
              <a:gd name="adj" fmla="val 4186"/>
            </a:avLst>
          </a:prstGeom>
          <a:solidFill>
            <a:srgbClr val="F6E7E9"/>
          </a:solidFill>
          <a:ln w="12700">
            <a:solidFill>
              <a:srgbClr val="F6E7E9"/>
            </a:solidFill>
            <a:prstDash val="solid"/>
          </a:ln>
        </p:spPr>
        <p:txBody>
          <a:bodyPr/>
          <a:lstStyle/>
          <a:p>
            <a:endParaRPr lang="es-CL"/>
          </a:p>
        </p:txBody>
      </p:sp>
      <p:sp>
        <p:nvSpPr>
          <p:cNvPr id="27" name="Text 25"/>
          <p:cNvSpPr/>
          <p:nvPr/>
        </p:nvSpPr>
        <p:spPr>
          <a:xfrm>
            <a:off x="6720840" y="4160520"/>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mensaje del commit importa</a:t>
            </a:r>
            <a:endParaRPr lang="en-US" sz="1400" dirty="0"/>
          </a:p>
        </p:txBody>
      </p:sp>
      <p:sp>
        <p:nvSpPr>
          <p:cNvPr id="28" name="Text 26"/>
          <p:cNvSpPr/>
          <p:nvPr/>
        </p:nvSpPr>
        <p:spPr>
          <a:xfrm>
            <a:off x="6720840" y="4526280"/>
            <a:ext cx="4572000" cy="128016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«primer commit» no dice nada.</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«docs: crea estructura inicial del proyecto» sí.</a:t>
            </a:r>
            <a:endParaRPr lang="en-US" sz="1250" dirty="0"/>
          </a:p>
          <a:p>
            <a:pPr marL="0" indent="0">
              <a:lnSpc>
                <a:spcPts val="1700"/>
              </a:lnSpc>
              <a:buNone/>
            </a:pP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La prueba: si alguien lee solo su historial, ¿entiende cómo evolucionó el trabajo?</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GitHub: donde el trabajo se vuelve colectivo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Git registra su historia local. GitHub la pone en común con el equipo.</a:t>
            </a:r>
            <a:endParaRPr lang="en-US" sz="1400" dirty="0"/>
          </a:p>
        </p:txBody>
      </p:sp>
      <p:sp>
        <p:nvSpPr>
          <p:cNvPr id="4" name="Shape 2"/>
          <p:cNvSpPr/>
          <p:nvPr/>
        </p:nvSpPr>
        <p:spPr>
          <a:xfrm>
            <a:off x="54864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194560"/>
            <a:ext cx="402336" cy="402336"/>
          </a:xfrm>
          <a:prstGeom prst="ellipse">
            <a:avLst/>
          </a:prstGeom>
          <a:solidFill>
            <a:srgbClr val="AC212E"/>
          </a:solidFill>
          <a:ln/>
        </p:spPr>
        <p:txBody>
          <a:bodyPr/>
          <a:lstStyle/>
          <a:p>
            <a:endParaRPr lang="es-CL"/>
          </a:p>
        </p:txBody>
      </p:sp>
      <p:sp>
        <p:nvSpPr>
          <p:cNvPr id="6" name="Text 4"/>
          <p:cNvSpPr/>
          <p:nvPr/>
        </p:nvSpPr>
        <p:spPr>
          <a:xfrm>
            <a:off x="804672" y="21945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53312" y="192024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Repositorio remoto</a:t>
            </a:r>
            <a:endParaRPr lang="en-US" sz="1500" dirty="0"/>
          </a:p>
        </p:txBody>
      </p:sp>
      <p:sp>
        <p:nvSpPr>
          <p:cNvPr id="8" name="Text 6"/>
          <p:cNvSpPr/>
          <p:nvPr/>
        </p:nvSpPr>
        <p:spPr>
          <a:xfrm>
            <a:off x="1353312" y="225856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Una copia del proyecto en la nube, con todo el historial. Es el respaldo y el punto de referencia común.</a:t>
            </a:r>
            <a:endParaRPr lang="en-US" sz="1250" dirty="0"/>
          </a:p>
        </p:txBody>
      </p:sp>
      <p:sp>
        <p:nvSpPr>
          <p:cNvPr id="9" name="Shape 7"/>
          <p:cNvSpPr/>
          <p:nvPr/>
        </p:nvSpPr>
        <p:spPr>
          <a:xfrm>
            <a:off x="6309360" y="178308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65392" y="2194560"/>
            <a:ext cx="402336" cy="402336"/>
          </a:xfrm>
          <a:prstGeom prst="ellipse">
            <a:avLst/>
          </a:prstGeom>
          <a:solidFill>
            <a:srgbClr val="AC212E"/>
          </a:solidFill>
          <a:ln/>
        </p:spPr>
        <p:txBody>
          <a:bodyPr/>
          <a:lstStyle/>
          <a:p>
            <a:endParaRPr lang="es-CL"/>
          </a:p>
        </p:txBody>
      </p:sp>
      <p:sp>
        <p:nvSpPr>
          <p:cNvPr id="11" name="Text 9"/>
          <p:cNvSpPr/>
          <p:nvPr/>
        </p:nvSpPr>
        <p:spPr>
          <a:xfrm>
            <a:off x="6565392" y="21945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7114032" y="192024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Colaboradores</a:t>
            </a:r>
            <a:endParaRPr lang="en-US" sz="1500" dirty="0"/>
          </a:p>
        </p:txBody>
      </p:sp>
      <p:sp>
        <p:nvSpPr>
          <p:cNvPr id="13" name="Text 11"/>
          <p:cNvSpPr/>
          <p:nvPr/>
        </p:nvSpPr>
        <p:spPr>
          <a:xfrm>
            <a:off x="7114032" y="225856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Cada integrante recibe acceso de escritura y trabaja sobre el mismo repositorio, con sus propios commits.</a:t>
            </a:r>
            <a:endParaRPr lang="en-US" sz="1250" dirty="0"/>
          </a:p>
        </p:txBody>
      </p:sp>
      <p:sp>
        <p:nvSpPr>
          <p:cNvPr id="14" name="Shape 12"/>
          <p:cNvSpPr/>
          <p:nvPr/>
        </p:nvSpPr>
        <p:spPr>
          <a:xfrm>
            <a:off x="54864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04672" y="3657600"/>
            <a:ext cx="402336" cy="402336"/>
          </a:xfrm>
          <a:prstGeom prst="ellipse">
            <a:avLst/>
          </a:prstGeom>
          <a:solidFill>
            <a:srgbClr val="AC212E"/>
          </a:solidFill>
          <a:ln/>
        </p:spPr>
        <p:txBody>
          <a:bodyPr/>
          <a:lstStyle/>
          <a:p>
            <a:endParaRPr lang="es-CL"/>
          </a:p>
        </p:txBody>
      </p:sp>
      <p:sp>
        <p:nvSpPr>
          <p:cNvPr id="16" name="Text 14"/>
          <p:cNvSpPr/>
          <p:nvPr/>
        </p:nvSpPr>
        <p:spPr>
          <a:xfrm>
            <a:off x="804672" y="36576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53312" y="338328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Ramas</a:t>
            </a:r>
            <a:endParaRPr lang="en-US" sz="1500" dirty="0"/>
          </a:p>
        </p:txBody>
      </p:sp>
      <p:sp>
        <p:nvSpPr>
          <p:cNvPr id="18" name="Text 16"/>
          <p:cNvSpPr/>
          <p:nvPr/>
        </p:nvSpPr>
        <p:spPr>
          <a:xfrm>
            <a:off x="1353312" y="372160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Líneas de trabajo paralelas: se experimenta sin tocar la versión estable del proyecto.</a:t>
            </a:r>
            <a:endParaRPr lang="en-US" sz="1250" dirty="0"/>
          </a:p>
        </p:txBody>
      </p:sp>
      <p:sp>
        <p:nvSpPr>
          <p:cNvPr id="19" name="Shape 17"/>
          <p:cNvSpPr/>
          <p:nvPr/>
        </p:nvSpPr>
        <p:spPr>
          <a:xfrm>
            <a:off x="6309360" y="3246120"/>
            <a:ext cx="5303520" cy="1280160"/>
          </a:xfrm>
          <a:prstGeom prst="roundRect">
            <a:avLst>
              <a:gd name="adj" fmla="val 6429"/>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65392" y="3657600"/>
            <a:ext cx="402336" cy="402336"/>
          </a:xfrm>
          <a:prstGeom prst="ellipse">
            <a:avLst/>
          </a:prstGeom>
          <a:solidFill>
            <a:srgbClr val="AC212E"/>
          </a:solidFill>
          <a:ln/>
        </p:spPr>
        <p:txBody>
          <a:bodyPr/>
          <a:lstStyle/>
          <a:p>
            <a:endParaRPr lang="es-CL"/>
          </a:p>
        </p:txBody>
      </p:sp>
      <p:sp>
        <p:nvSpPr>
          <p:cNvPr id="21" name="Text 19"/>
          <p:cNvSpPr/>
          <p:nvPr/>
        </p:nvSpPr>
        <p:spPr>
          <a:xfrm>
            <a:off x="6565392" y="36576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7114032" y="3383280"/>
            <a:ext cx="4297680" cy="32004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Pull Request</a:t>
            </a:r>
            <a:endParaRPr lang="en-US" sz="1500" dirty="0"/>
          </a:p>
        </p:txBody>
      </p:sp>
      <p:sp>
        <p:nvSpPr>
          <p:cNvPr id="23" name="Text 21"/>
          <p:cNvSpPr/>
          <p:nvPr/>
        </p:nvSpPr>
        <p:spPr>
          <a:xfrm>
            <a:off x="7114032" y="3721608"/>
            <a:ext cx="434340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Propuesta de integrar una rama, abierta a revisión. Deja registro de la discusión, no solo del código.</a:t>
            </a:r>
            <a:endParaRPr lang="en-US" sz="1250" dirty="0"/>
          </a:p>
        </p:txBody>
      </p:sp>
      <p:sp>
        <p:nvSpPr>
          <p:cNvPr id="24" name="Shape 22"/>
          <p:cNvSpPr/>
          <p:nvPr/>
        </p:nvSpPr>
        <p:spPr>
          <a:xfrm>
            <a:off x="548640" y="4846320"/>
            <a:ext cx="11064240" cy="1051560"/>
          </a:xfrm>
          <a:prstGeom prst="roundRect">
            <a:avLst>
              <a:gd name="adj" fmla="val 7826"/>
            </a:avLst>
          </a:prstGeom>
          <a:solidFill>
            <a:srgbClr val="0A1526"/>
          </a:solidFill>
          <a:ln w="12700">
            <a:solidFill>
              <a:srgbClr val="0A1526"/>
            </a:solidFill>
            <a:prstDash val="solid"/>
          </a:ln>
        </p:spPr>
        <p:txBody>
          <a:bodyPr/>
          <a:lstStyle/>
          <a:p>
            <a:endParaRPr lang="es-CL"/>
          </a:p>
        </p:txBody>
      </p:sp>
      <p:sp>
        <p:nvSpPr>
          <p:cNvPr id="25" name="Text 23"/>
          <p:cNvSpPr/>
          <p:nvPr/>
        </p:nvSpPr>
        <p:spPr>
          <a:xfrm>
            <a:off x="868680" y="5029200"/>
            <a:ext cx="10424160" cy="685800"/>
          </a:xfrm>
          <a:prstGeom prst="rect">
            <a:avLst/>
          </a:prstGeom>
          <a:noFill/>
          <a:ln/>
        </p:spPr>
        <p:txBody>
          <a:bodyPr wrap="square" lIns="0" tIns="0" rIns="0" bIns="0" rtlCol="0" anchor="ctr"/>
          <a:lstStyle/>
          <a:p>
            <a:pPr marL="0" indent="0">
              <a:lnSpc>
                <a:spcPts val="2000"/>
              </a:lnSpc>
              <a:buNone/>
            </a:pPr>
            <a:r>
              <a:rPr lang="en-US" sz="1450" dirty="0">
                <a:solidFill>
                  <a:srgbClr val="FFFFFF"/>
                </a:solidFill>
                <a:latin typeface="Calibri" pitchFamily="34" charset="0"/>
                <a:ea typeface="Calibri" pitchFamily="34" charset="-122"/>
                <a:cs typeface="Calibri" pitchFamily="34" charset="-120"/>
              </a:rPr>
              <a:t>El historial muestra quién hizo qué y cuándo. En el proyecto del curso eso no es un detalle administrativo: es la evidencia de que el trabajo fue efectivamente grupal.</a:t>
            </a:r>
            <a:endParaRPr lang="en-US" sz="14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Cómo se coordinan entre sí</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Tres piezas viven en su computador. Una vive en la nube. Dos comandos las conectan.</a:t>
            </a:r>
            <a:endParaRPr lang="en-US" sz="1400" dirty="0"/>
          </a:p>
        </p:txBody>
      </p:sp>
      <p:sp>
        <p:nvSpPr>
          <p:cNvPr id="4" name="Shape 2"/>
          <p:cNvSpPr/>
          <p:nvPr/>
        </p:nvSpPr>
        <p:spPr>
          <a:xfrm>
            <a:off x="548640" y="1828800"/>
            <a:ext cx="5943600" cy="3200400"/>
          </a:xfrm>
          <a:prstGeom prst="roundRect">
            <a:avLst>
              <a:gd name="adj" fmla="val 2857"/>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68680" y="2011680"/>
            <a:ext cx="530352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EN SU COMPUTADOR</a:t>
            </a:r>
            <a:endParaRPr lang="en-US" sz="1200" dirty="0"/>
          </a:p>
        </p:txBody>
      </p:sp>
      <p:sp>
        <p:nvSpPr>
          <p:cNvPr id="6" name="Shape 4"/>
          <p:cNvSpPr/>
          <p:nvPr/>
        </p:nvSpPr>
        <p:spPr>
          <a:xfrm>
            <a:off x="868680" y="2468880"/>
            <a:ext cx="5303520" cy="685800"/>
          </a:xfrm>
          <a:prstGeom prst="roundRect">
            <a:avLst>
              <a:gd name="adj" fmla="val 8000"/>
            </a:avLst>
          </a:prstGeom>
          <a:solidFill>
            <a:srgbClr val="1B2E4D"/>
          </a:solidFill>
          <a:ln w="12700">
            <a:solidFill>
              <a:srgbClr val="1B2E4D"/>
            </a:solidFill>
            <a:prstDash val="solid"/>
          </a:ln>
        </p:spPr>
        <p:txBody>
          <a:bodyPr/>
          <a:lstStyle/>
          <a:p>
            <a:endParaRPr lang="es-CL"/>
          </a:p>
        </p:txBody>
      </p:sp>
      <p:sp>
        <p:nvSpPr>
          <p:cNvPr id="7" name="Text 5"/>
          <p:cNvSpPr/>
          <p:nvPr/>
        </p:nvSpPr>
        <p:spPr>
          <a:xfrm>
            <a:off x="1097280" y="2542032"/>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Python + entorno virtual</a:t>
            </a:r>
            <a:endParaRPr lang="en-US" sz="1350" dirty="0"/>
          </a:p>
        </p:txBody>
      </p:sp>
      <p:sp>
        <p:nvSpPr>
          <p:cNvPr id="8" name="Text 6"/>
          <p:cNvSpPr/>
          <p:nvPr/>
        </p:nvSpPr>
        <p:spPr>
          <a:xfrm>
            <a:off x="1097280" y="2834640"/>
            <a:ext cx="4846320" cy="274320"/>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ejecuta el código y aísla las versiones</a:t>
            </a:r>
            <a:endParaRPr lang="en-US" sz="1150" dirty="0"/>
          </a:p>
        </p:txBody>
      </p:sp>
      <p:sp>
        <p:nvSpPr>
          <p:cNvPr id="9" name="Shape 7"/>
          <p:cNvSpPr/>
          <p:nvPr/>
        </p:nvSpPr>
        <p:spPr>
          <a:xfrm>
            <a:off x="868680" y="3291840"/>
            <a:ext cx="5303520" cy="685800"/>
          </a:xfrm>
          <a:prstGeom prst="roundRect">
            <a:avLst>
              <a:gd name="adj" fmla="val 8000"/>
            </a:avLst>
          </a:prstGeom>
          <a:solidFill>
            <a:srgbClr val="1B2E4D"/>
          </a:solidFill>
          <a:ln w="12700">
            <a:solidFill>
              <a:srgbClr val="1B2E4D"/>
            </a:solidFill>
            <a:prstDash val="solid"/>
          </a:ln>
        </p:spPr>
        <p:txBody>
          <a:bodyPr/>
          <a:lstStyle/>
          <a:p>
            <a:endParaRPr lang="es-CL"/>
          </a:p>
        </p:txBody>
      </p:sp>
      <p:sp>
        <p:nvSpPr>
          <p:cNvPr id="10" name="Text 8"/>
          <p:cNvSpPr/>
          <p:nvPr/>
        </p:nvSpPr>
        <p:spPr>
          <a:xfrm>
            <a:off x="1097280" y="3364992"/>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Jupyter Notebook</a:t>
            </a:r>
            <a:endParaRPr lang="en-US" sz="1350" dirty="0"/>
          </a:p>
        </p:txBody>
      </p:sp>
      <p:sp>
        <p:nvSpPr>
          <p:cNvPr id="11" name="Text 9"/>
          <p:cNvSpPr/>
          <p:nvPr/>
        </p:nvSpPr>
        <p:spPr>
          <a:xfrm>
            <a:off x="1097280" y="3657600"/>
            <a:ext cx="4846320" cy="274320"/>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escribe el análisis y su explicación</a:t>
            </a:r>
            <a:endParaRPr lang="en-US" sz="1150" dirty="0"/>
          </a:p>
        </p:txBody>
      </p:sp>
      <p:sp>
        <p:nvSpPr>
          <p:cNvPr id="12" name="Shape 10"/>
          <p:cNvSpPr/>
          <p:nvPr/>
        </p:nvSpPr>
        <p:spPr>
          <a:xfrm>
            <a:off x="868680" y="4114800"/>
            <a:ext cx="5303520" cy="685800"/>
          </a:xfrm>
          <a:prstGeom prst="roundRect">
            <a:avLst>
              <a:gd name="adj" fmla="val 8000"/>
            </a:avLst>
          </a:prstGeom>
          <a:solidFill>
            <a:srgbClr val="1B2E4D"/>
          </a:solidFill>
          <a:ln w="12700">
            <a:solidFill>
              <a:srgbClr val="1B2E4D"/>
            </a:solidFill>
            <a:prstDash val="solid"/>
          </a:ln>
        </p:spPr>
        <p:txBody>
          <a:bodyPr/>
          <a:lstStyle/>
          <a:p>
            <a:endParaRPr lang="es-CL"/>
          </a:p>
        </p:txBody>
      </p:sp>
      <p:sp>
        <p:nvSpPr>
          <p:cNvPr id="13" name="Text 11"/>
          <p:cNvSpPr/>
          <p:nvPr/>
        </p:nvSpPr>
        <p:spPr>
          <a:xfrm>
            <a:off x="1097280" y="4187952"/>
            <a:ext cx="484632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Git</a:t>
            </a:r>
            <a:endParaRPr lang="en-US" sz="1350" dirty="0"/>
          </a:p>
        </p:txBody>
      </p:sp>
      <p:sp>
        <p:nvSpPr>
          <p:cNvPr id="14" name="Text 12"/>
          <p:cNvSpPr/>
          <p:nvPr/>
        </p:nvSpPr>
        <p:spPr>
          <a:xfrm>
            <a:off x="1097280" y="4480560"/>
            <a:ext cx="4846320" cy="274320"/>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registra cada cambio en el historial local</a:t>
            </a:r>
            <a:endParaRPr lang="en-US" sz="1150" dirty="0"/>
          </a:p>
        </p:txBody>
      </p:sp>
      <p:sp>
        <p:nvSpPr>
          <p:cNvPr id="15" name="Shape 13"/>
          <p:cNvSpPr/>
          <p:nvPr/>
        </p:nvSpPr>
        <p:spPr>
          <a:xfrm>
            <a:off x="8229600" y="1828800"/>
            <a:ext cx="3383280" cy="3200400"/>
          </a:xfrm>
          <a:prstGeom prst="roundRect">
            <a:avLst>
              <a:gd name="adj" fmla="val 2857"/>
            </a:avLst>
          </a:prstGeom>
          <a:solidFill>
            <a:srgbClr val="12203A"/>
          </a:solidFill>
          <a:ln w="12700">
            <a:solidFill>
              <a:srgbClr val="12203A"/>
            </a:solidFill>
            <a:prstDash val="solid"/>
          </a:ln>
        </p:spPr>
        <p:txBody>
          <a:bodyPr/>
          <a:lstStyle/>
          <a:p>
            <a:endParaRPr lang="es-CL"/>
          </a:p>
        </p:txBody>
      </p:sp>
      <p:sp>
        <p:nvSpPr>
          <p:cNvPr id="16" name="Text 14"/>
          <p:cNvSpPr/>
          <p:nvPr/>
        </p:nvSpPr>
        <p:spPr>
          <a:xfrm>
            <a:off x="8549640" y="2011680"/>
            <a:ext cx="274320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EN LA NUBE</a:t>
            </a:r>
            <a:endParaRPr lang="en-US" sz="1200" dirty="0"/>
          </a:p>
        </p:txBody>
      </p:sp>
      <p:sp>
        <p:nvSpPr>
          <p:cNvPr id="17" name="Shape 15"/>
          <p:cNvSpPr/>
          <p:nvPr/>
        </p:nvSpPr>
        <p:spPr>
          <a:xfrm>
            <a:off x="8549640" y="2468880"/>
            <a:ext cx="2743200" cy="2194560"/>
          </a:xfrm>
          <a:prstGeom prst="roundRect">
            <a:avLst>
              <a:gd name="adj" fmla="val 2500"/>
            </a:avLst>
          </a:prstGeom>
          <a:solidFill>
            <a:srgbClr val="1B2E4D"/>
          </a:solidFill>
          <a:ln w="12700">
            <a:solidFill>
              <a:srgbClr val="1B2E4D"/>
            </a:solidFill>
            <a:prstDash val="solid"/>
          </a:ln>
        </p:spPr>
        <p:txBody>
          <a:bodyPr/>
          <a:lstStyle/>
          <a:p>
            <a:endParaRPr lang="es-CL"/>
          </a:p>
        </p:txBody>
      </p:sp>
      <p:sp>
        <p:nvSpPr>
          <p:cNvPr id="18" name="Text 16"/>
          <p:cNvSpPr/>
          <p:nvPr/>
        </p:nvSpPr>
        <p:spPr>
          <a:xfrm>
            <a:off x="8732520" y="2651760"/>
            <a:ext cx="2377440" cy="384048"/>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GitHub</a:t>
            </a:r>
            <a:endParaRPr lang="en-US" sz="2000" dirty="0"/>
          </a:p>
        </p:txBody>
      </p:sp>
      <p:sp>
        <p:nvSpPr>
          <p:cNvPr id="19" name="Text 17"/>
          <p:cNvSpPr/>
          <p:nvPr/>
        </p:nvSpPr>
        <p:spPr>
          <a:xfrm>
            <a:off x="8732520" y="3108960"/>
            <a:ext cx="2377440" cy="1463040"/>
          </a:xfrm>
          <a:prstGeom prst="rect">
            <a:avLst/>
          </a:prstGeom>
          <a:noFill/>
          <a:ln/>
        </p:spPr>
        <p:txBody>
          <a:bodyPr wrap="square" lIns="0" tIns="0" rIns="0" bIns="0" rtlCol="0" anchor="ctr"/>
          <a:lstStyle/>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Repositorio remoto compartido por el equipo:</a:t>
            </a:r>
            <a:endParaRPr lang="en-US" sz="1200" dirty="0"/>
          </a:p>
          <a:p>
            <a:pPr marL="0" indent="0">
              <a:lnSpc>
                <a:spcPts val="1700"/>
              </a:lnSpc>
              <a:buNone/>
            </a:pPr>
            <a:endParaRPr lang="en-US" sz="1200" dirty="0"/>
          </a:p>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 historial completo</a:t>
            </a:r>
            <a:endParaRPr lang="en-US" sz="1200" dirty="0"/>
          </a:p>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 trabajo de los 4 integrantes</a:t>
            </a:r>
            <a:endParaRPr lang="en-US" sz="1200" dirty="0"/>
          </a:p>
          <a:p>
            <a:pPr marL="0" indent="0">
              <a:lnSpc>
                <a:spcPts val="1700"/>
              </a:lnSpc>
              <a:buNone/>
            </a:pPr>
            <a:r>
              <a:rPr lang="en-US" sz="1200" dirty="0">
                <a:solidFill>
                  <a:srgbClr val="D7E3EE"/>
                </a:solidFill>
                <a:latin typeface="Calibri" pitchFamily="34" charset="0"/>
                <a:ea typeface="Calibri" pitchFamily="34" charset="-122"/>
                <a:cs typeface="Calibri" pitchFamily="34" charset="-120"/>
              </a:rPr>
              <a:t>• respaldo del proyecto</a:t>
            </a:r>
            <a:endParaRPr lang="en-US" sz="1200" dirty="0"/>
          </a:p>
        </p:txBody>
      </p:sp>
      <p:sp>
        <p:nvSpPr>
          <p:cNvPr id="20" name="Shape 18"/>
          <p:cNvSpPr/>
          <p:nvPr/>
        </p:nvSpPr>
        <p:spPr>
          <a:xfrm>
            <a:off x="6629400" y="2788920"/>
            <a:ext cx="1463040" cy="45720"/>
          </a:xfrm>
          <a:prstGeom prst="rect">
            <a:avLst/>
          </a:prstGeom>
          <a:solidFill>
            <a:srgbClr val="AC212E"/>
          </a:solidFill>
          <a:ln w="12700">
            <a:solidFill>
              <a:srgbClr val="AC212E"/>
            </a:solidFill>
            <a:prstDash val="solid"/>
          </a:ln>
        </p:spPr>
        <p:txBody>
          <a:bodyPr/>
          <a:lstStyle/>
          <a:p>
            <a:endParaRPr lang="es-CL"/>
          </a:p>
        </p:txBody>
      </p:sp>
      <p:sp>
        <p:nvSpPr>
          <p:cNvPr id="21" name="Text 19"/>
          <p:cNvSpPr/>
          <p:nvPr/>
        </p:nvSpPr>
        <p:spPr>
          <a:xfrm>
            <a:off x="6400800" y="2423160"/>
            <a:ext cx="1920240"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git push  →</a:t>
            </a:r>
            <a:endParaRPr lang="en-US" sz="1100" dirty="0"/>
          </a:p>
        </p:txBody>
      </p:sp>
      <p:sp>
        <p:nvSpPr>
          <p:cNvPr id="22" name="Text 20"/>
          <p:cNvSpPr/>
          <p:nvPr/>
        </p:nvSpPr>
        <p:spPr>
          <a:xfrm>
            <a:off x="6400800" y="2852928"/>
            <a:ext cx="1920240" cy="274320"/>
          </a:xfrm>
          <a:prstGeom prst="rect">
            <a:avLst/>
          </a:prstGeom>
          <a:noFill/>
          <a:ln/>
        </p:spPr>
        <p:txBody>
          <a:bodyPr wrap="square" lIns="0" tIns="0" rIns="0" bIns="0" rtlCol="0" anchor="ctr"/>
          <a:lstStyle/>
          <a:p>
            <a:pPr marL="0" indent="0" algn="ctr">
              <a:buNone/>
            </a:pPr>
            <a:r>
              <a:rPr lang="en-US" sz="1000" dirty="0">
                <a:solidFill>
                  <a:srgbClr val="5A6B7B"/>
                </a:solidFill>
                <a:latin typeface="Calibri" pitchFamily="34" charset="0"/>
                <a:ea typeface="Calibri" pitchFamily="34" charset="-122"/>
                <a:cs typeface="Calibri" pitchFamily="34" charset="-120"/>
              </a:rPr>
              <a:t>sube sus commits</a:t>
            </a:r>
            <a:endParaRPr lang="en-US" sz="1000" dirty="0"/>
          </a:p>
        </p:txBody>
      </p:sp>
      <p:sp>
        <p:nvSpPr>
          <p:cNvPr id="23" name="Shape 21"/>
          <p:cNvSpPr/>
          <p:nvPr/>
        </p:nvSpPr>
        <p:spPr>
          <a:xfrm>
            <a:off x="6629400" y="3977640"/>
            <a:ext cx="1463040" cy="45720"/>
          </a:xfrm>
          <a:prstGeom prst="rect">
            <a:avLst/>
          </a:prstGeom>
          <a:solidFill>
            <a:srgbClr val="D7E3EE"/>
          </a:solidFill>
          <a:ln w="12700">
            <a:solidFill>
              <a:srgbClr val="D7E3EE"/>
            </a:solidFill>
            <a:prstDash val="solid"/>
          </a:ln>
        </p:spPr>
        <p:txBody>
          <a:bodyPr/>
          <a:lstStyle/>
          <a:p>
            <a:endParaRPr lang="es-CL"/>
          </a:p>
        </p:txBody>
      </p:sp>
      <p:sp>
        <p:nvSpPr>
          <p:cNvPr id="24" name="Text 22"/>
          <p:cNvSpPr/>
          <p:nvPr/>
        </p:nvSpPr>
        <p:spPr>
          <a:xfrm>
            <a:off x="6400800" y="3611880"/>
            <a:ext cx="1920240" cy="320040"/>
          </a:xfrm>
          <a:prstGeom prst="rect">
            <a:avLst/>
          </a:prstGeom>
          <a:noFill/>
          <a:ln/>
        </p:spPr>
        <p:txBody>
          <a:bodyPr wrap="square" lIns="0" tIns="0" rIns="0" bIns="0" rtlCol="0" anchor="ctr"/>
          <a:lstStyle/>
          <a:p>
            <a:pPr marL="0" indent="0" algn="ctr">
              <a:buNone/>
            </a:pPr>
            <a:r>
              <a:rPr lang="en-US" sz="1100" dirty="0">
                <a:solidFill>
                  <a:srgbClr val="FFFFFF"/>
                </a:solidFill>
                <a:latin typeface="Courier New" pitchFamily="34" charset="0"/>
                <a:ea typeface="Courier New" pitchFamily="34" charset="-122"/>
                <a:cs typeface="Courier New" pitchFamily="34" charset="-120"/>
              </a:rPr>
              <a:t>←  git pull</a:t>
            </a:r>
            <a:endParaRPr lang="en-US" sz="1100" dirty="0"/>
          </a:p>
        </p:txBody>
      </p:sp>
      <p:sp>
        <p:nvSpPr>
          <p:cNvPr id="25" name="Text 23"/>
          <p:cNvSpPr/>
          <p:nvPr/>
        </p:nvSpPr>
        <p:spPr>
          <a:xfrm>
            <a:off x="6400800" y="4041648"/>
            <a:ext cx="1920240" cy="274320"/>
          </a:xfrm>
          <a:prstGeom prst="rect">
            <a:avLst/>
          </a:prstGeom>
          <a:noFill/>
          <a:ln/>
        </p:spPr>
        <p:txBody>
          <a:bodyPr wrap="square" lIns="0" tIns="0" rIns="0" bIns="0" rtlCol="0" anchor="ctr"/>
          <a:lstStyle/>
          <a:p>
            <a:pPr marL="0" indent="0" algn="ctr">
              <a:buNone/>
            </a:pPr>
            <a:r>
              <a:rPr lang="en-US" sz="1000" dirty="0">
                <a:solidFill>
                  <a:srgbClr val="5A6B7B"/>
                </a:solidFill>
                <a:latin typeface="Calibri" pitchFamily="34" charset="0"/>
                <a:ea typeface="Calibri" pitchFamily="34" charset="-122"/>
                <a:cs typeface="Calibri" pitchFamily="34" charset="-120"/>
              </a:rPr>
              <a:t>trae lo de los demás</a:t>
            </a:r>
            <a:endParaRPr lang="en-US" sz="1000" dirty="0"/>
          </a:p>
        </p:txBody>
      </p:sp>
      <p:sp>
        <p:nvSpPr>
          <p:cNvPr id="26" name="Text 24"/>
          <p:cNvSpPr/>
          <p:nvPr/>
        </p:nvSpPr>
        <p:spPr>
          <a:xfrm>
            <a:off x="548640" y="5394960"/>
            <a:ext cx="11064240" cy="457200"/>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El notebook produce el análisis · Git lo versiona · GitHub lo comparte · El entorno hace que corra igual en los cuatro computadores</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Cuando dos personas tocan lo mismo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 conflicto no es un error: es Git pidiendo una decisión que solo el equipo puede tomar.</a:t>
            </a:r>
            <a:endParaRPr lang="en-US" sz="1400" dirty="0"/>
          </a:p>
        </p:txBody>
      </p:sp>
      <p:sp>
        <p:nvSpPr>
          <p:cNvPr id="4" name="Shape 2"/>
          <p:cNvSpPr/>
          <p:nvPr/>
        </p:nvSpPr>
        <p:spPr>
          <a:xfrm>
            <a:off x="548640" y="1783080"/>
            <a:ext cx="5669280" cy="2468880"/>
          </a:xfrm>
          <a:prstGeom prst="roundRect">
            <a:avLst>
              <a:gd name="adj" fmla="val 333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50292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Así se ve un conflicto</a:t>
            </a:r>
            <a:endParaRPr lang="en-US" sz="1400" dirty="0"/>
          </a:p>
        </p:txBody>
      </p:sp>
      <p:sp>
        <p:nvSpPr>
          <p:cNvPr id="6" name="Text 4"/>
          <p:cNvSpPr/>
          <p:nvPr/>
        </p:nvSpPr>
        <p:spPr>
          <a:xfrm>
            <a:off x="868680" y="2331720"/>
            <a:ext cx="5029200" cy="155448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&lt;&lt;&lt;&lt;&lt;&lt;&lt; HEAD</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df = df.dropna(subset=["edad"])</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df["edad"] = df["edad"].fillna(mediana)</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&gt;&gt;&gt;&gt;&gt;&gt;&gt; f2-limpieza-datos</a:t>
            </a:r>
            <a:endParaRPr lang="en-US" sz="1100" dirty="0"/>
          </a:p>
        </p:txBody>
      </p:sp>
      <p:sp>
        <p:nvSpPr>
          <p:cNvPr id="7" name="Text 5"/>
          <p:cNvSpPr/>
          <p:nvPr/>
        </p:nvSpPr>
        <p:spPr>
          <a:xfrm>
            <a:off x="868680" y="3840480"/>
            <a:ext cx="5029200" cy="274320"/>
          </a:xfrm>
          <a:prstGeom prst="rect">
            <a:avLst/>
          </a:prstGeom>
          <a:noFill/>
          <a:ln/>
        </p:spPr>
        <p:txBody>
          <a:bodyPr wrap="square" lIns="0" tIns="0" rIns="0" bIns="0" rtlCol="0" anchor="ctr"/>
          <a:lstStyle/>
          <a:p>
            <a:pPr marL="0" indent="0">
              <a:buNone/>
            </a:pPr>
            <a:r>
              <a:rPr lang="en-US" sz="1200" i="1" dirty="0">
                <a:solidFill>
                  <a:srgbClr val="5A6B7B"/>
                </a:solidFill>
                <a:latin typeface="Calibri" pitchFamily="34" charset="0"/>
                <a:ea typeface="Calibri" pitchFamily="34" charset="-122"/>
                <a:cs typeface="Calibri" pitchFamily="34" charset="-120"/>
              </a:rPr>
              <a:t>Arriba su versión, abajo la del compañero.</a:t>
            </a:r>
            <a:endParaRPr lang="en-US" sz="1200" dirty="0"/>
          </a:p>
        </p:txBody>
      </p:sp>
      <p:sp>
        <p:nvSpPr>
          <p:cNvPr id="8" name="Shape 6"/>
          <p:cNvSpPr/>
          <p:nvPr/>
        </p:nvSpPr>
        <p:spPr>
          <a:xfrm>
            <a:off x="6492240" y="1783080"/>
            <a:ext cx="5120640" cy="2468880"/>
          </a:xfrm>
          <a:prstGeom prst="roundRect">
            <a:avLst>
              <a:gd name="adj" fmla="val 3333"/>
            </a:avLst>
          </a:prstGeom>
          <a:solidFill>
            <a:srgbClr val="0A1526"/>
          </a:solidFill>
          <a:ln w="12700">
            <a:solidFill>
              <a:srgbClr val="0A1526"/>
            </a:solidFill>
            <a:prstDash val="solid"/>
          </a:ln>
        </p:spPr>
        <p:txBody>
          <a:bodyPr/>
          <a:lstStyle/>
          <a:p>
            <a:endParaRPr lang="es-CL"/>
          </a:p>
        </p:txBody>
      </p:sp>
      <p:sp>
        <p:nvSpPr>
          <p:cNvPr id="9" name="Text 7"/>
          <p:cNvSpPr/>
          <p:nvPr/>
        </p:nvSpPr>
        <p:spPr>
          <a:xfrm>
            <a:off x="6812280" y="1938528"/>
            <a:ext cx="448056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Qué hacer</a:t>
            </a:r>
            <a:endParaRPr lang="en-US" sz="1400" dirty="0"/>
          </a:p>
        </p:txBody>
      </p:sp>
      <p:sp>
        <p:nvSpPr>
          <p:cNvPr id="10" name="Shape 8"/>
          <p:cNvSpPr/>
          <p:nvPr/>
        </p:nvSpPr>
        <p:spPr>
          <a:xfrm>
            <a:off x="6812280" y="2432304"/>
            <a:ext cx="219456" cy="219456"/>
          </a:xfrm>
          <a:prstGeom prst="ellipse">
            <a:avLst/>
          </a:prstGeom>
          <a:solidFill>
            <a:srgbClr val="AC212E"/>
          </a:solidFill>
          <a:ln/>
        </p:spPr>
        <p:txBody>
          <a:bodyPr/>
          <a:lstStyle/>
          <a:p>
            <a:endParaRPr lang="es-CL"/>
          </a:p>
        </p:txBody>
      </p:sp>
      <p:sp>
        <p:nvSpPr>
          <p:cNvPr id="11" name="Text 9"/>
          <p:cNvSpPr/>
          <p:nvPr/>
        </p:nvSpPr>
        <p:spPr>
          <a:xfrm>
            <a:off x="7178040" y="2331720"/>
            <a:ext cx="4114800" cy="54864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Conversar: en el ejemplo, eliminar filas o imputar la mediana no son equivalentes.</a:t>
            </a:r>
            <a:endParaRPr lang="en-US" sz="1200" dirty="0"/>
          </a:p>
        </p:txBody>
      </p:sp>
      <p:sp>
        <p:nvSpPr>
          <p:cNvPr id="12" name="Shape 10"/>
          <p:cNvSpPr/>
          <p:nvPr/>
        </p:nvSpPr>
        <p:spPr>
          <a:xfrm>
            <a:off x="6812280" y="3026664"/>
            <a:ext cx="219456" cy="219456"/>
          </a:xfrm>
          <a:prstGeom prst="ellipse">
            <a:avLst/>
          </a:prstGeom>
          <a:solidFill>
            <a:srgbClr val="AC212E"/>
          </a:solidFill>
          <a:ln/>
        </p:spPr>
        <p:txBody>
          <a:bodyPr/>
          <a:lstStyle/>
          <a:p>
            <a:endParaRPr lang="es-CL"/>
          </a:p>
        </p:txBody>
      </p:sp>
      <p:sp>
        <p:nvSpPr>
          <p:cNvPr id="13" name="Text 11"/>
          <p:cNvSpPr/>
          <p:nvPr/>
        </p:nvSpPr>
        <p:spPr>
          <a:xfrm>
            <a:off x="7178040" y="2926080"/>
            <a:ext cx="4114800" cy="54864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Editar el archivo dejando la versión correcta y borrar las líneas de marcas.</a:t>
            </a:r>
            <a:endParaRPr lang="en-US" sz="1200" dirty="0"/>
          </a:p>
        </p:txBody>
      </p:sp>
      <p:sp>
        <p:nvSpPr>
          <p:cNvPr id="14" name="Shape 12"/>
          <p:cNvSpPr/>
          <p:nvPr/>
        </p:nvSpPr>
        <p:spPr>
          <a:xfrm>
            <a:off x="6812280" y="3621024"/>
            <a:ext cx="219456" cy="219456"/>
          </a:xfrm>
          <a:prstGeom prst="ellipse">
            <a:avLst/>
          </a:prstGeom>
          <a:solidFill>
            <a:srgbClr val="AC212E"/>
          </a:solidFill>
          <a:ln/>
        </p:spPr>
        <p:txBody>
          <a:bodyPr/>
          <a:lstStyle/>
          <a:p>
            <a:endParaRPr lang="es-CL"/>
          </a:p>
        </p:txBody>
      </p:sp>
      <p:sp>
        <p:nvSpPr>
          <p:cNvPr id="15" name="Text 13"/>
          <p:cNvSpPr/>
          <p:nvPr/>
        </p:nvSpPr>
        <p:spPr>
          <a:xfrm>
            <a:off x="7178040" y="3520440"/>
            <a:ext cx="4114800" cy="54864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Confirmar con git add y git commit.</a:t>
            </a:r>
            <a:endParaRPr lang="en-US" sz="1200" dirty="0"/>
          </a:p>
        </p:txBody>
      </p:sp>
      <p:sp>
        <p:nvSpPr>
          <p:cNvPr id="16" name="Shape 14"/>
          <p:cNvSpPr/>
          <p:nvPr/>
        </p:nvSpPr>
        <p:spPr>
          <a:xfrm>
            <a:off x="548640" y="4526280"/>
            <a:ext cx="352044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17" name="Text 15"/>
          <p:cNvSpPr/>
          <p:nvPr/>
        </p:nvSpPr>
        <p:spPr>
          <a:xfrm>
            <a:off x="777240" y="468172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Prevenir</a:t>
            </a:r>
            <a:endParaRPr lang="en-US" sz="1400" dirty="0"/>
          </a:p>
        </p:txBody>
      </p:sp>
      <p:sp>
        <p:nvSpPr>
          <p:cNvPr id="18" name="Text 16"/>
          <p:cNvSpPr/>
          <p:nvPr/>
        </p:nvSpPr>
        <p:spPr>
          <a:xfrm>
            <a:off x="777240" y="5029200"/>
            <a:ext cx="306324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nbstripout activo en los cuatro equipos reduce drásticamente los conflictos en notebooks.</a:t>
            </a:r>
            <a:endParaRPr lang="en-US" sz="1200" dirty="0"/>
          </a:p>
        </p:txBody>
      </p:sp>
      <p:sp>
        <p:nvSpPr>
          <p:cNvPr id="19" name="Shape 17"/>
          <p:cNvSpPr/>
          <p:nvPr/>
        </p:nvSpPr>
        <p:spPr>
          <a:xfrm>
            <a:off x="4325112" y="4526280"/>
            <a:ext cx="352044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20" name="Text 18"/>
          <p:cNvSpPr/>
          <p:nvPr/>
        </p:nvSpPr>
        <p:spPr>
          <a:xfrm>
            <a:off x="4553712" y="468172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Repartir</a:t>
            </a:r>
            <a:endParaRPr lang="en-US" sz="1400" dirty="0"/>
          </a:p>
        </p:txBody>
      </p:sp>
      <p:sp>
        <p:nvSpPr>
          <p:cNvPr id="21" name="Text 19"/>
          <p:cNvSpPr/>
          <p:nvPr/>
        </p:nvSpPr>
        <p:spPr>
          <a:xfrm>
            <a:off x="4553712" y="5029200"/>
            <a:ext cx="306324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Trabajar por archivo, no por línea: dos personas en el mismo notebook a la misma hora chocan siempre.</a:t>
            </a:r>
            <a:endParaRPr lang="en-US" sz="1200" dirty="0"/>
          </a:p>
        </p:txBody>
      </p:sp>
      <p:sp>
        <p:nvSpPr>
          <p:cNvPr id="22" name="Shape 20"/>
          <p:cNvSpPr/>
          <p:nvPr/>
        </p:nvSpPr>
        <p:spPr>
          <a:xfrm>
            <a:off x="8101584" y="4526280"/>
            <a:ext cx="3520440" cy="1417320"/>
          </a:xfrm>
          <a:prstGeom prst="roundRect">
            <a:avLst>
              <a:gd name="adj" fmla="val 5806"/>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8330184" y="4681728"/>
            <a:ext cx="306324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Practicar</a:t>
            </a:r>
            <a:endParaRPr lang="en-US" sz="1400" dirty="0"/>
          </a:p>
        </p:txBody>
      </p:sp>
      <p:sp>
        <p:nvSpPr>
          <p:cNvPr id="24" name="Text 22"/>
          <p:cNvSpPr/>
          <p:nvPr/>
        </p:nvSpPr>
        <p:spPr>
          <a:xfrm>
            <a:off x="8330184" y="5029200"/>
            <a:ext cx="3063240" cy="777240"/>
          </a:xfrm>
          <a:prstGeom prst="rect">
            <a:avLst/>
          </a:prstGeom>
          <a:noFill/>
          <a:ln/>
        </p:spPr>
        <p:txBody>
          <a:bodyPr wrap="square" lIns="0" tIns="0" rIns="0" bIns="0" rtlCol="0" anchor="ctr"/>
          <a:lstStyle/>
          <a:p>
            <a:pPr marL="0" indent="0">
              <a:lnSpc>
                <a:spcPts val="1600"/>
              </a:lnSpc>
              <a:buNone/>
            </a:pPr>
            <a:r>
              <a:rPr lang="en-US" sz="1200" dirty="0">
                <a:solidFill>
                  <a:srgbClr val="06304A"/>
                </a:solidFill>
                <a:latin typeface="Calibri" pitchFamily="34" charset="0"/>
                <a:ea typeface="Calibri" pitchFamily="34" charset="-122"/>
                <a:cs typeface="Calibri" pitchFamily="34" charset="-120"/>
              </a:rPr>
              <a:t>Provoquen un conflicto a propósito en la semana 1, no la noche antes de entregar.</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falla el acoplamiento entre las piezas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Casi ningún problema viene de una herramienta sola: viene de cómo se conectan.</a:t>
            </a:r>
            <a:endParaRPr lang="en-US" sz="1400" dirty="0"/>
          </a:p>
        </p:txBody>
      </p:sp>
      <p:graphicFrame>
        <p:nvGraphicFramePr>
          <p:cNvPr id="14" name="Table 0"/>
          <p:cNvGraphicFramePr>
            <a:graphicFrameLocks noGrp="1"/>
          </p:cNvGraphicFramePr>
          <p:nvPr/>
        </p:nvGraphicFramePr>
        <p:xfrm>
          <a:off x="548640" y="1783080"/>
          <a:ext cx="11064240" cy="3520440"/>
        </p:xfrm>
        <a:graphic>
          <a:graphicData uri="http://schemas.openxmlformats.org/drawingml/2006/table">
            <a:tbl>
              <a:tblPr/>
              <a:tblGrid>
                <a:gridCol w="35661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Síntoma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Dónde está la falla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Corrección</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 mí me funciona y a ti no»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Kernel genérico en vez del kernel del proyecto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Seleccionar el kernel del entorno virtual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ModuleNotFoundError con un paquete instalado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Entorno virtual no activado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Activar el entorno y verificar que aparezca (.venv)</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notebook no corre en otro equipo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Rutas absolutas en el código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Usar rutas relativas desde la raíz del proyecto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repositorio pesa cientos de MB</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Se versionó la carpeta del entorno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Declararla en .gitignore antes del primer commit</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Conflictos permanentes en el .ipynb</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Las salidas del notebook van al historial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Activar nbstripout en cada equipo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push rechazado (non-fast-forward)</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remoto tiene commits que usted no tiene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Hacer git pull y resolver. Nunca --force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920240"/>
            <a:ext cx="7680960" cy="594360"/>
          </a:xfrm>
          <a:prstGeom prst="rect">
            <a:avLst/>
          </a:prstGeom>
          <a:noFill/>
          <a:ln/>
        </p:spPr>
        <p:txBody>
          <a:bodyPr wrap="square" lIns="0" tIns="0" rIns="0" bIns="0" rtlCol="0" anchor="ctr"/>
          <a:lstStyle/>
          <a:p>
            <a:pPr marL="0" indent="0">
              <a:buNone/>
            </a:pPr>
            <a:r>
              <a:rPr lang="en-US" sz="3600" b="1" kern="0" spc="200" dirty="0">
                <a:solidFill>
                  <a:srgbClr val="FFFFFF"/>
                </a:solidFill>
                <a:latin typeface="Cambria" pitchFamily="34" charset="0"/>
                <a:ea typeface="Cambria" pitchFamily="34" charset="-122"/>
                <a:cs typeface="Cambria" pitchFamily="34" charset="-120"/>
              </a:rPr>
              <a:t>EL CONJUNTO DE DATOS</a:t>
            </a:r>
            <a:endParaRPr lang="en-US" sz="3600" dirty="0"/>
          </a:p>
        </p:txBody>
      </p:sp>
      <p:sp>
        <p:nvSpPr>
          <p:cNvPr id="6" name="Text 2"/>
          <p:cNvSpPr/>
          <p:nvPr/>
        </p:nvSpPr>
        <p:spPr>
          <a:xfrm>
            <a:off x="548640" y="2651760"/>
            <a:ext cx="7680960" cy="502920"/>
          </a:xfrm>
          <a:prstGeom prst="rect">
            <a:avLst/>
          </a:prstGeom>
          <a:noFill/>
          <a:ln/>
        </p:spPr>
        <p:txBody>
          <a:bodyPr wrap="square" lIns="0" tIns="0" rIns="0" bIns="0" rtlCol="0" anchor="ctr"/>
          <a:lstStyle/>
          <a:p>
            <a:pPr marL="0" indent="0">
              <a:buNone/>
            </a:pPr>
            <a:r>
              <a:rPr lang="en-US" sz="2400" dirty="0">
                <a:solidFill>
                  <a:srgbClr val="D7E3EE"/>
                </a:solidFill>
                <a:latin typeface="Cambria" pitchFamily="34" charset="0"/>
                <a:ea typeface="Cambria" pitchFamily="34" charset="-122"/>
                <a:cs typeface="Cambria" pitchFamily="34" charset="-120"/>
              </a:rPr>
              <a:t>Cómo elegirlo y cómo verificar que sirve</a:t>
            </a:r>
            <a:endParaRPr lang="en-US" sz="2400" dirty="0"/>
          </a:p>
        </p:txBody>
      </p:sp>
      <p:sp>
        <p:nvSpPr>
          <p:cNvPr id="7" name="Shape 3"/>
          <p:cNvSpPr/>
          <p:nvPr/>
        </p:nvSpPr>
        <p:spPr>
          <a:xfrm>
            <a:off x="548640" y="338328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5760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La primera decisión técnica del proyecto transversal</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Fase 1: definición y orientación de la situación</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La elección del dataset condiciona todo el proyecto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Es la única decisión de la Fase 1 que no se puede revertir sin rehacer el trabajo.</a:t>
            </a:r>
            <a:endParaRPr lang="en-US" sz="1400" dirty="0"/>
          </a:p>
        </p:txBody>
      </p:sp>
      <p:sp>
        <p:nvSpPr>
          <p:cNvPr id="4" name="Shape 2"/>
          <p:cNvSpPr/>
          <p:nvPr/>
        </p:nvSpPr>
        <p:spPr>
          <a:xfrm>
            <a:off x="548640" y="1828800"/>
            <a:ext cx="3520440" cy="1920240"/>
          </a:xfrm>
          <a:prstGeom prst="roundRect">
            <a:avLst>
              <a:gd name="adj" fmla="val 4286"/>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57400"/>
            <a:ext cx="457200" cy="457200"/>
          </a:xfrm>
          <a:prstGeom prst="ellipse">
            <a:avLst/>
          </a:prstGeom>
          <a:solidFill>
            <a:srgbClr val="AC212E"/>
          </a:solidFill>
          <a:ln/>
        </p:spPr>
        <p:txBody>
          <a:bodyPr/>
          <a:lstStyle/>
          <a:p>
            <a:endParaRPr lang="es-CL"/>
          </a:p>
        </p:txBody>
      </p:sp>
      <p:sp>
        <p:nvSpPr>
          <p:cNvPr id="6" name="Text 4"/>
          <p:cNvSpPr/>
          <p:nvPr/>
        </p:nvSpPr>
        <p:spPr>
          <a:xfrm>
            <a:off x="804672"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804672" y="2651760"/>
            <a:ext cx="30175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Determina la pregunta</a:t>
            </a:r>
            <a:endParaRPr lang="en-US" sz="1500" dirty="0"/>
          </a:p>
        </p:txBody>
      </p:sp>
      <p:sp>
        <p:nvSpPr>
          <p:cNvPr id="8" name="Text 6"/>
          <p:cNvSpPr/>
          <p:nvPr/>
        </p:nvSpPr>
        <p:spPr>
          <a:xfrm>
            <a:off x="804672" y="3035808"/>
            <a:ext cx="301752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Solo se puede preguntar lo que los datos permiten responder.</a:t>
            </a:r>
            <a:endParaRPr lang="en-US" sz="1250" dirty="0"/>
          </a:p>
        </p:txBody>
      </p:sp>
      <p:sp>
        <p:nvSpPr>
          <p:cNvPr id="9" name="Shape 7"/>
          <p:cNvSpPr/>
          <p:nvPr/>
        </p:nvSpPr>
        <p:spPr>
          <a:xfrm>
            <a:off x="4325112" y="1828800"/>
            <a:ext cx="3520440" cy="1920240"/>
          </a:xfrm>
          <a:prstGeom prst="roundRect">
            <a:avLst>
              <a:gd name="adj" fmla="val 4286"/>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581144" y="2057400"/>
            <a:ext cx="457200" cy="457200"/>
          </a:xfrm>
          <a:prstGeom prst="ellipse">
            <a:avLst/>
          </a:prstGeom>
          <a:solidFill>
            <a:srgbClr val="AC212E"/>
          </a:solidFill>
          <a:ln/>
        </p:spPr>
        <p:txBody>
          <a:bodyPr/>
          <a:lstStyle/>
          <a:p>
            <a:endParaRPr lang="es-CL"/>
          </a:p>
        </p:txBody>
      </p:sp>
      <p:sp>
        <p:nvSpPr>
          <p:cNvPr id="11" name="Text 9"/>
          <p:cNvSpPr/>
          <p:nvPr/>
        </p:nvSpPr>
        <p:spPr>
          <a:xfrm>
            <a:off x="4581144"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4581144" y="2651760"/>
            <a:ext cx="30175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Determina el trabajo técnico</a:t>
            </a:r>
            <a:endParaRPr lang="en-US" sz="1500" dirty="0"/>
          </a:p>
        </p:txBody>
      </p:sp>
      <p:sp>
        <p:nvSpPr>
          <p:cNvPr id="13" name="Text 11"/>
          <p:cNvSpPr/>
          <p:nvPr/>
        </p:nvSpPr>
        <p:spPr>
          <a:xfrm>
            <a:off x="4581144" y="3035808"/>
            <a:ext cx="301752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Si no hay nada que limpiar, no hay preprocesamiento que justificar.</a:t>
            </a:r>
            <a:endParaRPr lang="en-US" sz="1250" dirty="0"/>
          </a:p>
        </p:txBody>
      </p:sp>
      <p:sp>
        <p:nvSpPr>
          <p:cNvPr id="14" name="Shape 12"/>
          <p:cNvSpPr/>
          <p:nvPr/>
        </p:nvSpPr>
        <p:spPr>
          <a:xfrm>
            <a:off x="8101584" y="1828800"/>
            <a:ext cx="3520440" cy="1920240"/>
          </a:xfrm>
          <a:prstGeom prst="roundRect">
            <a:avLst>
              <a:gd name="adj" fmla="val 4286"/>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357616" y="2057400"/>
            <a:ext cx="457200" cy="457200"/>
          </a:xfrm>
          <a:prstGeom prst="ellipse">
            <a:avLst/>
          </a:prstGeom>
          <a:solidFill>
            <a:srgbClr val="AC212E"/>
          </a:solidFill>
          <a:ln/>
        </p:spPr>
        <p:txBody>
          <a:bodyPr/>
          <a:lstStyle/>
          <a:p>
            <a:endParaRPr lang="es-CL"/>
          </a:p>
        </p:txBody>
      </p:sp>
      <p:sp>
        <p:nvSpPr>
          <p:cNvPr id="16" name="Text 14"/>
          <p:cNvSpPr/>
          <p:nvPr/>
        </p:nvSpPr>
        <p:spPr>
          <a:xfrm>
            <a:off x="8357616"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357616" y="2651760"/>
            <a:ext cx="30175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Determina el interés</a:t>
            </a:r>
            <a:endParaRPr lang="en-US" sz="1500" dirty="0"/>
          </a:p>
        </p:txBody>
      </p:sp>
      <p:sp>
        <p:nvSpPr>
          <p:cNvPr id="18" name="Text 16"/>
          <p:cNvSpPr/>
          <p:nvPr/>
        </p:nvSpPr>
        <p:spPr>
          <a:xfrm>
            <a:off x="8357616" y="3035808"/>
            <a:ext cx="3017520" cy="64008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Un problema contingente sostiene la motivación de tres semanas.</a:t>
            </a:r>
            <a:endParaRPr lang="en-US" sz="1250" dirty="0"/>
          </a:p>
        </p:txBody>
      </p:sp>
      <p:sp>
        <p:nvSpPr>
          <p:cNvPr id="19" name="Shape 17"/>
          <p:cNvSpPr/>
          <p:nvPr/>
        </p:nvSpPr>
        <p:spPr>
          <a:xfrm>
            <a:off x="548640" y="4114800"/>
            <a:ext cx="11064240" cy="1051560"/>
          </a:xfrm>
          <a:prstGeom prst="roundRect">
            <a:avLst>
              <a:gd name="adj" fmla="val 7826"/>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4279392"/>
            <a:ext cx="10424160" cy="731520"/>
          </a:xfrm>
          <a:prstGeom prst="rect">
            <a:avLst/>
          </a:prstGeom>
          <a:noFill/>
          <a:ln/>
        </p:spPr>
        <p:txBody>
          <a:bodyPr wrap="square" lIns="0" tIns="0" rIns="0" bIns="0" rtlCol="0" anchor="ctr"/>
          <a:lstStyle/>
          <a:p>
            <a:pPr marL="0" indent="0">
              <a:lnSpc>
                <a:spcPts val="2000"/>
              </a:lnSpc>
              <a:buNone/>
            </a:pPr>
            <a:r>
              <a:rPr lang="en-US" sz="1450" dirty="0">
                <a:solidFill>
                  <a:srgbClr val="FFFFFF"/>
                </a:solidFill>
                <a:latin typeface="Calibri" pitchFamily="34" charset="0"/>
                <a:ea typeface="Calibri" pitchFamily="34" charset="-122"/>
                <a:cs typeface="Calibri" pitchFamily="34" charset="-120"/>
              </a:rPr>
              <a:t>En la Fase 2 se limpia y transforma. En la Fase 3 se construye el núcleo algorítmico. En la Fase 4 se comunica. Las tres trabajan sobre el conjunto de datos que ustedes eligen esta semana.</a:t>
            </a:r>
            <a:endParaRPr lang="en-US" sz="1450" dirty="0"/>
          </a:p>
        </p:txBody>
      </p:sp>
      <p:sp>
        <p:nvSpPr>
          <p:cNvPr id="21" name="Shape 19"/>
          <p:cNvSpPr/>
          <p:nvPr/>
        </p:nvSpPr>
        <p:spPr>
          <a:xfrm>
            <a:off x="548640" y="5349240"/>
            <a:ext cx="110642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22" name="Text 20"/>
          <p:cNvSpPr/>
          <p:nvPr/>
        </p:nvSpPr>
        <p:spPr>
          <a:xfrm>
            <a:off x="868680" y="5349240"/>
            <a:ext cx="10424160" cy="777240"/>
          </a:xfrm>
          <a:prstGeom prst="rect">
            <a:avLst/>
          </a:prstGeom>
          <a:noFill/>
          <a:ln/>
        </p:spPr>
        <p:txBody>
          <a:bodyPr wrap="square" lIns="0" tIns="0" rIns="0" bIns="0" rtlCol="0" anchor="ctr"/>
          <a:lstStyle/>
          <a:p>
            <a:pPr marL="0" indent="0">
              <a:buNone/>
            </a:pPr>
            <a:r>
              <a:rPr lang="en-US" sz="1400" dirty="0">
                <a:solidFill>
                  <a:srgbClr val="AC212E"/>
                </a:solidFill>
                <a:latin typeface="Calibri" pitchFamily="34" charset="0"/>
                <a:ea typeface="Calibri" pitchFamily="34" charset="-122"/>
                <a:cs typeface="Calibri" pitchFamily="34" charset="-120"/>
              </a:rPr>
              <a:t>Dedíquenle tiempo real: buscar y validar un buen dataset puede tomar más que dibujar el mapa conceptual, y vale más.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Ocho roles, ocho tratamientos distintos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Su dataset debe permitirles practicar todos. Esa es la exigencia real.</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806659688"/>
              </p:ext>
            </p:extLst>
          </p:nvPr>
        </p:nvGraphicFramePr>
        <p:xfrm>
          <a:off x="548640" y="1737360"/>
          <a:ext cx="11064240" cy="4114800"/>
        </p:xfrm>
        <a:graphic>
          <a:graphicData uri="http://schemas.openxmlformats.org/drawingml/2006/table">
            <a:tbl>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45720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Rol analítico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Qué preprocesamiento exige</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Ejemplo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Numérica continua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Outliers, escalamiento, imputación por media o mediana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Monto, temperatura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Numérica discreta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Decidir si se trata como número o como categoría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N.º de eventos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Binaria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Codificación 0/1 y revisión de desbalance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Aprobado / rechazado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Categórica nominal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One-hot encoder. </a:t>
                      </a:r>
                      <a:r>
                        <a:rPr lang="en-US" sz="1200" dirty="0" err="1">
                          <a:solidFill>
                            <a:srgbClr val="06304A"/>
                          </a:solidFill>
                          <a:latin typeface="Calibri" pitchFamily="34" charset="0"/>
                          <a:ea typeface="Calibri" pitchFamily="34" charset="-122"/>
                          <a:cs typeface="Calibri" pitchFamily="34" charset="-120"/>
                        </a:rPr>
                        <a:t>Grupar</a:t>
                      </a:r>
                      <a:r>
                        <a:rPr lang="en-US" sz="1200" dirty="0">
                          <a:solidFill>
                            <a:srgbClr val="06304A"/>
                          </a:solidFill>
                          <a:latin typeface="Calibri" pitchFamily="34" charset="0"/>
                          <a:ea typeface="Calibri" pitchFamily="34" charset="-122"/>
                          <a:cs typeface="Calibri" pitchFamily="34" charset="-120"/>
                        </a:rPr>
                        <a:t> categorías poco frecuentes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Región, sector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Categórica ordinal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err="1">
                          <a:solidFill>
                            <a:srgbClr val="06304A"/>
                          </a:solidFill>
                          <a:latin typeface="Calibri" pitchFamily="34" charset="0"/>
                          <a:ea typeface="Calibri" pitchFamily="34" charset="-122"/>
                          <a:cs typeface="Calibri" pitchFamily="34" charset="-120"/>
                        </a:rPr>
                        <a:t>LabelEncoder</a:t>
                      </a:r>
                      <a:r>
                        <a:rPr lang="en-US" sz="1200" dirty="0">
                          <a:solidFill>
                            <a:srgbClr val="06304A"/>
                          </a:solidFill>
                          <a:latin typeface="Calibri" pitchFamily="34" charset="0"/>
                          <a:ea typeface="Calibri" pitchFamily="34" charset="-122"/>
                          <a:cs typeface="Calibri" pitchFamily="34" charset="-120"/>
                        </a:rPr>
                        <a:t>. </a:t>
                      </a:r>
                      <a:r>
                        <a:rPr lang="en-US" sz="1200" dirty="0" err="1">
                          <a:solidFill>
                            <a:srgbClr val="06304A"/>
                          </a:solidFill>
                          <a:latin typeface="Calibri" pitchFamily="34" charset="0"/>
                          <a:ea typeface="Calibri" pitchFamily="34" charset="-122"/>
                          <a:cs typeface="Calibri" pitchFamily="34" charset="-120"/>
                        </a:rPr>
                        <a:t>Codificación</a:t>
                      </a:r>
                      <a:r>
                        <a:rPr lang="en-US" sz="1200" dirty="0">
                          <a:solidFill>
                            <a:srgbClr val="06304A"/>
                          </a:solidFill>
                          <a:latin typeface="Calibri" pitchFamily="34" charset="0"/>
                          <a:ea typeface="Calibri" pitchFamily="34" charset="-122"/>
                          <a:cs typeface="Calibri" pitchFamily="34" charset="-120"/>
                        </a:rPr>
                        <a:t> que preserve el orden declarado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Riesgo: bajo, medio, alto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Fecha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Parseo y derivación de año, mes, antigüedad</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Fecha de ingreso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Alta cardinalidad</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Agrupación o codificación por frecuencia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Comuna, rubro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Identificador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Verificar unicidad y excluir del análisis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Folio, RUT anonimizado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Text 2"/>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La categórica ordinal es la que más se omite: exige declarar el orden explícitamente, no dejar que la librería lo invente alfabéticamente.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Requisitos mínimos del dataset</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Si su conjunto de datos no los cumple, todavía no es el dataset del proyecto.</a:t>
            </a:r>
            <a:endParaRPr lang="en-US" sz="1400" dirty="0"/>
          </a:p>
        </p:txBody>
      </p:sp>
      <p:sp>
        <p:nvSpPr>
          <p:cNvPr id="4" name="Shape 2"/>
          <p:cNvSpPr/>
          <p:nvPr/>
        </p:nvSpPr>
        <p:spPr>
          <a:xfrm>
            <a:off x="548640"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777240"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2.000</a:t>
            </a:r>
            <a:endParaRPr lang="en-US" sz="2600" dirty="0"/>
          </a:p>
        </p:txBody>
      </p:sp>
      <p:sp>
        <p:nvSpPr>
          <p:cNvPr id="6" name="Text 4"/>
          <p:cNvSpPr/>
          <p:nvPr/>
        </p:nvSpPr>
        <p:spPr>
          <a:xfrm>
            <a:off x="777240"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filas como mínimo</a:t>
            </a:r>
            <a:endParaRPr lang="en-US" sz="1200" dirty="0"/>
          </a:p>
        </p:txBody>
      </p:sp>
      <p:sp>
        <p:nvSpPr>
          <p:cNvPr id="7" name="Shape 5"/>
          <p:cNvSpPr/>
          <p:nvPr/>
        </p:nvSpPr>
        <p:spPr>
          <a:xfrm>
            <a:off x="3410712"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8" name="Text 6"/>
          <p:cNvSpPr/>
          <p:nvPr/>
        </p:nvSpPr>
        <p:spPr>
          <a:xfrm>
            <a:off x="3639312"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12</a:t>
            </a:r>
            <a:endParaRPr lang="en-US" sz="2600" dirty="0"/>
          </a:p>
        </p:txBody>
      </p:sp>
      <p:sp>
        <p:nvSpPr>
          <p:cNvPr id="9" name="Text 7"/>
          <p:cNvSpPr/>
          <p:nvPr/>
        </p:nvSpPr>
        <p:spPr>
          <a:xfrm>
            <a:off x="3639312"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columnas como mínimo</a:t>
            </a:r>
            <a:endParaRPr lang="en-US" sz="1200" dirty="0"/>
          </a:p>
        </p:txBody>
      </p:sp>
      <p:sp>
        <p:nvSpPr>
          <p:cNvPr id="10" name="Shape 8"/>
          <p:cNvSpPr/>
          <p:nvPr/>
        </p:nvSpPr>
        <p:spPr>
          <a:xfrm>
            <a:off x="6272784"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11" name="Text 9"/>
          <p:cNvSpPr/>
          <p:nvPr/>
        </p:nvSpPr>
        <p:spPr>
          <a:xfrm>
            <a:off x="6501384"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2</a:t>
            </a:r>
            <a:endParaRPr lang="en-US" sz="2600" dirty="0"/>
          </a:p>
        </p:txBody>
      </p:sp>
      <p:sp>
        <p:nvSpPr>
          <p:cNvPr id="12" name="Text 10"/>
          <p:cNvSpPr/>
          <p:nvPr/>
        </p:nvSpPr>
        <p:spPr>
          <a:xfrm>
            <a:off x="6501384"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numéricas continuas</a:t>
            </a:r>
            <a:endParaRPr lang="en-US" sz="1200" dirty="0"/>
          </a:p>
        </p:txBody>
      </p:sp>
      <p:sp>
        <p:nvSpPr>
          <p:cNvPr id="13" name="Shape 11"/>
          <p:cNvSpPr/>
          <p:nvPr/>
        </p:nvSpPr>
        <p:spPr>
          <a:xfrm>
            <a:off x="9134856" y="182880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14" name="Text 12"/>
          <p:cNvSpPr/>
          <p:nvPr/>
        </p:nvSpPr>
        <p:spPr>
          <a:xfrm>
            <a:off x="9363456" y="193852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15" name="Text 13"/>
          <p:cNvSpPr/>
          <p:nvPr/>
        </p:nvSpPr>
        <p:spPr>
          <a:xfrm>
            <a:off x="9363456" y="242316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numérica discreta</a:t>
            </a:r>
            <a:endParaRPr lang="en-US" sz="1200" dirty="0"/>
          </a:p>
        </p:txBody>
      </p:sp>
      <p:sp>
        <p:nvSpPr>
          <p:cNvPr id="16" name="Shape 14"/>
          <p:cNvSpPr/>
          <p:nvPr/>
        </p:nvSpPr>
        <p:spPr>
          <a:xfrm>
            <a:off x="548640"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17" name="Text 15"/>
          <p:cNvSpPr/>
          <p:nvPr/>
        </p:nvSpPr>
        <p:spPr>
          <a:xfrm>
            <a:off x="777240"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2</a:t>
            </a:r>
            <a:endParaRPr lang="en-US" sz="2600" dirty="0"/>
          </a:p>
        </p:txBody>
      </p:sp>
      <p:sp>
        <p:nvSpPr>
          <p:cNvPr id="18" name="Text 16"/>
          <p:cNvSpPr/>
          <p:nvPr/>
        </p:nvSpPr>
        <p:spPr>
          <a:xfrm>
            <a:off x="777240"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categóricas nominales</a:t>
            </a:r>
            <a:endParaRPr lang="en-US" sz="1200" dirty="0"/>
          </a:p>
        </p:txBody>
      </p:sp>
      <p:sp>
        <p:nvSpPr>
          <p:cNvPr id="19" name="Shape 17"/>
          <p:cNvSpPr/>
          <p:nvPr/>
        </p:nvSpPr>
        <p:spPr>
          <a:xfrm>
            <a:off x="3410712"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20" name="Text 18"/>
          <p:cNvSpPr/>
          <p:nvPr/>
        </p:nvSpPr>
        <p:spPr>
          <a:xfrm>
            <a:off x="3639312"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21" name="Text 19"/>
          <p:cNvSpPr/>
          <p:nvPr/>
        </p:nvSpPr>
        <p:spPr>
          <a:xfrm>
            <a:off x="3639312"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binaria u ordinal</a:t>
            </a:r>
            <a:endParaRPr lang="en-US" sz="1200" dirty="0"/>
          </a:p>
        </p:txBody>
      </p:sp>
      <p:sp>
        <p:nvSpPr>
          <p:cNvPr id="22" name="Shape 20"/>
          <p:cNvSpPr/>
          <p:nvPr/>
        </p:nvSpPr>
        <p:spPr>
          <a:xfrm>
            <a:off x="6272784"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23" name="Text 21"/>
          <p:cNvSpPr/>
          <p:nvPr/>
        </p:nvSpPr>
        <p:spPr>
          <a:xfrm>
            <a:off x="6501384"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24" name="Text 22"/>
          <p:cNvSpPr/>
          <p:nvPr/>
        </p:nvSpPr>
        <p:spPr>
          <a:xfrm>
            <a:off x="6501384"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variable de fecha</a:t>
            </a:r>
            <a:endParaRPr lang="en-US" sz="1200" dirty="0"/>
          </a:p>
        </p:txBody>
      </p:sp>
      <p:sp>
        <p:nvSpPr>
          <p:cNvPr id="25" name="Shape 23"/>
          <p:cNvSpPr/>
          <p:nvPr/>
        </p:nvSpPr>
        <p:spPr>
          <a:xfrm>
            <a:off x="9134856" y="3154680"/>
            <a:ext cx="2651760" cy="1097280"/>
          </a:xfrm>
          <a:prstGeom prst="roundRect">
            <a:avLst>
              <a:gd name="adj" fmla="val 7500"/>
            </a:avLst>
          </a:prstGeom>
          <a:solidFill>
            <a:srgbClr val="12203A"/>
          </a:solidFill>
          <a:ln w="12700">
            <a:solidFill>
              <a:srgbClr val="12203A"/>
            </a:solidFill>
            <a:prstDash val="solid"/>
          </a:ln>
        </p:spPr>
        <p:txBody>
          <a:bodyPr/>
          <a:lstStyle/>
          <a:p>
            <a:endParaRPr lang="es-CL"/>
          </a:p>
        </p:txBody>
      </p:sp>
      <p:sp>
        <p:nvSpPr>
          <p:cNvPr id="26" name="Text 24"/>
          <p:cNvSpPr/>
          <p:nvPr/>
        </p:nvSpPr>
        <p:spPr>
          <a:xfrm>
            <a:off x="9363456" y="3264408"/>
            <a:ext cx="2194560" cy="457200"/>
          </a:xfrm>
          <a:prstGeom prst="rect">
            <a:avLst/>
          </a:prstGeom>
          <a:noFill/>
          <a:ln/>
        </p:spPr>
        <p:txBody>
          <a:bodyPr wrap="square" lIns="0" tIns="0" rIns="0" bIns="0" rtlCol="0" anchor="ctr"/>
          <a:lstStyle/>
          <a:p>
            <a:pPr marL="0" indent="0">
              <a:buNone/>
            </a:pPr>
            <a:r>
              <a:rPr lang="en-US" sz="2600" b="1" dirty="0">
                <a:solidFill>
                  <a:srgbClr val="AC212E"/>
                </a:solidFill>
                <a:latin typeface="Cambria" pitchFamily="34" charset="0"/>
                <a:ea typeface="Cambria" pitchFamily="34" charset="-122"/>
                <a:cs typeface="Cambria" pitchFamily="34" charset="-120"/>
              </a:rPr>
              <a:t>1</a:t>
            </a:r>
            <a:endParaRPr lang="en-US" sz="2600" dirty="0"/>
          </a:p>
        </p:txBody>
      </p:sp>
      <p:sp>
        <p:nvSpPr>
          <p:cNvPr id="27" name="Text 25"/>
          <p:cNvSpPr/>
          <p:nvPr/>
        </p:nvSpPr>
        <p:spPr>
          <a:xfrm>
            <a:off x="9363456" y="3749040"/>
            <a:ext cx="2240280" cy="411480"/>
          </a:xfrm>
          <a:prstGeom prst="rect">
            <a:avLst/>
          </a:prstGeom>
          <a:noFill/>
          <a:ln/>
        </p:spPr>
        <p:txBody>
          <a:bodyPr wrap="square" lIns="0" tIns="0" rIns="0" bIns="0" rtlCol="0" anchor="ctr"/>
          <a:lstStyle/>
          <a:p>
            <a:pPr marL="0" indent="0">
              <a:lnSpc>
                <a:spcPts val="1500"/>
              </a:lnSpc>
              <a:buNone/>
            </a:pPr>
            <a:r>
              <a:rPr lang="en-US" sz="1200" dirty="0">
                <a:solidFill>
                  <a:srgbClr val="D7E3EE"/>
                </a:solidFill>
                <a:latin typeface="Calibri" pitchFamily="34" charset="0"/>
                <a:ea typeface="Calibri" pitchFamily="34" charset="-122"/>
                <a:cs typeface="Calibri" pitchFamily="34" charset="-120"/>
              </a:rPr>
              <a:t>texto o alta cardinalidad</a:t>
            </a:r>
            <a:endParaRPr lang="en-US" sz="1200" dirty="0"/>
          </a:p>
        </p:txBody>
      </p:sp>
      <p:sp>
        <p:nvSpPr>
          <p:cNvPr id="28" name="Shape 26"/>
          <p:cNvSpPr/>
          <p:nvPr/>
        </p:nvSpPr>
        <p:spPr>
          <a:xfrm>
            <a:off x="548640" y="4663440"/>
            <a:ext cx="201168" cy="201168"/>
          </a:xfrm>
          <a:prstGeom prst="ellipse">
            <a:avLst/>
          </a:prstGeom>
          <a:solidFill>
            <a:srgbClr val="AC212E"/>
          </a:solidFill>
          <a:ln/>
        </p:spPr>
        <p:txBody>
          <a:bodyPr/>
          <a:lstStyle/>
          <a:p>
            <a:endParaRPr lang="es-CL"/>
          </a:p>
        </p:txBody>
      </p:sp>
      <p:sp>
        <p:nvSpPr>
          <p:cNvPr id="29" name="Text 27"/>
          <p:cNvSpPr/>
          <p:nvPr/>
        </p:nvSpPr>
        <p:spPr>
          <a:xfrm>
            <a:off x="932688" y="457200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Ninguna variable sobre 60% de valores faltantes</a:t>
            </a:r>
            <a:endParaRPr lang="en-US" sz="1300" dirty="0"/>
          </a:p>
        </p:txBody>
      </p:sp>
      <p:sp>
        <p:nvSpPr>
          <p:cNvPr id="30" name="Shape 28"/>
          <p:cNvSpPr/>
          <p:nvPr/>
        </p:nvSpPr>
        <p:spPr>
          <a:xfrm>
            <a:off x="6309360" y="4663440"/>
            <a:ext cx="201168" cy="201168"/>
          </a:xfrm>
          <a:prstGeom prst="ellipse">
            <a:avLst/>
          </a:prstGeom>
          <a:solidFill>
            <a:srgbClr val="AC212E"/>
          </a:solidFill>
          <a:ln/>
        </p:spPr>
        <p:txBody>
          <a:bodyPr/>
          <a:lstStyle/>
          <a:p>
            <a:endParaRPr lang="es-CL"/>
          </a:p>
        </p:txBody>
      </p:sp>
      <p:sp>
        <p:nvSpPr>
          <p:cNvPr id="31" name="Text 29"/>
          <p:cNvSpPr/>
          <p:nvPr/>
        </p:nvSpPr>
        <p:spPr>
          <a:xfrm>
            <a:off x="6693408" y="457200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Archivo bajo 100 MB (límite de GitHub)</a:t>
            </a:r>
            <a:endParaRPr lang="en-US" sz="1300" dirty="0"/>
          </a:p>
        </p:txBody>
      </p:sp>
      <p:sp>
        <p:nvSpPr>
          <p:cNvPr id="32" name="Shape 30"/>
          <p:cNvSpPr/>
          <p:nvPr/>
        </p:nvSpPr>
        <p:spPr>
          <a:xfrm>
            <a:off x="548640" y="5166360"/>
            <a:ext cx="201168" cy="201168"/>
          </a:xfrm>
          <a:prstGeom prst="ellipse">
            <a:avLst/>
          </a:prstGeom>
          <a:solidFill>
            <a:srgbClr val="AC212E"/>
          </a:solidFill>
          <a:ln/>
        </p:spPr>
        <p:txBody>
          <a:bodyPr/>
          <a:lstStyle/>
          <a:p>
            <a:endParaRPr lang="es-CL"/>
          </a:p>
        </p:txBody>
      </p:sp>
      <p:sp>
        <p:nvSpPr>
          <p:cNvPr id="33" name="Text 31"/>
          <p:cNvSpPr/>
          <p:nvPr/>
        </p:nvSpPr>
        <p:spPr>
          <a:xfrm>
            <a:off x="932688" y="507492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Licencia abierta y fuente verificable</a:t>
            </a:r>
            <a:endParaRPr lang="en-US" sz="1300" dirty="0"/>
          </a:p>
        </p:txBody>
      </p:sp>
      <p:sp>
        <p:nvSpPr>
          <p:cNvPr id="34" name="Shape 32"/>
          <p:cNvSpPr/>
          <p:nvPr/>
        </p:nvSpPr>
        <p:spPr>
          <a:xfrm>
            <a:off x="6309360" y="5166360"/>
            <a:ext cx="201168" cy="201168"/>
          </a:xfrm>
          <a:prstGeom prst="ellipse">
            <a:avLst/>
          </a:prstGeom>
          <a:solidFill>
            <a:srgbClr val="AC212E"/>
          </a:solidFill>
          <a:ln/>
        </p:spPr>
        <p:txBody>
          <a:bodyPr/>
          <a:lstStyle/>
          <a:p>
            <a:endParaRPr lang="es-CL"/>
          </a:p>
        </p:txBody>
      </p:sp>
      <p:sp>
        <p:nvSpPr>
          <p:cNvPr id="35" name="Text 33"/>
          <p:cNvSpPr/>
          <p:nvPr/>
        </p:nvSpPr>
        <p:spPr>
          <a:xfrm>
            <a:off x="6693408" y="5074920"/>
            <a:ext cx="5212080" cy="384048"/>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Datos de los últimos cinco años</a:t>
            </a:r>
            <a:endParaRPr lang="en-US" sz="1300" dirty="0"/>
          </a:p>
        </p:txBody>
      </p:sp>
      <p:sp>
        <p:nvSpPr>
          <p:cNvPr id="36" name="Text 34"/>
          <p:cNvSpPr/>
          <p:nvPr/>
        </p:nvSpPr>
        <p:spPr>
          <a:xfrm>
            <a:off x="548640" y="5760720"/>
            <a:ext cx="11064240" cy="365760"/>
          </a:xfrm>
          <a:prstGeom prst="rect">
            <a:avLst/>
          </a:prstGeom>
          <a:noFill/>
          <a:ln/>
        </p:spPr>
        <p:txBody>
          <a:bodyPr wrap="square" lIns="0" tIns="0" rIns="0" bIns="0" rtlCol="0" anchor="ctr"/>
          <a:lstStyle/>
          <a:p>
            <a:pPr marL="0" indent="0">
              <a:buNone/>
            </a:pPr>
            <a:r>
              <a:rPr lang="en-US" sz="1350" i="1" dirty="0">
                <a:solidFill>
                  <a:srgbClr val="5A6B7B"/>
                </a:solidFill>
                <a:latin typeface="Calibri" pitchFamily="34" charset="0"/>
                <a:ea typeface="Calibri" pitchFamily="34" charset="-122"/>
                <a:cs typeface="Calibri" pitchFamily="34" charset="-120"/>
              </a:rPr>
              <a:t>Un noveno requisito, el menos evidente, va en la lámina siguiente.</a:t>
            </a:r>
            <a:endParaRPr lang="en-US" sz="13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El dataset debe tener datos faltantes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Suena raro. Es el requisito que más protege su nota.</a:t>
            </a:r>
            <a:endParaRPr lang="en-US" sz="1400" dirty="0"/>
          </a:p>
        </p:txBody>
      </p:sp>
      <p:sp>
        <p:nvSpPr>
          <p:cNvPr id="4" name="Shape 2"/>
          <p:cNvSpPr/>
          <p:nvPr/>
        </p:nvSpPr>
        <p:spPr>
          <a:xfrm>
            <a:off x="548640" y="1783080"/>
            <a:ext cx="5394960" cy="2286000"/>
          </a:xfrm>
          <a:prstGeom prst="roundRect">
            <a:avLst>
              <a:gd name="adj" fmla="val 36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65960"/>
            <a:ext cx="4754880" cy="365760"/>
          </a:xfrm>
          <a:prstGeom prst="rect">
            <a:avLst/>
          </a:prstGeom>
          <a:noFill/>
          <a:ln/>
        </p:spPr>
        <p:txBody>
          <a:bodyPr wrap="square" lIns="0" tIns="0" rIns="0" bIns="0" rtlCol="0" anchor="ctr"/>
          <a:lstStyle/>
          <a:p>
            <a:pPr marL="0" indent="0">
              <a:buNone/>
            </a:pPr>
            <a:r>
              <a:rPr lang="en-US" sz="1600" b="1" dirty="0">
                <a:solidFill>
                  <a:srgbClr val="5A6B7B"/>
                </a:solidFill>
                <a:latin typeface="Calibri" pitchFamily="34" charset="0"/>
                <a:ea typeface="Calibri" pitchFamily="34" charset="-122"/>
                <a:cs typeface="Calibri" pitchFamily="34" charset="-120"/>
              </a:rPr>
              <a:t>Dataset «perfecto»</a:t>
            </a:r>
            <a:endParaRPr lang="en-US" sz="1600" dirty="0"/>
          </a:p>
        </p:txBody>
      </p:sp>
      <p:sp>
        <p:nvSpPr>
          <p:cNvPr id="6" name="Text 4"/>
          <p:cNvSpPr/>
          <p:nvPr/>
        </p:nvSpPr>
        <p:spPr>
          <a:xfrm>
            <a:off x="868680" y="2377440"/>
            <a:ext cx="4754880" cy="155448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Sin nulos, sin duplicados, sin anomalías.</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La sección de preprocesamiento se reduce a cargar el archivo. No hay decisiones que tomar, y por lo tanto no hay nada que justificar.</a:t>
            </a:r>
            <a:endParaRPr lang="en-US" sz="1300" dirty="0"/>
          </a:p>
          <a:p>
            <a:pPr marL="0" indent="0">
              <a:lnSpc>
                <a:spcPts val="1800"/>
              </a:lnSpc>
              <a:buNone/>
            </a:pPr>
            <a:endParaRPr lang="en-US" sz="1300" dirty="0"/>
          </a:p>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El criterio de mayor peso de la Sumativa 1 queda sin evidencia.</a:t>
            </a:r>
            <a:endParaRPr lang="en-US" sz="1300" dirty="0"/>
          </a:p>
        </p:txBody>
      </p:sp>
      <p:sp>
        <p:nvSpPr>
          <p:cNvPr id="7" name="Shape 5"/>
          <p:cNvSpPr/>
          <p:nvPr/>
        </p:nvSpPr>
        <p:spPr>
          <a:xfrm>
            <a:off x="6217920" y="1783080"/>
            <a:ext cx="5394960" cy="2286000"/>
          </a:xfrm>
          <a:prstGeom prst="roundRect">
            <a:avLst>
              <a:gd name="adj" fmla="val 3600"/>
            </a:avLst>
          </a:prstGeom>
          <a:solidFill>
            <a:srgbClr val="0A1526"/>
          </a:solidFill>
          <a:ln w="12700">
            <a:solidFill>
              <a:srgbClr val="0A1526"/>
            </a:solidFill>
            <a:prstDash val="solid"/>
          </a:ln>
        </p:spPr>
        <p:txBody>
          <a:bodyPr/>
          <a:lstStyle/>
          <a:p>
            <a:endParaRPr lang="es-CL"/>
          </a:p>
        </p:txBody>
      </p:sp>
      <p:sp>
        <p:nvSpPr>
          <p:cNvPr id="8" name="Text 6"/>
          <p:cNvSpPr/>
          <p:nvPr/>
        </p:nvSpPr>
        <p:spPr>
          <a:xfrm>
            <a:off x="6537960" y="1965960"/>
            <a:ext cx="4754880" cy="365760"/>
          </a:xfrm>
          <a:prstGeom prst="rect">
            <a:avLst/>
          </a:prstGeom>
          <a:noFill/>
          <a:ln/>
        </p:spPr>
        <p:txBody>
          <a:bodyPr wrap="square" lIns="0" tIns="0" rIns="0" bIns="0" rtlCol="0" anchor="ctr"/>
          <a:lstStyle/>
          <a:p>
            <a:pPr marL="0" indent="0">
              <a:buNone/>
            </a:pPr>
            <a:r>
              <a:rPr lang="en-US" sz="1600" b="1" dirty="0">
                <a:solidFill>
                  <a:srgbClr val="AC212E"/>
                </a:solidFill>
                <a:latin typeface="Calibri" pitchFamily="34" charset="0"/>
                <a:ea typeface="Calibri" pitchFamily="34" charset="-122"/>
                <a:cs typeface="Calibri" pitchFamily="34" charset="-120"/>
              </a:rPr>
              <a:t>Dataset real</a:t>
            </a:r>
            <a:endParaRPr lang="en-US" sz="1600" dirty="0"/>
          </a:p>
        </p:txBody>
      </p:sp>
      <p:sp>
        <p:nvSpPr>
          <p:cNvPr id="9" name="Text 7"/>
          <p:cNvSpPr/>
          <p:nvPr/>
        </p:nvSpPr>
        <p:spPr>
          <a:xfrm>
            <a:off x="6537960" y="2377440"/>
            <a:ext cx="4754880" cy="155448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Con campos vacíos, formatos inconsistentes y categorías escritas de tres maneras.</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Cada uno obliga a decidir: eliminar, imputar, corregir. Y cada decisión se justifica en el informe.</a:t>
            </a:r>
            <a:endParaRPr lang="en-US" sz="1300" dirty="0"/>
          </a:p>
          <a:p>
            <a:pPr marL="0" indent="0">
              <a:lnSpc>
                <a:spcPts val="1800"/>
              </a:lnSpc>
              <a:buNone/>
            </a:pPr>
            <a:endParaRPr lang="en-US" sz="1300" dirty="0"/>
          </a:p>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Eso es exactamente lo que la rúbrica evalúa.</a:t>
            </a:r>
            <a:endParaRPr lang="en-US" sz="1300" dirty="0"/>
          </a:p>
        </p:txBody>
      </p:sp>
      <p:sp>
        <p:nvSpPr>
          <p:cNvPr id="10" name="Text 8"/>
          <p:cNvSpPr/>
          <p:nvPr/>
        </p:nvSpPr>
        <p:spPr>
          <a:xfrm>
            <a:off x="548640" y="4343400"/>
            <a:ext cx="73152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La proporción también importa</a:t>
            </a:r>
            <a:endParaRPr lang="en-US" sz="1600" dirty="0"/>
          </a:p>
        </p:txBody>
      </p:sp>
      <p:sp>
        <p:nvSpPr>
          <p:cNvPr id="11" name="Shape 9"/>
          <p:cNvSpPr/>
          <p:nvPr/>
        </p:nvSpPr>
        <p:spPr>
          <a:xfrm>
            <a:off x="548640" y="4754880"/>
            <a:ext cx="3520440" cy="1188720"/>
          </a:xfrm>
          <a:prstGeom prst="roundRect">
            <a:avLst>
              <a:gd name="adj" fmla="val 6923"/>
            </a:avLst>
          </a:prstGeom>
          <a:solidFill>
            <a:srgbClr val="F4F7FA"/>
          </a:solidFill>
          <a:ln w="12700">
            <a:solidFill>
              <a:srgbClr val="F4F7FA"/>
            </a:solidFill>
            <a:prstDash val="solid"/>
          </a:ln>
        </p:spPr>
        <p:txBody>
          <a:bodyPr/>
          <a:lstStyle/>
          <a:p>
            <a:endParaRPr lang="es-CL"/>
          </a:p>
        </p:txBody>
      </p:sp>
      <p:sp>
        <p:nvSpPr>
          <p:cNvPr id="12" name="Text 10"/>
          <p:cNvSpPr/>
          <p:nvPr/>
        </p:nvSpPr>
        <p:spPr>
          <a:xfrm>
            <a:off x="777240" y="4892040"/>
            <a:ext cx="3063240" cy="292608"/>
          </a:xfrm>
          <a:prstGeom prst="rect">
            <a:avLst/>
          </a:prstGeom>
          <a:noFill/>
          <a:ln/>
        </p:spPr>
        <p:txBody>
          <a:bodyPr wrap="square" lIns="0" tIns="0" rIns="0" bIns="0" rtlCol="0" anchor="ctr"/>
          <a:lstStyle/>
          <a:p>
            <a:pPr marL="0" indent="0">
              <a:buNone/>
            </a:pPr>
            <a:r>
              <a:rPr lang="en-US" sz="1400" b="1" dirty="0">
                <a:solidFill>
                  <a:srgbClr val="5A6B7B"/>
                </a:solidFill>
                <a:latin typeface="Calibri" pitchFamily="34" charset="0"/>
                <a:ea typeface="Calibri" pitchFamily="34" charset="-122"/>
                <a:cs typeface="Calibri" pitchFamily="34" charset="-120"/>
              </a:rPr>
              <a:t>Menos de 1%</a:t>
            </a:r>
            <a:endParaRPr lang="en-US" sz="1400" dirty="0"/>
          </a:p>
        </p:txBody>
      </p:sp>
      <p:sp>
        <p:nvSpPr>
          <p:cNvPr id="13" name="Text 11"/>
          <p:cNvSpPr/>
          <p:nvPr/>
        </p:nvSpPr>
        <p:spPr>
          <a:xfrm>
            <a:off x="777240" y="5212080"/>
            <a:ext cx="3063240" cy="64008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Casi no hay decisión que tomar.</a:t>
            </a:r>
            <a:endParaRPr lang="en-US" sz="1250" dirty="0"/>
          </a:p>
        </p:txBody>
      </p:sp>
      <p:sp>
        <p:nvSpPr>
          <p:cNvPr id="14" name="Shape 12"/>
          <p:cNvSpPr/>
          <p:nvPr/>
        </p:nvSpPr>
        <p:spPr>
          <a:xfrm>
            <a:off x="4325112" y="4754880"/>
            <a:ext cx="3520440" cy="1188720"/>
          </a:xfrm>
          <a:prstGeom prst="roundRect">
            <a:avLst>
              <a:gd name="adj" fmla="val 6923"/>
            </a:avLst>
          </a:prstGeom>
          <a:solidFill>
            <a:srgbClr val="F6E7E9"/>
          </a:solidFill>
          <a:ln w="12700">
            <a:solidFill>
              <a:srgbClr val="F6E7E9"/>
            </a:solidFill>
            <a:prstDash val="solid"/>
          </a:ln>
        </p:spPr>
        <p:txBody>
          <a:bodyPr/>
          <a:lstStyle/>
          <a:p>
            <a:endParaRPr lang="es-CL"/>
          </a:p>
        </p:txBody>
      </p:sp>
      <p:sp>
        <p:nvSpPr>
          <p:cNvPr id="15" name="Text 13"/>
          <p:cNvSpPr/>
          <p:nvPr/>
        </p:nvSpPr>
        <p:spPr>
          <a:xfrm>
            <a:off x="4553712" y="4892040"/>
            <a:ext cx="3063240" cy="292608"/>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Entre 1% y 30%</a:t>
            </a:r>
            <a:endParaRPr lang="en-US" sz="1400" dirty="0"/>
          </a:p>
        </p:txBody>
      </p:sp>
      <p:sp>
        <p:nvSpPr>
          <p:cNvPr id="16" name="Text 14"/>
          <p:cNvSpPr/>
          <p:nvPr/>
        </p:nvSpPr>
        <p:spPr>
          <a:xfrm>
            <a:off x="4553712" y="5212080"/>
            <a:ext cx="3063240" cy="64008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Rango útil: obliga a elegir entre eliminar e imputar, y a justificarlo.</a:t>
            </a:r>
            <a:endParaRPr lang="en-US" sz="1250" dirty="0"/>
          </a:p>
        </p:txBody>
      </p:sp>
      <p:sp>
        <p:nvSpPr>
          <p:cNvPr id="17" name="Shape 15"/>
          <p:cNvSpPr/>
          <p:nvPr/>
        </p:nvSpPr>
        <p:spPr>
          <a:xfrm>
            <a:off x="8101584" y="4754880"/>
            <a:ext cx="3520440" cy="1188720"/>
          </a:xfrm>
          <a:prstGeom prst="roundRect">
            <a:avLst>
              <a:gd name="adj" fmla="val 6923"/>
            </a:avLst>
          </a:prstGeom>
          <a:solidFill>
            <a:srgbClr val="F4F7FA"/>
          </a:solidFill>
          <a:ln w="12700">
            <a:solidFill>
              <a:srgbClr val="F4F7FA"/>
            </a:solidFill>
            <a:prstDash val="solid"/>
          </a:ln>
        </p:spPr>
        <p:txBody>
          <a:bodyPr/>
          <a:lstStyle/>
          <a:p>
            <a:endParaRPr lang="es-CL"/>
          </a:p>
        </p:txBody>
      </p:sp>
      <p:sp>
        <p:nvSpPr>
          <p:cNvPr id="18" name="Text 16"/>
          <p:cNvSpPr/>
          <p:nvPr/>
        </p:nvSpPr>
        <p:spPr>
          <a:xfrm>
            <a:off x="8330184" y="4892040"/>
            <a:ext cx="3063240" cy="292608"/>
          </a:xfrm>
          <a:prstGeom prst="rect">
            <a:avLst/>
          </a:prstGeom>
          <a:noFill/>
          <a:ln/>
        </p:spPr>
        <p:txBody>
          <a:bodyPr wrap="square" lIns="0" tIns="0" rIns="0" bIns="0" rtlCol="0" anchor="ctr"/>
          <a:lstStyle/>
          <a:p>
            <a:pPr marL="0" indent="0">
              <a:buNone/>
            </a:pPr>
            <a:r>
              <a:rPr lang="en-US" sz="1400" b="1" dirty="0">
                <a:solidFill>
                  <a:srgbClr val="5A6B7B"/>
                </a:solidFill>
                <a:latin typeface="Calibri" pitchFamily="34" charset="0"/>
                <a:ea typeface="Calibri" pitchFamily="34" charset="-122"/>
                <a:cs typeface="Calibri" pitchFamily="34" charset="-120"/>
              </a:rPr>
              <a:t>Más de 60%</a:t>
            </a:r>
            <a:endParaRPr lang="en-US" sz="1400" dirty="0"/>
          </a:p>
        </p:txBody>
      </p:sp>
      <p:sp>
        <p:nvSpPr>
          <p:cNvPr id="19" name="Text 17"/>
          <p:cNvSpPr/>
          <p:nvPr/>
        </p:nvSpPr>
        <p:spPr>
          <a:xfrm>
            <a:off x="8330184" y="5212080"/>
            <a:ext cx="3063240" cy="64008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La variable no es recuperable: se descarta.</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Un problema contingente, no un ejercicio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datos deben permitir decir algo sobre una situación que está ocurriendo.</a:t>
            </a:r>
            <a:endParaRPr lang="en-US" sz="1400" dirty="0"/>
          </a:p>
        </p:txBody>
      </p:sp>
      <p:sp>
        <p:nvSpPr>
          <p:cNvPr id="4" name="Shape 2"/>
          <p:cNvSpPr/>
          <p:nvPr/>
        </p:nvSpPr>
        <p:spPr>
          <a:xfrm>
            <a:off x="548640" y="1737360"/>
            <a:ext cx="11064240" cy="868680"/>
          </a:xfrm>
          <a:prstGeom prst="roundRect">
            <a:avLst>
              <a:gd name="adj" fmla="val 9474"/>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68680" y="1737360"/>
            <a:ext cx="10424160" cy="868680"/>
          </a:xfrm>
          <a:prstGeom prst="rect">
            <a:avLst/>
          </a:prstGeom>
          <a:noFill/>
          <a:ln/>
        </p:spPr>
        <p:txBody>
          <a:bodyPr wrap="square" lIns="0" tIns="0" rIns="0" bIns="0" rtlCol="0" anchor="ctr"/>
          <a:lstStyle/>
          <a:p>
            <a:pPr marL="0" indent="0">
              <a:buNone/>
            </a:pPr>
            <a:r>
              <a:rPr lang="en-US" sz="1500" dirty="0">
                <a:solidFill>
                  <a:srgbClr val="AC212E"/>
                </a:solidFill>
                <a:latin typeface="Calibri" pitchFamily="34" charset="0"/>
                <a:ea typeface="Calibri" pitchFamily="34" charset="-122"/>
                <a:cs typeface="Calibri" pitchFamily="34" charset="-120"/>
              </a:rPr>
              <a:t>Contingente = tiene consecuencias hoy para alguien. Si el análisis no le interesaría a ningún tomador de decisiones, probablemente el problema está mal elegido.</a:t>
            </a:r>
            <a:endParaRPr lang="en-US" sz="1500" dirty="0"/>
          </a:p>
        </p:txBody>
      </p:sp>
      <p:sp>
        <p:nvSpPr>
          <p:cNvPr id="6" name="Shape 4"/>
          <p:cNvSpPr/>
          <p:nvPr/>
        </p:nvSpPr>
        <p:spPr>
          <a:xfrm>
            <a:off x="548640" y="283464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7" name="Shape 5"/>
          <p:cNvSpPr/>
          <p:nvPr/>
        </p:nvSpPr>
        <p:spPr>
          <a:xfrm>
            <a:off x="777240" y="3108960"/>
            <a:ext cx="384048" cy="384048"/>
          </a:xfrm>
          <a:prstGeom prst="ellipse">
            <a:avLst/>
          </a:prstGeom>
          <a:solidFill>
            <a:srgbClr val="AC212E"/>
          </a:solidFill>
          <a:ln/>
        </p:spPr>
        <p:txBody>
          <a:bodyPr/>
          <a:lstStyle/>
          <a:p>
            <a:endParaRPr lang="es-CL"/>
          </a:p>
        </p:txBody>
      </p:sp>
      <p:sp>
        <p:nvSpPr>
          <p:cNvPr id="8" name="Text 6"/>
          <p:cNvSpPr/>
          <p:nvPr/>
        </p:nvSpPr>
        <p:spPr>
          <a:xfrm>
            <a:off x="777240" y="3108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298448" y="292608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Salud pública y acceso</a:t>
            </a:r>
            <a:endParaRPr lang="en-US" sz="1350" dirty="0"/>
          </a:p>
        </p:txBody>
      </p:sp>
      <p:sp>
        <p:nvSpPr>
          <p:cNvPr id="10" name="Text 8"/>
          <p:cNvSpPr/>
          <p:nvPr/>
        </p:nvSpPr>
        <p:spPr>
          <a:xfrm>
            <a:off x="1298448" y="324612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Variación territorial en atención de urgencia o listas de espera</a:t>
            </a:r>
            <a:endParaRPr lang="en-US" sz="1150" dirty="0"/>
          </a:p>
        </p:txBody>
      </p:sp>
      <p:sp>
        <p:nvSpPr>
          <p:cNvPr id="11" name="Shape 9"/>
          <p:cNvSpPr/>
          <p:nvPr/>
        </p:nvSpPr>
        <p:spPr>
          <a:xfrm>
            <a:off x="6309360" y="283464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12" name="Shape 10"/>
          <p:cNvSpPr/>
          <p:nvPr/>
        </p:nvSpPr>
        <p:spPr>
          <a:xfrm>
            <a:off x="6537960" y="3108960"/>
            <a:ext cx="384048" cy="384048"/>
          </a:xfrm>
          <a:prstGeom prst="ellipse">
            <a:avLst/>
          </a:prstGeom>
          <a:solidFill>
            <a:srgbClr val="AC212E"/>
          </a:solidFill>
          <a:ln/>
        </p:spPr>
        <p:txBody>
          <a:bodyPr/>
          <a:lstStyle/>
          <a:p>
            <a:endParaRPr lang="es-CL"/>
          </a:p>
        </p:txBody>
      </p:sp>
      <p:sp>
        <p:nvSpPr>
          <p:cNvPr id="13" name="Text 11"/>
          <p:cNvSpPr/>
          <p:nvPr/>
        </p:nvSpPr>
        <p:spPr>
          <a:xfrm>
            <a:off x="6537960" y="31089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7059168" y="292608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Transparencia y compra pública</a:t>
            </a:r>
            <a:endParaRPr lang="en-US" sz="1350" dirty="0"/>
          </a:p>
        </p:txBody>
      </p:sp>
      <p:sp>
        <p:nvSpPr>
          <p:cNvPr id="15" name="Text 13"/>
          <p:cNvSpPr/>
          <p:nvPr/>
        </p:nvSpPr>
        <p:spPr>
          <a:xfrm>
            <a:off x="7059168" y="324612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Patrones en licitaciones con un solo oferente</a:t>
            </a:r>
            <a:endParaRPr lang="en-US" sz="1150" dirty="0"/>
          </a:p>
        </p:txBody>
      </p:sp>
      <p:sp>
        <p:nvSpPr>
          <p:cNvPr id="16" name="Shape 14"/>
          <p:cNvSpPr/>
          <p:nvPr/>
        </p:nvSpPr>
        <p:spPr>
          <a:xfrm>
            <a:off x="548640" y="393192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777240" y="4206240"/>
            <a:ext cx="384048" cy="384048"/>
          </a:xfrm>
          <a:prstGeom prst="ellipse">
            <a:avLst/>
          </a:prstGeom>
          <a:solidFill>
            <a:srgbClr val="AC212E"/>
          </a:solidFill>
          <a:ln/>
        </p:spPr>
        <p:txBody>
          <a:bodyPr/>
          <a:lstStyle/>
          <a:p>
            <a:endParaRPr lang="es-CL"/>
          </a:p>
        </p:txBody>
      </p:sp>
      <p:sp>
        <p:nvSpPr>
          <p:cNvPr id="18" name="Text 16"/>
          <p:cNvSpPr/>
          <p:nvPr/>
        </p:nvSpPr>
        <p:spPr>
          <a:xfrm>
            <a:off x="777240" y="4206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298448" y="402336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Trayectorias educativas</a:t>
            </a:r>
            <a:endParaRPr lang="en-US" sz="1350" dirty="0"/>
          </a:p>
        </p:txBody>
      </p:sp>
      <p:sp>
        <p:nvSpPr>
          <p:cNvPr id="20" name="Text 18"/>
          <p:cNvSpPr/>
          <p:nvPr/>
        </p:nvSpPr>
        <p:spPr>
          <a:xfrm>
            <a:off x="1298448" y="434340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Factores que acompañan la deserción o el cambio de establecimiento</a:t>
            </a:r>
            <a:endParaRPr lang="en-US" sz="1150" dirty="0"/>
          </a:p>
        </p:txBody>
      </p:sp>
      <p:sp>
        <p:nvSpPr>
          <p:cNvPr id="21" name="Shape 19"/>
          <p:cNvSpPr/>
          <p:nvPr/>
        </p:nvSpPr>
        <p:spPr>
          <a:xfrm>
            <a:off x="6309360" y="393192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22" name="Shape 20"/>
          <p:cNvSpPr/>
          <p:nvPr/>
        </p:nvSpPr>
        <p:spPr>
          <a:xfrm>
            <a:off x="6537960" y="4206240"/>
            <a:ext cx="384048" cy="384048"/>
          </a:xfrm>
          <a:prstGeom prst="ellipse">
            <a:avLst/>
          </a:prstGeom>
          <a:solidFill>
            <a:srgbClr val="AC212E"/>
          </a:solidFill>
          <a:ln/>
        </p:spPr>
        <p:txBody>
          <a:bodyPr/>
          <a:lstStyle/>
          <a:p>
            <a:endParaRPr lang="es-CL"/>
          </a:p>
        </p:txBody>
      </p:sp>
      <p:sp>
        <p:nvSpPr>
          <p:cNvPr id="23" name="Text 21"/>
          <p:cNvSpPr/>
          <p:nvPr/>
        </p:nvSpPr>
        <p:spPr>
          <a:xfrm>
            <a:off x="6537960" y="4206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7059168" y="402336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Fiscalización ambiental</a:t>
            </a:r>
            <a:endParaRPr lang="en-US" sz="1350" dirty="0"/>
          </a:p>
        </p:txBody>
      </p:sp>
      <p:sp>
        <p:nvSpPr>
          <p:cNvPr id="25" name="Text 23"/>
          <p:cNvSpPr/>
          <p:nvPr/>
        </p:nvSpPr>
        <p:spPr>
          <a:xfrm>
            <a:off x="7059168" y="434340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Unidades con procesos sancionatorios recurrentes</a:t>
            </a:r>
            <a:endParaRPr lang="en-US" sz="1150" dirty="0"/>
          </a:p>
        </p:txBody>
      </p:sp>
      <p:sp>
        <p:nvSpPr>
          <p:cNvPr id="26" name="Shape 24"/>
          <p:cNvSpPr/>
          <p:nvPr/>
        </p:nvSpPr>
        <p:spPr>
          <a:xfrm>
            <a:off x="548640" y="502920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27" name="Shape 25"/>
          <p:cNvSpPr/>
          <p:nvPr/>
        </p:nvSpPr>
        <p:spPr>
          <a:xfrm>
            <a:off x="777240" y="5303520"/>
            <a:ext cx="384048" cy="384048"/>
          </a:xfrm>
          <a:prstGeom prst="ellipse">
            <a:avLst/>
          </a:prstGeom>
          <a:solidFill>
            <a:srgbClr val="AC212E"/>
          </a:solidFill>
          <a:ln/>
        </p:spPr>
        <p:txBody>
          <a:bodyPr/>
          <a:lstStyle/>
          <a:p>
            <a:endParaRPr lang="es-CL"/>
          </a:p>
        </p:txBody>
      </p:sp>
      <p:sp>
        <p:nvSpPr>
          <p:cNvPr id="28" name="Text 26"/>
          <p:cNvSpPr/>
          <p:nvPr/>
        </p:nvSpPr>
        <p:spPr>
          <a:xfrm>
            <a:off x="777240" y="5303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p:nvPr/>
        </p:nvSpPr>
        <p:spPr>
          <a:xfrm>
            <a:off x="1298448" y="512064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Transición energética</a:t>
            </a:r>
            <a:endParaRPr lang="en-US" sz="1350" dirty="0"/>
          </a:p>
        </p:txBody>
      </p:sp>
      <p:sp>
        <p:nvSpPr>
          <p:cNvPr id="30" name="Text 28"/>
          <p:cNvSpPr/>
          <p:nvPr/>
        </p:nvSpPr>
        <p:spPr>
          <a:xfrm>
            <a:off x="1298448" y="544068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Distribución de la generación renovable y sus condicionantes</a:t>
            </a:r>
            <a:endParaRPr lang="en-US" sz="1150" dirty="0"/>
          </a:p>
        </p:txBody>
      </p:sp>
      <p:sp>
        <p:nvSpPr>
          <p:cNvPr id="31" name="Shape 29"/>
          <p:cNvSpPr/>
          <p:nvPr/>
        </p:nvSpPr>
        <p:spPr>
          <a:xfrm>
            <a:off x="6309360" y="5029200"/>
            <a:ext cx="5303520" cy="932688"/>
          </a:xfrm>
          <a:prstGeom prst="roundRect">
            <a:avLst>
              <a:gd name="adj" fmla="val 8824"/>
            </a:avLst>
          </a:prstGeom>
          <a:solidFill>
            <a:srgbClr val="F4F7FA"/>
          </a:solidFill>
          <a:ln w="12700">
            <a:solidFill>
              <a:srgbClr val="F4F7FA"/>
            </a:solidFill>
            <a:prstDash val="solid"/>
          </a:ln>
        </p:spPr>
        <p:txBody>
          <a:bodyPr/>
          <a:lstStyle/>
          <a:p>
            <a:endParaRPr lang="es-CL"/>
          </a:p>
        </p:txBody>
      </p:sp>
      <p:sp>
        <p:nvSpPr>
          <p:cNvPr id="32" name="Shape 30"/>
          <p:cNvSpPr/>
          <p:nvPr/>
        </p:nvSpPr>
        <p:spPr>
          <a:xfrm>
            <a:off x="6537960" y="5303520"/>
            <a:ext cx="384048" cy="384048"/>
          </a:xfrm>
          <a:prstGeom prst="ellipse">
            <a:avLst/>
          </a:prstGeom>
          <a:solidFill>
            <a:srgbClr val="AC212E"/>
          </a:solidFill>
          <a:ln/>
        </p:spPr>
        <p:txBody>
          <a:bodyPr/>
          <a:lstStyle/>
          <a:p>
            <a:endParaRPr lang="es-CL"/>
          </a:p>
        </p:txBody>
      </p:sp>
      <p:sp>
        <p:nvSpPr>
          <p:cNvPr id="33" name="Text 31"/>
          <p:cNvSpPr/>
          <p:nvPr/>
        </p:nvSpPr>
        <p:spPr>
          <a:xfrm>
            <a:off x="6537960" y="5303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p:nvPr/>
        </p:nvSpPr>
        <p:spPr>
          <a:xfrm>
            <a:off x="7059168" y="5120640"/>
            <a:ext cx="4343400" cy="320040"/>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Movilidad y logística urbana</a:t>
            </a:r>
            <a:endParaRPr lang="en-US" sz="1350" dirty="0"/>
          </a:p>
        </p:txBody>
      </p:sp>
      <p:sp>
        <p:nvSpPr>
          <p:cNvPr id="35" name="Text 33"/>
          <p:cNvSpPr/>
          <p:nvPr/>
        </p:nvSpPr>
        <p:spPr>
          <a:xfrm>
            <a:off x="7059168" y="5440680"/>
            <a:ext cx="4389120" cy="457200"/>
          </a:xfrm>
          <a:prstGeom prst="rect">
            <a:avLst/>
          </a:prstGeom>
          <a:noFill/>
          <a:ln/>
        </p:spPr>
        <p:txBody>
          <a:bodyPr wrap="square" lIns="0" tIns="0" rIns="0" bIns="0" rtlCol="0" anchor="ctr"/>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Diferencias de desempeño entre nodos logísticos</a:t>
            </a:r>
            <a:endParaRPr lang="en-US" sz="1150" dirty="0"/>
          </a:p>
        </p:txBody>
      </p:sp>
      <p:sp>
        <p:nvSpPr>
          <p:cNvPr id="36" name="Text 34"/>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Son líneas de búsqueda, no temas cerrados. Pueden proponer otra, siempre que tenga datos abiertos disponibles.</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buscar: fuentes chilenas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Datos abiertos, licencia clara y contingencia local garantizada.</a:t>
            </a:r>
            <a:endParaRPr lang="en-US" sz="1400" dirty="0"/>
          </a:p>
        </p:txBody>
      </p:sp>
      <p:graphicFrame>
        <p:nvGraphicFramePr>
          <p:cNvPr id="10" name="Table 0"/>
          <p:cNvGraphicFramePr>
            <a:graphicFrameLocks noGrp="1"/>
          </p:cNvGraphicFramePr>
          <p:nvPr/>
        </p:nvGraphicFramePr>
        <p:xfrm>
          <a:off x="548640" y="1737360"/>
          <a:ext cx="11064240" cy="4279392"/>
        </p:xfrm>
        <a:graphic>
          <a:graphicData uri="http://schemas.openxmlformats.org/drawingml/2006/table">
            <a:tbl>
              <a:tblPr/>
              <a:tblGrid>
                <a:gridCol w="292608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47548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Fuente</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Qué contiene</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Sitio</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Portal de Datos Abiertos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Repositorio central del Estado, 255+ organismos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datos.gob.cl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DEIS · MINSAL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Mortalidad, vacunación, egresos, urgencias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deis.minsal.cl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ChileCompra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Compras públicas: montos, rubros, organismos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datosabiertos.chilecompra.cl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 Abiertos MINEDUC</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Estudiantes, docentes, establecimientos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datosabiertos.mineduc.cl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SNIFA · SMA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Fiscalizaciones, sanciones, emisiones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snifa.sma.gob.cl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Energía Abierta · CNE</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Electricidad, renovables, eficiencia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energiaabierta.cl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Observatorio Logístico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Transporte carretero, marítimo y aéreo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observatoriologistico.cl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INE / SERVEL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Censo, empleo, precios / resultados electorales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ine.cl · servel.cl</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Shape 2"/>
          <p:cNvSpPr/>
          <p:nvPr/>
        </p:nvSpPr>
        <p:spPr>
          <a:xfrm>
            <a:off x="548640" y="5623560"/>
            <a:ext cx="11064240" cy="548640"/>
          </a:xfrm>
          <a:prstGeom prst="roundRect">
            <a:avLst>
              <a:gd name="adj" fmla="val 15000"/>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5623560"/>
            <a:ext cx="10424160" cy="548640"/>
          </a:xfrm>
          <a:prstGeom prst="rect">
            <a:avLst/>
          </a:prstGeom>
          <a:noFill/>
          <a:ln/>
        </p:spPr>
        <p:txBody>
          <a:bodyPr wrap="square" lIns="0" tIns="0" rIns="0" bIns="0" rtlCol="0" anchor="ctr"/>
          <a:lstStyle/>
          <a:p>
            <a:pPr marL="0" indent="0">
              <a:buNone/>
            </a:pPr>
            <a:r>
              <a:rPr lang="en-US" sz="1350" dirty="0">
                <a:solidFill>
                  <a:srgbClr val="AC212E"/>
                </a:solidFill>
                <a:latin typeface="Calibri" pitchFamily="34" charset="0"/>
                <a:ea typeface="Calibri" pitchFamily="34" charset="-122"/>
                <a:cs typeface="Calibri" pitchFamily="34" charset="-120"/>
              </a:rPr>
              <a:t>Lista curada y mantenida de fuentes chilenas:   github.com/imfd/awesome-data-chile</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Cuatro conjuntos de datos concretos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Enlace, unidad de observación y qué roles de variable esperan encontrar.</a:t>
            </a:r>
            <a:endParaRPr lang="en-US" sz="1400" dirty="0"/>
          </a:p>
        </p:txBody>
      </p:sp>
      <p:sp>
        <p:nvSpPr>
          <p:cNvPr id="4" name="Shape 2"/>
          <p:cNvSpPr/>
          <p:nvPr/>
        </p:nvSpPr>
        <p:spPr>
          <a:xfrm>
            <a:off x="548640" y="1691640"/>
            <a:ext cx="5303520" cy="2057400"/>
          </a:xfrm>
          <a:prstGeom prst="roundRect">
            <a:avLst>
              <a:gd name="adj" fmla="val 4000"/>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04672" y="180136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Inside Airbnb — Santiago</a:t>
            </a:r>
            <a:endParaRPr lang="en-US" sz="1400" dirty="0"/>
          </a:p>
        </p:txBody>
      </p:sp>
      <p:sp>
        <p:nvSpPr>
          <p:cNvPr id="6" name="Text 4"/>
          <p:cNvSpPr/>
          <p:nvPr/>
        </p:nvSpPr>
        <p:spPr>
          <a:xfrm>
            <a:off x="804672" y="210312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insideairbnb.com/get-the-data</a:t>
            </a:r>
            <a:endParaRPr lang="en-US" sz="1050" dirty="0"/>
          </a:p>
        </p:txBody>
      </p:sp>
      <p:sp>
        <p:nvSpPr>
          <p:cNvPr id="7" name="Text 5"/>
          <p:cNvSpPr/>
          <p:nvPr/>
        </p:nvSpPr>
        <p:spPr>
          <a:xfrm>
            <a:off x="804672" y="237744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 aviso de alojamiento publicado en Santiago</a:t>
            </a:r>
            <a:endParaRPr lang="en-US" sz="1100" dirty="0"/>
          </a:p>
        </p:txBody>
      </p:sp>
      <p:sp>
        <p:nvSpPr>
          <p:cNvPr id="8" name="Text 6"/>
          <p:cNvSpPr/>
          <p:nvPr/>
        </p:nvSpPr>
        <p:spPr>
          <a:xfrm>
            <a:off x="804672" y="263347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Precio y latitud (continuas) · dormitorios y noches mínimas (discretas) · superanfitrión (binaria) · tipo de habitación (nominal) · fecha de última reseña · barrio (alta cardinalidad) · título del aviso (texto)</a:t>
            </a:r>
            <a:endParaRPr lang="en-US" sz="1050" dirty="0"/>
          </a:p>
        </p:txBody>
      </p:sp>
      <p:sp>
        <p:nvSpPr>
          <p:cNvPr id="9" name="Text 7"/>
          <p:cNvSpPr/>
          <p:nvPr/>
        </p:nvSpPr>
        <p:spPr>
          <a:xfrm>
            <a:off x="804672" y="330098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El archivo detallado listings.csv.gz trae unas 75 columnas y abundantes nulos en las puntuaciones de reseñas. Licencia CC0.</a:t>
            </a:r>
            <a:endParaRPr lang="en-US" sz="1000" dirty="0"/>
          </a:p>
        </p:txBody>
      </p:sp>
      <p:sp>
        <p:nvSpPr>
          <p:cNvPr id="10" name="Shape 8"/>
          <p:cNvSpPr/>
          <p:nvPr/>
        </p:nvSpPr>
        <p:spPr>
          <a:xfrm>
            <a:off x="6309360" y="169164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1" name="Text 9"/>
          <p:cNvSpPr/>
          <p:nvPr/>
        </p:nvSpPr>
        <p:spPr>
          <a:xfrm>
            <a:off x="6565392" y="180136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ChileCompra — órdenes de compra</a:t>
            </a:r>
            <a:endParaRPr lang="en-US" sz="1400" dirty="0"/>
          </a:p>
        </p:txBody>
      </p:sp>
      <p:sp>
        <p:nvSpPr>
          <p:cNvPr id="12" name="Text 10"/>
          <p:cNvSpPr/>
          <p:nvPr/>
        </p:nvSpPr>
        <p:spPr>
          <a:xfrm>
            <a:off x="6565392" y="210312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datosabiertos.chilecompra.cl</a:t>
            </a:r>
            <a:endParaRPr lang="en-US" sz="1050" dirty="0"/>
          </a:p>
        </p:txBody>
      </p:sp>
      <p:sp>
        <p:nvSpPr>
          <p:cNvPr id="13" name="Text 11"/>
          <p:cNvSpPr/>
          <p:nvPr/>
        </p:nvSpPr>
        <p:spPr>
          <a:xfrm>
            <a:off x="6565392" y="237744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Una orden de compra del Mercado Público</a:t>
            </a:r>
            <a:endParaRPr lang="en-US" sz="1100" dirty="0"/>
          </a:p>
        </p:txBody>
      </p:sp>
      <p:sp>
        <p:nvSpPr>
          <p:cNvPr id="14" name="Text 12"/>
          <p:cNvSpPr/>
          <p:nvPr/>
        </p:nvSpPr>
        <p:spPr>
          <a:xfrm>
            <a:off x="6565392" y="263347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Monto (continua) · cantidad de ítems (discreta) · estado (nominal) · fecha de emisión · organismo y proveedor (alta cardinalidad) · glosa del producto (texto) · identificador de orden</a:t>
            </a:r>
            <a:endParaRPr lang="en-US" sz="1050" dirty="0"/>
          </a:p>
        </p:txBody>
      </p:sp>
      <p:sp>
        <p:nvSpPr>
          <p:cNvPr id="15" name="Text 13"/>
          <p:cNvSpPr/>
          <p:nvPr/>
        </p:nvSpPr>
        <p:spPr>
          <a:xfrm>
            <a:off x="6565392" y="330098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Archivos mensuales. Conviene acotar a un año y un sector para no superar los 100 MB.</a:t>
            </a:r>
            <a:endParaRPr lang="en-US" sz="1000" dirty="0"/>
          </a:p>
        </p:txBody>
      </p:sp>
      <p:sp>
        <p:nvSpPr>
          <p:cNvPr id="16" name="Shape 14"/>
          <p:cNvSpPr/>
          <p:nvPr/>
        </p:nvSpPr>
        <p:spPr>
          <a:xfrm>
            <a:off x="548640" y="3931920"/>
            <a:ext cx="5303520" cy="2057400"/>
          </a:xfrm>
          <a:prstGeom prst="roundRect">
            <a:avLst>
              <a:gd name="adj" fmla="val 4000"/>
            </a:avLst>
          </a:prstGeom>
          <a:solidFill>
            <a:srgbClr val="F4F7FA"/>
          </a:solidFill>
          <a:ln w="12700">
            <a:solidFill>
              <a:srgbClr val="F4F7FA"/>
            </a:solidFill>
            <a:prstDash val="solid"/>
          </a:ln>
        </p:spPr>
        <p:txBody>
          <a:bodyPr/>
          <a:lstStyle/>
          <a:p>
            <a:endParaRPr lang="es-CL"/>
          </a:p>
        </p:txBody>
      </p:sp>
      <p:sp>
        <p:nvSpPr>
          <p:cNvPr id="17" name="Text 15"/>
          <p:cNvSpPr/>
          <p:nvPr/>
        </p:nvSpPr>
        <p:spPr>
          <a:xfrm>
            <a:off x="804672" y="404164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MINEDUC — rendimiento por estudiante</a:t>
            </a:r>
            <a:endParaRPr lang="en-US" sz="1400" dirty="0"/>
          </a:p>
        </p:txBody>
      </p:sp>
      <p:sp>
        <p:nvSpPr>
          <p:cNvPr id="18" name="Text 16"/>
          <p:cNvSpPr/>
          <p:nvPr/>
        </p:nvSpPr>
        <p:spPr>
          <a:xfrm>
            <a:off x="804672" y="434340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datosabiertos.mineduc.cl</a:t>
            </a:r>
            <a:endParaRPr lang="en-US" sz="1050" dirty="0"/>
          </a:p>
        </p:txBody>
      </p:sp>
      <p:sp>
        <p:nvSpPr>
          <p:cNvPr id="19" name="Text 17"/>
          <p:cNvSpPr/>
          <p:nvPr/>
        </p:nvSpPr>
        <p:spPr>
          <a:xfrm>
            <a:off x="804672" y="461772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 estudiante en un año escolar</a:t>
            </a:r>
            <a:endParaRPr lang="en-US" sz="1100" dirty="0"/>
          </a:p>
        </p:txBody>
      </p:sp>
      <p:sp>
        <p:nvSpPr>
          <p:cNvPr id="20" name="Text 18"/>
          <p:cNvSpPr/>
          <p:nvPr/>
        </p:nvSpPr>
        <p:spPr>
          <a:xfrm>
            <a:off x="804672" y="487375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Promedio de notas y asistencia (continuas) · edad (discreta) · situación final (binaria) · dependencia y género (nominales) · nivel del curso (ordinal) · establecimiento y comuna (alta cardinalidad)</a:t>
            </a:r>
            <a:endParaRPr lang="en-US" sz="1050" dirty="0"/>
          </a:p>
        </p:txBody>
      </p:sp>
      <p:sp>
        <p:nvSpPr>
          <p:cNvPr id="21" name="Text 19"/>
          <p:cNvSpPr/>
          <p:nvPr/>
        </p:nvSpPr>
        <p:spPr>
          <a:xfrm>
            <a:off x="804672" y="554126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Las bases nacionales superan los 3 millones de filas: filtren por región o por nivel. Separador « ; » y codificación latin-1.</a:t>
            </a:r>
            <a:endParaRPr lang="en-US" sz="1000" dirty="0"/>
          </a:p>
        </p:txBody>
      </p:sp>
      <p:sp>
        <p:nvSpPr>
          <p:cNvPr id="22" name="Shape 20"/>
          <p:cNvSpPr/>
          <p:nvPr/>
        </p:nvSpPr>
        <p:spPr>
          <a:xfrm>
            <a:off x="6309360" y="3931920"/>
            <a:ext cx="5303520" cy="2057400"/>
          </a:xfrm>
          <a:prstGeom prst="roundRect">
            <a:avLst>
              <a:gd name="adj" fmla="val 4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6565392" y="4041648"/>
            <a:ext cx="480060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SNIFA — procesos sancionatorios</a:t>
            </a:r>
            <a:endParaRPr lang="en-US" sz="1400" dirty="0"/>
          </a:p>
        </p:txBody>
      </p:sp>
      <p:sp>
        <p:nvSpPr>
          <p:cNvPr id="24" name="Text 22"/>
          <p:cNvSpPr/>
          <p:nvPr/>
        </p:nvSpPr>
        <p:spPr>
          <a:xfrm>
            <a:off x="6565392" y="4343400"/>
            <a:ext cx="4800600" cy="256032"/>
          </a:xfrm>
          <a:prstGeom prst="rect">
            <a:avLst/>
          </a:prstGeom>
          <a:noFill/>
          <a:ln/>
        </p:spPr>
        <p:txBody>
          <a:bodyPr wrap="square" lIns="0" tIns="0" rIns="0" bIns="0" rtlCol="0" anchor="ctr"/>
          <a:lstStyle/>
          <a:p>
            <a:pPr marL="0" indent="0">
              <a:buNone/>
            </a:pPr>
            <a:r>
              <a:rPr lang="en-US" sz="1050" dirty="0">
                <a:solidFill>
                  <a:srgbClr val="AC212E"/>
                </a:solidFill>
                <a:latin typeface="Courier New" pitchFamily="34" charset="0"/>
                <a:ea typeface="Courier New" pitchFamily="34" charset="-122"/>
                <a:cs typeface="Courier New" pitchFamily="34" charset="-120"/>
              </a:rPr>
              <a:t>snifa.sma.gob.cl/DatosAbiertos</a:t>
            </a:r>
            <a:endParaRPr lang="en-US" sz="1050" dirty="0"/>
          </a:p>
        </p:txBody>
      </p:sp>
      <p:sp>
        <p:nvSpPr>
          <p:cNvPr id="25" name="Text 23"/>
          <p:cNvSpPr/>
          <p:nvPr/>
        </p:nvSpPr>
        <p:spPr>
          <a:xfrm>
            <a:off x="6565392" y="4617720"/>
            <a:ext cx="4800600" cy="256032"/>
          </a:xfrm>
          <a:prstGeom prst="rect">
            <a:avLst/>
          </a:prstGeom>
          <a:noFill/>
          <a:ln/>
        </p:spPr>
        <p:txBody>
          <a:bodyPr wrap="square" lIns="0" tIns="0" rIns="0" bIns="0" rtlCol="0" anchor="ctr"/>
          <a:lstStyle/>
          <a:p>
            <a:pPr marL="0" indent="0">
              <a:buNone/>
            </a:pPr>
            <a:r>
              <a:rPr lang="en-US" sz="1100" i="1" dirty="0">
                <a:solidFill>
                  <a:srgbClr val="5A6B7B"/>
                </a:solidFill>
                <a:latin typeface="Calibri" pitchFamily="34" charset="0"/>
                <a:ea typeface="Calibri" pitchFamily="34" charset="-122"/>
                <a:cs typeface="Calibri" pitchFamily="34" charset="-120"/>
              </a:rPr>
              <a:t>Unidad: Un proceso sancionatorio ambiental</a:t>
            </a:r>
            <a:endParaRPr lang="en-US" sz="1100" dirty="0"/>
          </a:p>
        </p:txBody>
      </p:sp>
      <p:sp>
        <p:nvSpPr>
          <p:cNvPr id="26" name="Text 24"/>
          <p:cNvSpPr/>
          <p:nvPr/>
        </p:nvSpPr>
        <p:spPr>
          <a:xfrm>
            <a:off x="6565392" y="4873752"/>
            <a:ext cx="4800600" cy="658368"/>
          </a:xfrm>
          <a:prstGeom prst="rect">
            <a:avLst/>
          </a:prstGeom>
          <a:noFill/>
          <a:ln/>
        </p:spPr>
        <p:txBody>
          <a:bodyPr wrap="square" lIns="0" tIns="0" rIns="0" bIns="0" rtlCol="0" anchor="ctr"/>
          <a:lstStyle/>
          <a:p>
            <a:pPr marL="0" indent="0">
              <a:lnSpc>
                <a:spcPts val="1350"/>
              </a:lnSpc>
              <a:buNone/>
            </a:pPr>
            <a:r>
              <a:rPr lang="en-US" sz="1050" dirty="0">
                <a:solidFill>
                  <a:srgbClr val="06304A"/>
                </a:solidFill>
                <a:latin typeface="Calibri" pitchFamily="34" charset="0"/>
                <a:ea typeface="Calibri" pitchFamily="34" charset="-122"/>
                <a:cs typeface="Calibri" pitchFamily="34" charset="-120"/>
              </a:rPr>
              <a:t>Multa en UTA (continua) · número de cargos (discreta) · estado final (nominal) · categoría de la infracción (ordinal) · fechas de inicio y término · unidad fiscalizable y región</a:t>
            </a:r>
            <a:endParaRPr lang="en-US" sz="1050" dirty="0"/>
          </a:p>
        </p:txBody>
      </p:sp>
      <p:sp>
        <p:nvSpPr>
          <p:cNvPr id="27" name="Text 25"/>
          <p:cNvSpPr/>
          <p:nvPr/>
        </p:nvSpPr>
        <p:spPr>
          <a:xfrm>
            <a:off x="6565392" y="5541264"/>
            <a:ext cx="4800600" cy="384048"/>
          </a:xfrm>
          <a:prstGeom prst="rect">
            <a:avLst/>
          </a:prstGeom>
          <a:noFill/>
          <a:ln/>
        </p:spPr>
        <p:txBody>
          <a:bodyPr wrap="square" lIns="0" tIns="0" rIns="0" bIns="0" rtlCol="0" anchor="ctr"/>
          <a:lstStyle/>
          <a:p>
            <a:pPr marL="0" indent="0">
              <a:lnSpc>
                <a:spcPts val="1300"/>
              </a:lnSpc>
              <a:buNone/>
            </a:pPr>
            <a:r>
              <a:rPr lang="en-US" sz="1000" dirty="0">
                <a:solidFill>
                  <a:srgbClr val="AC212E"/>
                </a:solidFill>
                <a:latin typeface="Calibri" pitchFamily="34" charset="0"/>
                <a:ea typeface="Calibri" pitchFamily="34" charset="-122"/>
                <a:cs typeface="Calibri" pitchFamily="34" charset="-120"/>
              </a:rPr>
              <a:t>Serie 2013 en adelante. Muchos procesos abiertos dejan la fecha de término vacía: material ideal para justificar imputación.</a:t>
            </a:r>
            <a:endParaRPr lang="en-US" sz="10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Las características descritas corresponden a la estructura habitual de cada fuente: confirmen la versión que descarguen con el validador.</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Lo que van a encontrar al descargar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fricciones habituales en datos públicos chilenos, y cómo se resuelven.</a:t>
            </a:r>
            <a:endParaRPr lang="en-US" sz="1400" dirty="0"/>
          </a:p>
        </p:txBody>
      </p:sp>
      <p:graphicFrame>
        <p:nvGraphicFramePr>
          <p:cNvPr id="13" name="Table 0"/>
          <p:cNvGraphicFramePr>
            <a:graphicFrameLocks noGrp="1"/>
          </p:cNvGraphicFramePr>
          <p:nvPr/>
        </p:nvGraphicFramePr>
        <p:xfrm>
          <a:off x="548640" y="1737360"/>
          <a:ext cx="11064240" cy="2514600"/>
        </p:xfrm>
        <a:graphic>
          <a:graphicData uri="http://schemas.openxmlformats.org/drawingml/2006/table">
            <a:tbl>
              <a:tblPr/>
              <a:tblGrid>
                <a:gridCol w="38404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0292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Síntoma</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Causa</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Solución</a:t>
                      </a:r>
                      <a:endParaRPr lang="en-US" sz="13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Todo el archivo cae en una sola columna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separador es « ; » y no coma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pd.read_csv(ruta, sep=";")</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Las tildes salen como Ã± o Ã©</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Codificación latin-1, no UTF-8</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pd.read_csv(ruta, encoding="latin-1")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Los decimales se leen como texto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Coma decimal en vez de punto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decimal="," en read_csv</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archivo supera los 100 MB</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Base nacional completa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Filtrar por región o año y versionar el subconjunto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480560"/>
            <a:ext cx="11064240" cy="1463040"/>
          </a:xfrm>
          <a:prstGeom prst="roundRect">
            <a:avLst>
              <a:gd name="adj" fmla="val 5625"/>
            </a:avLst>
          </a:prstGeom>
          <a:solidFill>
            <a:srgbClr val="0A1526"/>
          </a:solidFill>
          <a:ln w="12700">
            <a:solidFill>
              <a:srgbClr val="0A1526"/>
            </a:solidFill>
            <a:prstDash val="solid"/>
          </a:ln>
        </p:spPr>
        <p:txBody>
          <a:bodyPr/>
          <a:lstStyle/>
          <a:p>
            <a:endParaRPr lang="es-CL"/>
          </a:p>
        </p:txBody>
      </p:sp>
      <p:sp>
        <p:nvSpPr>
          <p:cNvPr id="6" name="Text 3"/>
          <p:cNvSpPr/>
          <p:nvPr/>
        </p:nvSpPr>
        <p:spPr>
          <a:xfrm>
            <a:off x="868680" y="4626864"/>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Documenten el subconjunto</a:t>
            </a:r>
            <a:endParaRPr lang="en-US" sz="1400" dirty="0"/>
          </a:p>
        </p:txBody>
      </p:sp>
      <p:sp>
        <p:nvSpPr>
          <p:cNvPr id="7" name="Text 4"/>
          <p:cNvSpPr/>
          <p:nvPr/>
        </p:nvSpPr>
        <p:spPr>
          <a:xfrm>
            <a:off x="868680" y="4983480"/>
            <a:ext cx="10424160" cy="822960"/>
          </a:xfrm>
          <a:prstGeom prst="rect">
            <a:avLst/>
          </a:prstGeom>
          <a:noFill/>
          <a:ln/>
        </p:spPr>
        <p:txBody>
          <a:bodyPr wrap="square" lIns="0" tIns="0" rIns="0" bIns="0" rtlCol="0" anchor="ctr"/>
          <a:lstStyle/>
          <a:p>
            <a:pPr marL="0" indent="0">
              <a:lnSpc>
                <a:spcPts val="1800"/>
              </a:lnSpc>
              <a:buNone/>
            </a:pPr>
            <a:r>
              <a:rPr lang="en-US" sz="1300" dirty="0">
                <a:solidFill>
                  <a:srgbClr val="D7E3EE"/>
                </a:solidFill>
                <a:latin typeface="Calibri" pitchFamily="34" charset="0"/>
                <a:ea typeface="Calibri" pitchFamily="34" charset="-122"/>
                <a:cs typeface="Calibri" pitchFamily="34" charset="-120"/>
              </a:rPr>
              <a:t>Si filtran la base original para que quepa en el repositorio, ese filtro es una decisión técnica y debe quedar registrada: qué criterio usaron, cuántas filas quedaron y por qué ese recorte no sesga la pregunta. Es evidencia del criterio de preprocesamiento, no un detalle administrativo.</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Fuentes internacionales y cómo evaluarlas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Sirven, pero exigen más cuidado con la licencia y la vigencia.</a:t>
            </a:r>
            <a:endParaRPr lang="en-US" sz="1400" dirty="0"/>
          </a:p>
        </p:txBody>
      </p:sp>
      <p:sp>
        <p:nvSpPr>
          <p:cNvPr id="4" name="Shape 2"/>
          <p:cNvSpPr/>
          <p:nvPr/>
        </p:nvSpPr>
        <p:spPr>
          <a:xfrm>
            <a:off x="548640" y="1783080"/>
            <a:ext cx="5394960" cy="2103120"/>
          </a:xfrm>
          <a:prstGeom prst="roundRect">
            <a:avLst>
              <a:gd name="adj" fmla="val 391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Repositorios</a:t>
            </a:r>
            <a:endParaRPr lang="en-US" sz="1400" dirty="0"/>
          </a:p>
        </p:txBody>
      </p:sp>
      <p:sp>
        <p:nvSpPr>
          <p:cNvPr id="6" name="Text 4"/>
          <p:cNvSpPr/>
          <p:nvPr/>
        </p:nvSpPr>
        <p:spPr>
          <a:xfrm>
            <a:off x="868680" y="2304288"/>
            <a:ext cx="4754880" cy="14630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Kaggle Datasets</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UCI Machine Learning Repository</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Zenodo</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Data.gov · Eurostat</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Banco Mundial · Our World in Data</a:t>
            </a:r>
            <a:endParaRPr lang="en-US" sz="1250" dirty="0"/>
          </a:p>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Portales de datos abiertos de Argentina, México, Colombia, Brasil y Perú</a:t>
            </a:r>
            <a:endParaRPr lang="en-US" sz="1250" dirty="0"/>
          </a:p>
        </p:txBody>
      </p:sp>
      <p:sp>
        <p:nvSpPr>
          <p:cNvPr id="7" name="Shape 5"/>
          <p:cNvSpPr/>
          <p:nvPr/>
        </p:nvSpPr>
        <p:spPr>
          <a:xfrm>
            <a:off x="6217920" y="1783080"/>
            <a:ext cx="5394960" cy="2103120"/>
          </a:xfrm>
          <a:prstGeom prst="roundRect">
            <a:avLst>
              <a:gd name="adj" fmla="val 3913"/>
            </a:avLst>
          </a:prstGeom>
          <a:solidFill>
            <a:srgbClr val="0A1526"/>
          </a:solidFill>
          <a:ln w="12700">
            <a:solidFill>
              <a:srgbClr val="0A1526"/>
            </a:solidFill>
            <a:prstDash val="solid"/>
          </a:ln>
        </p:spPr>
        <p:txBody>
          <a:bodyPr/>
          <a:lstStyle/>
          <a:p>
            <a:endParaRPr lang="es-CL"/>
          </a:p>
        </p:txBody>
      </p:sp>
      <p:sp>
        <p:nvSpPr>
          <p:cNvPr id="8" name="Text 6"/>
          <p:cNvSpPr/>
          <p:nvPr/>
        </p:nvSpPr>
        <p:spPr>
          <a:xfrm>
            <a:off x="6537960" y="1938528"/>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Cuatro preguntas antes de descargar</a:t>
            </a:r>
            <a:endParaRPr lang="en-US" sz="1400" dirty="0"/>
          </a:p>
        </p:txBody>
      </p:sp>
      <p:sp>
        <p:nvSpPr>
          <p:cNvPr id="9" name="Shape 7"/>
          <p:cNvSpPr/>
          <p:nvPr/>
        </p:nvSpPr>
        <p:spPr>
          <a:xfrm>
            <a:off x="6537960" y="2414016"/>
            <a:ext cx="182880" cy="182880"/>
          </a:xfrm>
          <a:prstGeom prst="ellipse">
            <a:avLst/>
          </a:prstGeom>
          <a:solidFill>
            <a:srgbClr val="AC212E"/>
          </a:solidFill>
          <a:ln/>
        </p:spPr>
        <p:txBody>
          <a:bodyPr/>
          <a:lstStyle/>
          <a:p>
            <a:endParaRPr lang="es-CL"/>
          </a:p>
        </p:txBody>
      </p:sp>
      <p:sp>
        <p:nvSpPr>
          <p:cNvPr id="10" name="Text 8"/>
          <p:cNvSpPr/>
          <p:nvPr/>
        </p:nvSpPr>
        <p:spPr>
          <a:xfrm>
            <a:off x="6858000" y="2331720"/>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¿Quién publicó estos datos y cuándo?</a:t>
            </a:r>
            <a:endParaRPr lang="en-US" sz="1250" dirty="0"/>
          </a:p>
        </p:txBody>
      </p:sp>
      <p:sp>
        <p:nvSpPr>
          <p:cNvPr id="11" name="Shape 9"/>
          <p:cNvSpPr/>
          <p:nvPr/>
        </p:nvSpPr>
        <p:spPr>
          <a:xfrm>
            <a:off x="6537960" y="2798064"/>
            <a:ext cx="182880" cy="182880"/>
          </a:xfrm>
          <a:prstGeom prst="ellipse">
            <a:avLst/>
          </a:prstGeom>
          <a:solidFill>
            <a:srgbClr val="AC212E"/>
          </a:solidFill>
          <a:ln/>
        </p:spPr>
        <p:txBody>
          <a:bodyPr/>
          <a:lstStyle/>
          <a:p>
            <a:endParaRPr lang="es-CL"/>
          </a:p>
        </p:txBody>
      </p:sp>
      <p:sp>
        <p:nvSpPr>
          <p:cNvPr id="12" name="Text 10"/>
          <p:cNvSpPr/>
          <p:nvPr/>
        </p:nvSpPr>
        <p:spPr>
          <a:xfrm>
            <a:off x="6858000" y="2715768"/>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¿Qué licencia tienen y qué permite?</a:t>
            </a:r>
            <a:endParaRPr lang="en-US" sz="1250" dirty="0"/>
          </a:p>
        </p:txBody>
      </p:sp>
      <p:sp>
        <p:nvSpPr>
          <p:cNvPr id="13" name="Shape 11"/>
          <p:cNvSpPr/>
          <p:nvPr/>
        </p:nvSpPr>
        <p:spPr>
          <a:xfrm>
            <a:off x="6537960" y="3182112"/>
            <a:ext cx="182880" cy="182880"/>
          </a:xfrm>
          <a:prstGeom prst="ellipse">
            <a:avLst/>
          </a:prstGeom>
          <a:solidFill>
            <a:srgbClr val="AC212E"/>
          </a:solidFill>
          <a:ln/>
        </p:spPr>
        <p:txBody>
          <a:bodyPr/>
          <a:lstStyle/>
          <a:p>
            <a:endParaRPr lang="es-CL"/>
          </a:p>
        </p:txBody>
      </p:sp>
      <p:sp>
        <p:nvSpPr>
          <p:cNvPr id="14" name="Text 12"/>
          <p:cNvSpPr/>
          <p:nvPr/>
        </p:nvSpPr>
        <p:spPr>
          <a:xfrm>
            <a:off x="6858000" y="3099816"/>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¿Hay un diccionario de variables?</a:t>
            </a:r>
            <a:endParaRPr lang="en-US" sz="1250" dirty="0"/>
          </a:p>
        </p:txBody>
      </p:sp>
      <p:sp>
        <p:nvSpPr>
          <p:cNvPr id="15" name="Shape 13"/>
          <p:cNvSpPr/>
          <p:nvPr/>
        </p:nvSpPr>
        <p:spPr>
          <a:xfrm>
            <a:off x="6537960" y="3566160"/>
            <a:ext cx="182880" cy="182880"/>
          </a:xfrm>
          <a:prstGeom prst="ellipse">
            <a:avLst/>
          </a:prstGeom>
          <a:solidFill>
            <a:srgbClr val="AC212E"/>
          </a:solidFill>
          <a:ln/>
        </p:spPr>
        <p:txBody>
          <a:bodyPr/>
          <a:lstStyle/>
          <a:p>
            <a:endParaRPr lang="es-CL"/>
          </a:p>
        </p:txBody>
      </p:sp>
      <p:sp>
        <p:nvSpPr>
          <p:cNvPr id="16" name="Text 14"/>
          <p:cNvSpPr/>
          <p:nvPr/>
        </p:nvSpPr>
        <p:spPr>
          <a:xfrm>
            <a:off x="6858000" y="3483864"/>
            <a:ext cx="4480560" cy="347472"/>
          </a:xfrm>
          <a:prstGeom prst="rect">
            <a:avLst/>
          </a:prstGeom>
          <a:noFill/>
          <a:ln/>
        </p:spPr>
        <p:txBody>
          <a:bodyPr wrap="square" lIns="0" tIns="0" rIns="0" bIns="0" rtlCol="0" anchor="ctr"/>
          <a:lstStyle/>
          <a:p>
            <a:pPr marL="0" indent="0">
              <a:buNone/>
            </a:pPr>
            <a:r>
              <a:rPr lang="en-US" sz="1250" dirty="0">
                <a:solidFill>
                  <a:srgbClr val="D7E3EE"/>
                </a:solidFill>
                <a:latin typeface="Calibri" pitchFamily="34" charset="0"/>
                <a:ea typeface="Calibri" pitchFamily="34" charset="-122"/>
                <a:cs typeface="Calibri" pitchFamily="34" charset="-120"/>
              </a:rPr>
              <a:t>¿Los datos son originales o ya vienen procesados?</a:t>
            </a:r>
            <a:endParaRPr lang="en-US" sz="1250" dirty="0"/>
          </a:p>
        </p:txBody>
      </p:sp>
      <p:sp>
        <p:nvSpPr>
          <p:cNvPr id="17" name="Shape 15"/>
          <p:cNvSpPr/>
          <p:nvPr/>
        </p:nvSpPr>
        <p:spPr>
          <a:xfrm>
            <a:off x="548640" y="4206240"/>
            <a:ext cx="11064240" cy="1737360"/>
          </a:xfrm>
          <a:prstGeom prst="roundRect">
            <a:avLst>
              <a:gd name="adj" fmla="val 4737"/>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4370832"/>
            <a:ext cx="45720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 trampa de Kaggle</a:t>
            </a:r>
            <a:endParaRPr lang="en-US" sz="1500" dirty="0"/>
          </a:p>
        </p:txBody>
      </p:sp>
      <p:sp>
        <p:nvSpPr>
          <p:cNvPr id="19" name="Text 17"/>
          <p:cNvSpPr/>
          <p:nvPr/>
        </p:nvSpPr>
        <p:spPr>
          <a:xfrm>
            <a:off x="868680" y="4754880"/>
            <a:ext cx="10424160" cy="105156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Muchos datasets populares de Kaggle ya vienen limpios, porque alguien los preparó para una competencia. Eso los hace cómodos y, para este curso, inservibles: no queda preprocesamiento que hacer ni decisiones que justificar. Si eligen Kaggle, prefieran conjuntos publicados como datos crudos y verifiquen la proporción de faltantes antes de comprometerse.</a:t>
            </a:r>
            <a:endParaRPr lang="en-US" sz="13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No decidan a ojo: validen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El curso entrega un script que verifica los requisitos y produce el informe de la entrega.</a:t>
            </a:r>
            <a:endParaRPr lang="en-US" sz="1400" dirty="0"/>
          </a:p>
        </p:txBody>
      </p:sp>
      <p:sp>
        <p:nvSpPr>
          <p:cNvPr id="4" name="Shape 2"/>
          <p:cNvSpPr/>
          <p:nvPr/>
        </p:nvSpPr>
        <p:spPr>
          <a:xfrm>
            <a:off x="548640" y="1828800"/>
            <a:ext cx="11064240" cy="1143000"/>
          </a:xfrm>
          <a:prstGeom prst="roundRect">
            <a:avLst>
              <a:gd name="adj" fmla="val 720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68680" y="1965960"/>
            <a:ext cx="10424160" cy="868680"/>
          </a:xfrm>
          <a:prstGeom prst="rect">
            <a:avLst/>
          </a:prstGeom>
          <a:noFill/>
          <a:ln/>
        </p:spPr>
        <p:txBody>
          <a:bodyPr wrap="square" lIns="0" tIns="0" rIns="0" bIns="0" rtlCol="0" anchor="ctr"/>
          <a:lstStyle/>
          <a:p>
            <a:pPr marL="0" indent="0">
              <a:lnSpc>
                <a:spcPts val="1900"/>
              </a:lnSpc>
              <a:buNone/>
            </a:pPr>
            <a:r>
              <a:rPr lang="en-US" sz="1250" dirty="0">
                <a:solidFill>
                  <a:srgbClr val="D7E3EE"/>
                </a:solidFill>
                <a:latin typeface="Courier New" pitchFamily="34" charset="0"/>
                <a:ea typeface="Courier New" pitchFamily="34" charset="-122"/>
                <a:cs typeface="Courier New" pitchFamily="34" charset="-120"/>
              </a:rPr>
              <a:t>python validar_dataset.py data/raw/mi_dataset.csv</a:t>
            </a:r>
            <a:endParaRPr lang="en-US" sz="1250" dirty="0"/>
          </a:p>
          <a:p>
            <a:pPr marL="0" indent="0">
              <a:lnSpc>
                <a:spcPts val="1900"/>
              </a:lnSpc>
              <a:buNone/>
            </a:pPr>
            <a:r>
              <a:rPr lang="en-US" sz="1250" dirty="0">
                <a:solidFill>
                  <a:srgbClr val="D7E3EE"/>
                </a:solidFill>
                <a:latin typeface="Courier New" pitchFamily="34" charset="0"/>
                <a:ea typeface="Courier New" pitchFamily="34" charset="-122"/>
                <a:cs typeface="Courier New" pitchFamily="34" charset="-120"/>
              </a:rPr>
              <a:t>python validar_dataset.py datos.csv --sep ";" --encoding latin-1</a:t>
            </a:r>
            <a:endParaRPr lang="en-US" sz="1250" dirty="0"/>
          </a:p>
          <a:p>
            <a:pPr marL="0" indent="0">
              <a:lnSpc>
                <a:spcPts val="1900"/>
              </a:lnSpc>
              <a:buNone/>
            </a:pPr>
            <a:r>
              <a:rPr lang="en-US" sz="1250" dirty="0">
                <a:solidFill>
                  <a:srgbClr val="D7E3EE"/>
                </a:solidFill>
                <a:latin typeface="Courier New" pitchFamily="34" charset="0"/>
                <a:ea typeface="Courier New" pitchFamily="34" charset="-122"/>
                <a:cs typeface="Courier New" pitchFamily="34" charset="-120"/>
              </a:rPr>
              <a:t>python validar_dataset.py datos.csv --informe docs/validacion_dataset.md</a:t>
            </a:r>
            <a:endParaRPr lang="en-US" sz="1250" dirty="0"/>
          </a:p>
        </p:txBody>
      </p:sp>
      <p:sp>
        <p:nvSpPr>
          <p:cNvPr id="6" name="Shape 4"/>
          <p:cNvSpPr/>
          <p:nvPr/>
        </p:nvSpPr>
        <p:spPr>
          <a:xfrm>
            <a:off x="548640" y="329184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7" name="Shape 5"/>
          <p:cNvSpPr/>
          <p:nvPr/>
        </p:nvSpPr>
        <p:spPr>
          <a:xfrm>
            <a:off x="804672" y="3584448"/>
            <a:ext cx="402336" cy="402336"/>
          </a:xfrm>
          <a:prstGeom prst="ellipse">
            <a:avLst/>
          </a:prstGeom>
          <a:solidFill>
            <a:srgbClr val="AC212E"/>
          </a:solidFill>
          <a:ln/>
        </p:spPr>
        <p:txBody>
          <a:bodyPr/>
          <a:lstStyle/>
          <a:p>
            <a:endParaRPr lang="es-CL"/>
          </a:p>
        </p:txBody>
      </p:sp>
      <p:sp>
        <p:nvSpPr>
          <p:cNvPr id="8" name="Text 6"/>
          <p:cNvSpPr/>
          <p:nvPr/>
        </p:nvSpPr>
        <p:spPr>
          <a:xfrm>
            <a:off x="804672" y="35844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353312" y="340156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Perfil de variables</a:t>
            </a:r>
            <a:endParaRPr lang="en-US" sz="1400" dirty="0"/>
          </a:p>
        </p:txBody>
      </p:sp>
      <p:sp>
        <p:nvSpPr>
          <p:cNvPr id="10" name="Text 8"/>
          <p:cNvSpPr/>
          <p:nvPr/>
        </p:nvSpPr>
        <p:spPr>
          <a:xfrm>
            <a:off x="1353312" y="371246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El rol analítico de cada columna, sus valores únicos y su porcentaje de nulos.</a:t>
            </a:r>
            <a:endParaRPr lang="en-US" sz="1200" dirty="0"/>
          </a:p>
        </p:txBody>
      </p:sp>
      <p:sp>
        <p:nvSpPr>
          <p:cNvPr id="11" name="Shape 9"/>
          <p:cNvSpPr/>
          <p:nvPr/>
        </p:nvSpPr>
        <p:spPr>
          <a:xfrm>
            <a:off x="6309360" y="329184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12" name="Shape 10"/>
          <p:cNvSpPr/>
          <p:nvPr/>
        </p:nvSpPr>
        <p:spPr>
          <a:xfrm>
            <a:off x="6565392" y="3584448"/>
            <a:ext cx="402336" cy="402336"/>
          </a:xfrm>
          <a:prstGeom prst="ellipse">
            <a:avLst/>
          </a:prstGeom>
          <a:solidFill>
            <a:srgbClr val="AC212E"/>
          </a:solidFill>
          <a:ln/>
        </p:spPr>
        <p:txBody>
          <a:bodyPr/>
          <a:lstStyle/>
          <a:p>
            <a:endParaRPr lang="es-CL"/>
          </a:p>
        </p:txBody>
      </p:sp>
      <p:sp>
        <p:nvSpPr>
          <p:cNvPr id="13" name="Text 11"/>
          <p:cNvSpPr/>
          <p:nvPr/>
        </p:nvSpPr>
        <p:spPr>
          <a:xfrm>
            <a:off x="6565392" y="358444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7114032" y="340156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Composición por tipo</a:t>
            </a:r>
            <a:endParaRPr lang="en-US" sz="1400" dirty="0"/>
          </a:p>
        </p:txBody>
      </p:sp>
      <p:sp>
        <p:nvSpPr>
          <p:cNvPr id="15" name="Text 13"/>
          <p:cNvSpPr/>
          <p:nvPr/>
        </p:nvSpPr>
        <p:spPr>
          <a:xfrm>
            <a:off x="7114032" y="371246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Cuántas variables hay de cada rol.</a:t>
            </a:r>
            <a:endParaRPr lang="en-US" sz="1200" dirty="0"/>
          </a:p>
        </p:txBody>
      </p:sp>
      <p:sp>
        <p:nvSpPr>
          <p:cNvPr id="16" name="Shape 14"/>
          <p:cNvSpPr/>
          <p:nvPr/>
        </p:nvSpPr>
        <p:spPr>
          <a:xfrm>
            <a:off x="548640" y="448056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17" name="Shape 15"/>
          <p:cNvSpPr/>
          <p:nvPr/>
        </p:nvSpPr>
        <p:spPr>
          <a:xfrm>
            <a:off x="804672" y="4773168"/>
            <a:ext cx="402336" cy="402336"/>
          </a:xfrm>
          <a:prstGeom prst="ellipse">
            <a:avLst/>
          </a:prstGeom>
          <a:solidFill>
            <a:srgbClr val="AC212E"/>
          </a:solidFill>
          <a:ln/>
        </p:spPr>
        <p:txBody>
          <a:bodyPr/>
          <a:lstStyle/>
          <a:p>
            <a:endParaRPr lang="es-CL"/>
          </a:p>
        </p:txBody>
      </p:sp>
      <p:sp>
        <p:nvSpPr>
          <p:cNvPr id="18" name="Text 16"/>
          <p:cNvSpPr/>
          <p:nvPr/>
        </p:nvSpPr>
        <p:spPr>
          <a:xfrm>
            <a:off x="804672" y="47731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353312" y="459028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Veredicto</a:t>
            </a:r>
            <a:endParaRPr lang="en-US" sz="1400" dirty="0"/>
          </a:p>
        </p:txBody>
      </p:sp>
      <p:sp>
        <p:nvSpPr>
          <p:cNvPr id="20" name="Text 18"/>
          <p:cNvSpPr/>
          <p:nvPr/>
        </p:nvSpPr>
        <p:spPr>
          <a:xfrm>
            <a:off x="1353312" y="490118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Requisito por requisito: OK, FALTA o AVISO.</a:t>
            </a:r>
            <a:endParaRPr lang="en-US" sz="1200" dirty="0"/>
          </a:p>
        </p:txBody>
      </p:sp>
      <p:sp>
        <p:nvSpPr>
          <p:cNvPr id="21" name="Shape 19"/>
          <p:cNvSpPr/>
          <p:nvPr/>
        </p:nvSpPr>
        <p:spPr>
          <a:xfrm>
            <a:off x="6309360" y="4480560"/>
            <a:ext cx="5303520" cy="1005840"/>
          </a:xfrm>
          <a:prstGeom prst="roundRect">
            <a:avLst>
              <a:gd name="adj" fmla="val 8182"/>
            </a:avLst>
          </a:prstGeom>
          <a:solidFill>
            <a:srgbClr val="12203A"/>
          </a:solidFill>
          <a:ln w="12700">
            <a:solidFill>
              <a:srgbClr val="12203A"/>
            </a:solidFill>
            <a:prstDash val="solid"/>
          </a:ln>
        </p:spPr>
        <p:txBody>
          <a:bodyPr/>
          <a:lstStyle/>
          <a:p>
            <a:endParaRPr lang="es-CL"/>
          </a:p>
        </p:txBody>
      </p:sp>
      <p:sp>
        <p:nvSpPr>
          <p:cNvPr id="22" name="Shape 20"/>
          <p:cNvSpPr/>
          <p:nvPr/>
        </p:nvSpPr>
        <p:spPr>
          <a:xfrm>
            <a:off x="6565392" y="4773168"/>
            <a:ext cx="402336" cy="402336"/>
          </a:xfrm>
          <a:prstGeom prst="ellipse">
            <a:avLst/>
          </a:prstGeom>
          <a:solidFill>
            <a:srgbClr val="AC212E"/>
          </a:solidFill>
          <a:ln/>
        </p:spPr>
        <p:txBody>
          <a:bodyPr/>
          <a:lstStyle/>
          <a:p>
            <a:endParaRPr lang="es-CL"/>
          </a:p>
        </p:txBody>
      </p:sp>
      <p:sp>
        <p:nvSpPr>
          <p:cNvPr id="23" name="Text 21"/>
          <p:cNvSpPr/>
          <p:nvPr/>
        </p:nvSpPr>
        <p:spPr>
          <a:xfrm>
            <a:off x="6565392" y="4773168"/>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7114032" y="4590288"/>
            <a:ext cx="42976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Informe en Markdown</a:t>
            </a:r>
            <a:endParaRPr lang="en-US" sz="1400" dirty="0"/>
          </a:p>
        </p:txBody>
      </p:sp>
      <p:sp>
        <p:nvSpPr>
          <p:cNvPr id="25" name="Text 23"/>
          <p:cNvSpPr/>
          <p:nvPr/>
        </p:nvSpPr>
        <p:spPr>
          <a:xfrm>
            <a:off x="7114032" y="4901184"/>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Listo para adjuntar al entregable de la Fase 1.</a:t>
            </a:r>
            <a:endParaRPr lang="en-US" sz="1200" dirty="0"/>
          </a:p>
        </p:txBody>
      </p:sp>
      <p:sp>
        <p:nvSpPr>
          <p:cNvPr id="26" name="Text 24"/>
          <p:cNvSpPr/>
          <p:nvPr/>
        </p:nvSpPr>
        <p:spPr>
          <a:xfrm>
            <a:off x="548640" y="5760720"/>
            <a:ext cx="11064240" cy="411480"/>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Adjunten la salida del validador en el entregable. La elección del dataset deja de ser una declaración y pasa a ser una verificación.</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Tener el dataset no es tener la pregunta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Una vez validado el conjunto de datos, falta el paso que define el proyecto.</a:t>
            </a:r>
            <a:endParaRPr lang="en-US" sz="1400" dirty="0"/>
          </a:p>
        </p:txBody>
      </p:sp>
      <p:sp>
        <p:nvSpPr>
          <p:cNvPr id="4" name="Shape 2"/>
          <p:cNvSpPr/>
          <p:nvPr/>
        </p:nvSpPr>
        <p:spPr>
          <a:xfrm>
            <a:off x="548640" y="1874520"/>
            <a:ext cx="3520440" cy="1645920"/>
          </a:xfrm>
          <a:prstGeom prst="roundRect">
            <a:avLst>
              <a:gd name="adj" fmla="val 50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84832"/>
            <a:ext cx="420624" cy="420624"/>
          </a:xfrm>
          <a:prstGeom prst="ellipse">
            <a:avLst/>
          </a:prstGeom>
          <a:solidFill>
            <a:srgbClr val="AC212E"/>
          </a:solidFill>
          <a:ln/>
        </p:spPr>
        <p:txBody>
          <a:bodyPr/>
          <a:lstStyle/>
          <a:p>
            <a:endParaRPr lang="es-CL"/>
          </a:p>
        </p:txBody>
      </p:sp>
      <p:sp>
        <p:nvSpPr>
          <p:cNvPr id="6" name="Text 4"/>
          <p:cNvSpPr/>
          <p:nvPr/>
        </p:nvSpPr>
        <p:spPr>
          <a:xfrm>
            <a:off x="777240"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25880" y="2057400"/>
            <a:ext cx="251460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Dataset validado</a:t>
            </a:r>
            <a:endParaRPr lang="en-US" sz="1500" dirty="0"/>
          </a:p>
        </p:txBody>
      </p:sp>
      <p:sp>
        <p:nvSpPr>
          <p:cNvPr id="8" name="Text 6"/>
          <p:cNvSpPr/>
          <p:nvPr/>
        </p:nvSpPr>
        <p:spPr>
          <a:xfrm>
            <a:off x="777240" y="2651760"/>
            <a:ext cx="306324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Cumple los requisitos técnicos.</a:t>
            </a:r>
            <a:endParaRPr lang="en-US" sz="1250" dirty="0"/>
          </a:p>
        </p:txBody>
      </p:sp>
      <p:sp>
        <p:nvSpPr>
          <p:cNvPr id="9" name="Text 7"/>
          <p:cNvSpPr/>
          <p:nvPr/>
        </p:nvSpPr>
        <p:spPr>
          <a:xfrm>
            <a:off x="4069080" y="24688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4325112" y="1874520"/>
            <a:ext cx="3520440" cy="1645920"/>
          </a:xfrm>
          <a:prstGeom prst="roundRect">
            <a:avLst>
              <a:gd name="adj" fmla="val 5000"/>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4553712" y="2084832"/>
            <a:ext cx="420624" cy="420624"/>
          </a:xfrm>
          <a:prstGeom prst="ellipse">
            <a:avLst/>
          </a:prstGeom>
          <a:solidFill>
            <a:srgbClr val="AC212E"/>
          </a:solidFill>
          <a:ln/>
        </p:spPr>
        <p:txBody>
          <a:bodyPr/>
          <a:lstStyle/>
          <a:p>
            <a:endParaRPr lang="es-CL"/>
          </a:p>
        </p:txBody>
      </p:sp>
      <p:sp>
        <p:nvSpPr>
          <p:cNvPr id="12" name="Text 10"/>
          <p:cNvSpPr/>
          <p:nvPr/>
        </p:nvSpPr>
        <p:spPr>
          <a:xfrm>
            <a:off x="4553712"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102352" y="2057400"/>
            <a:ext cx="251460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Exploración inicial</a:t>
            </a:r>
            <a:endParaRPr lang="en-US" sz="1500" dirty="0"/>
          </a:p>
        </p:txBody>
      </p:sp>
      <p:sp>
        <p:nvSpPr>
          <p:cNvPr id="14" name="Text 12"/>
          <p:cNvSpPr/>
          <p:nvPr/>
        </p:nvSpPr>
        <p:spPr>
          <a:xfrm>
            <a:off x="4553712" y="2651760"/>
            <a:ext cx="3063240" cy="731520"/>
          </a:xfrm>
          <a:prstGeom prst="rect">
            <a:avLst/>
          </a:prstGeom>
          <a:noFill/>
          <a:ln/>
        </p:spPr>
        <p:txBody>
          <a:bodyPr wrap="square" lIns="0" tIns="0" rIns="0" bIns="0" rtlCol="0" anchor="ctr"/>
          <a:lstStyle/>
          <a:p>
            <a:pPr marL="0" indent="0">
              <a:lnSpc>
                <a:spcPts val="1700"/>
              </a:lnSpc>
              <a:buNone/>
            </a:pPr>
            <a:r>
              <a:rPr lang="en-US" sz="1250" dirty="0">
                <a:solidFill>
                  <a:srgbClr val="5A6B7B"/>
                </a:solidFill>
                <a:latin typeface="Calibri" pitchFamily="34" charset="0"/>
                <a:ea typeface="Calibri" pitchFamily="34" charset="-122"/>
                <a:cs typeface="Calibri" pitchFamily="34" charset="-120"/>
              </a:rPr>
              <a:t>Qué variables hay y qué relaciones sugieren.</a:t>
            </a:r>
            <a:endParaRPr lang="en-US" sz="1250" dirty="0"/>
          </a:p>
        </p:txBody>
      </p:sp>
      <p:sp>
        <p:nvSpPr>
          <p:cNvPr id="15" name="Text 13"/>
          <p:cNvSpPr/>
          <p:nvPr/>
        </p:nvSpPr>
        <p:spPr>
          <a:xfrm>
            <a:off x="7845552" y="2468880"/>
            <a:ext cx="256032" cy="365760"/>
          </a:xfrm>
          <a:prstGeom prst="rect">
            <a:avLst/>
          </a:prstGeom>
          <a:noFill/>
          <a:ln/>
        </p:spPr>
        <p:txBody>
          <a:bodyPr wrap="square" lIns="0" tIns="0" rIns="0" bIns="0" rtlCol="0" anchor="ctr"/>
          <a:lstStyle/>
          <a:p>
            <a:pPr marL="0" indent="0" algn="ctr">
              <a:buNone/>
            </a:pPr>
            <a:r>
              <a:rPr lang="en-US" sz="1800" dirty="0">
                <a:solidFill>
                  <a:srgbClr val="AC212E"/>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8101584" y="1874520"/>
            <a:ext cx="3520440" cy="1645920"/>
          </a:xfrm>
          <a:prstGeom prst="roundRect">
            <a:avLst>
              <a:gd name="adj" fmla="val 5000"/>
            </a:avLst>
          </a:prstGeom>
          <a:solidFill>
            <a:srgbClr val="0A1526"/>
          </a:solidFill>
          <a:ln w="12700">
            <a:solidFill>
              <a:srgbClr val="0A1526"/>
            </a:solidFill>
            <a:prstDash val="solid"/>
          </a:ln>
        </p:spPr>
        <p:txBody>
          <a:bodyPr/>
          <a:lstStyle/>
          <a:p>
            <a:endParaRPr lang="es-CL"/>
          </a:p>
        </p:txBody>
      </p:sp>
      <p:sp>
        <p:nvSpPr>
          <p:cNvPr id="17" name="Shape 15"/>
          <p:cNvSpPr/>
          <p:nvPr/>
        </p:nvSpPr>
        <p:spPr>
          <a:xfrm>
            <a:off x="8330184" y="2084832"/>
            <a:ext cx="420624" cy="420624"/>
          </a:xfrm>
          <a:prstGeom prst="ellipse">
            <a:avLst/>
          </a:prstGeom>
          <a:solidFill>
            <a:srgbClr val="AC212E"/>
          </a:solidFill>
          <a:ln/>
        </p:spPr>
        <p:txBody>
          <a:bodyPr/>
          <a:lstStyle/>
          <a:p>
            <a:endParaRPr lang="es-CL"/>
          </a:p>
        </p:txBody>
      </p:sp>
      <p:sp>
        <p:nvSpPr>
          <p:cNvPr id="18" name="Text 16"/>
          <p:cNvSpPr/>
          <p:nvPr/>
        </p:nvSpPr>
        <p:spPr>
          <a:xfrm>
            <a:off x="8330184" y="20848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878824" y="2057400"/>
            <a:ext cx="25146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Pregunta analizable</a:t>
            </a:r>
            <a:endParaRPr lang="en-US" sz="1500" dirty="0"/>
          </a:p>
        </p:txBody>
      </p:sp>
      <p:sp>
        <p:nvSpPr>
          <p:cNvPr id="20" name="Text 18"/>
          <p:cNvSpPr/>
          <p:nvPr/>
        </p:nvSpPr>
        <p:spPr>
          <a:xfrm>
            <a:off x="8330184" y="2651760"/>
            <a:ext cx="3063240" cy="73152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Se puede responder con estas variables y este alcance.</a:t>
            </a:r>
            <a:endParaRPr lang="en-US" sz="1250" dirty="0"/>
          </a:p>
        </p:txBody>
      </p:sp>
      <p:sp>
        <p:nvSpPr>
          <p:cNvPr id="21" name="Text 19"/>
          <p:cNvSpPr/>
          <p:nvPr/>
        </p:nvSpPr>
        <p:spPr>
          <a:xfrm>
            <a:off x="548640" y="3840480"/>
            <a:ext cx="731520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Tres condiciones de una pregunta analizable</a:t>
            </a:r>
            <a:endParaRPr lang="en-US" sz="1600" dirty="0"/>
          </a:p>
        </p:txBody>
      </p:sp>
      <p:sp>
        <p:nvSpPr>
          <p:cNvPr id="22" name="Shape 20"/>
          <p:cNvSpPr/>
          <p:nvPr/>
        </p:nvSpPr>
        <p:spPr>
          <a:xfrm>
            <a:off x="548640" y="4251960"/>
            <a:ext cx="35204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3" name="Text 21"/>
          <p:cNvSpPr/>
          <p:nvPr/>
        </p:nvSpPr>
        <p:spPr>
          <a:xfrm>
            <a:off x="777240" y="4251960"/>
            <a:ext cx="3063240" cy="91440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datos necesarios existen en el conjunto elegido.</a:t>
            </a:r>
            <a:endParaRPr lang="en-US" sz="1250" dirty="0"/>
          </a:p>
        </p:txBody>
      </p:sp>
      <p:sp>
        <p:nvSpPr>
          <p:cNvPr id="24" name="Shape 22"/>
          <p:cNvSpPr/>
          <p:nvPr/>
        </p:nvSpPr>
        <p:spPr>
          <a:xfrm>
            <a:off x="4325112" y="4251960"/>
            <a:ext cx="35204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5" name="Text 23"/>
          <p:cNvSpPr/>
          <p:nvPr/>
        </p:nvSpPr>
        <p:spPr>
          <a:xfrm>
            <a:off x="4553712" y="4251960"/>
            <a:ext cx="3063240" cy="91440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Los conceptos de la pregunta se pueden medir con esas variables.</a:t>
            </a:r>
            <a:endParaRPr lang="en-US" sz="1250" dirty="0"/>
          </a:p>
        </p:txBody>
      </p:sp>
      <p:sp>
        <p:nvSpPr>
          <p:cNvPr id="26" name="Shape 24"/>
          <p:cNvSpPr/>
          <p:nvPr/>
        </p:nvSpPr>
        <p:spPr>
          <a:xfrm>
            <a:off x="8101584" y="4251960"/>
            <a:ext cx="3520440" cy="9144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7" name="Text 25"/>
          <p:cNvSpPr/>
          <p:nvPr/>
        </p:nvSpPr>
        <p:spPr>
          <a:xfrm>
            <a:off x="8330184" y="4251960"/>
            <a:ext cx="3063240" cy="914400"/>
          </a:xfrm>
          <a:prstGeom prst="rect">
            <a:avLst/>
          </a:prstGeom>
          <a:noFill/>
          <a:ln/>
        </p:spPr>
        <p:txBody>
          <a:bodyPr wrap="square" lIns="0" tIns="0" rIns="0" bIns="0" rtlCol="0" anchor="ctr"/>
          <a:lstStyle/>
          <a:p>
            <a:pPr marL="0" indent="0">
              <a:lnSpc>
                <a:spcPts val="1600"/>
              </a:lnSpc>
              <a:buNone/>
            </a:pPr>
            <a:r>
              <a:rPr lang="en-US" sz="1250" dirty="0">
                <a:solidFill>
                  <a:srgbClr val="06304A"/>
                </a:solidFill>
                <a:latin typeface="Calibri" pitchFamily="34" charset="0"/>
                <a:ea typeface="Calibri" pitchFamily="34" charset="-122"/>
                <a:cs typeface="Calibri" pitchFamily="34" charset="-120"/>
              </a:rPr>
              <a:t>El alcance está acotado: se sabe qué queda fuera.</a:t>
            </a:r>
            <a:endParaRPr lang="en-US" sz="1250" dirty="0"/>
          </a:p>
        </p:txBody>
      </p:sp>
      <p:sp>
        <p:nvSpPr>
          <p:cNvPr id="28" name="Text 26"/>
          <p:cNvSpPr/>
          <p:nvPr/>
        </p:nvSpPr>
        <p:spPr>
          <a:xfrm>
            <a:off x="548640" y="5440680"/>
            <a:ext cx="11064240" cy="411480"/>
          </a:xfrm>
          <a:prstGeom prst="rect">
            <a:avLst/>
          </a:prstGeom>
          <a:noFill/>
          <a:ln/>
        </p:spPr>
        <p:txBody>
          <a:bodyPr wrap="square" lIns="0" tIns="0" rIns="0" bIns="0" rtlCol="0" anchor="ctr"/>
          <a:lstStyle/>
          <a:p>
            <a:pPr marL="0" indent="0">
              <a:buNone/>
            </a:pPr>
            <a:r>
              <a:rPr lang="en-US" sz="1400" i="1" dirty="0">
                <a:solidFill>
                  <a:srgbClr val="06304A"/>
                </a:solidFill>
                <a:latin typeface="Calibri" pitchFamily="34" charset="0"/>
                <a:ea typeface="Calibri" pitchFamily="34" charset="-122"/>
                <a:cs typeface="Calibri" pitchFamily="34" charset="-120"/>
              </a:rPr>
              <a:t>Ambas cosas —el dataset y la pregunta— se declaran en el entregable de la Formativa 1.</a:t>
            </a:r>
            <a:endParaRPr lang="en-US" sz="1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p:nvPr/>
        </p:nvSpPr>
        <p:spPr>
          <a:xfrm>
            <a:off x="548640" y="384048"/>
            <a:ext cx="11064240" cy="731520"/>
          </a:xfrm>
          <a:prstGeom prst="rect">
            <a:avLst/>
          </a:prstGeom>
          <a:noFill/>
          <a:ln/>
        </p:spPr>
        <p:txBody>
          <a:bodyPr wrap="square" lIns="0" tIns="0" rIns="0" bIns="0" rtlCol="0" anchor="ctr"/>
          <a:lstStyle/>
          <a:p>
            <a:pPr marL="0" indent="0" algn="l">
              <a:buNone/>
            </a:pPr>
            <a:r>
              <a:rPr lang="es-CL" sz="3000" b="1" i="0" dirty="0">
                <a:solidFill>
                  <a:srgbClr val="06304A"/>
                </a:solidFill>
                <a:latin typeface="Cambria" pitchFamily="34" charset="0"/>
                <a:ea typeface="Cambria" pitchFamily="34" charset="-122"/>
                <a:cs typeface="Cambria" pitchFamily="34" charset="-120"/>
              </a:rPr>
              <a:t>El conjunto de datos del proyecto</a:t>
            </a:r>
          </a:p>
        </p:txBody>
      </p:sp>
      <p:sp>
        <p:nvSpPr>
          <p:cNvPr id="3" name="Text 3"/>
          <p:cNvSpPr/>
          <p:nvPr/>
        </p:nvSpPr>
        <p:spPr>
          <a:xfrm>
            <a:off x="548640" y="1078992"/>
            <a:ext cx="11064240" cy="384048"/>
          </a:xfrm>
          <a:prstGeom prst="rect">
            <a:avLst/>
          </a:prstGeom>
          <a:noFill/>
          <a:ln/>
        </p:spPr>
        <p:txBody>
          <a:bodyPr wrap="square" lIns="0" tIns="0" rIns="0" bIns="0" rtlCol="0" anchor="ctr"/>
          <a:lstStyle/>
          <a:p>
            <a:pPr marL="0" indent="0" algn="l">
              <a:buNone/>
            </a:pPr>
            <a:r>
              <a:rPr lang="es-CL" sz="1400" b="0" i="1" dirty="0">
                <a:solidFill>
                  <a:srgbClr val="5A6B7B"/>
                </a:solidFill>
                <a:latin typeface="Calibri" pitchFamily="34" charset="0"/>
                <a:ea typeface="Calibri" pitchFamily="34" charset="-122"/>
                <a:cs typeface="Calibri" pitchFamily="34" charset="-120"/>
              </a:rPr>
              <a:t>Debe ser multivariado y combinar variables de distinto tipo. Cada tipo obliga a un tratamiento distinto, y ese tratamiento es lo que se evalúa.</a:t>
            </a:r>
          </a:p>
        </p:txBody>
      </p:sp>
      <p:sp>
        <p:nvSpPr>
          <p:cNvPr id="4" name="Text 4"/>
          <p:cNvSpPr/>
          <p:nvPr/>
        </p:nvSpPr>
        <p:spPr>
          <a:xfrm>
            <a:off x="548640" y="1690000"/>
            <a:ext cx="6200000" cy="300000"/>
          </a:xfrm>
          <a:prstGeom prst="rect">
            <a:avLst/>
          </a:prstGeom>
          <a:noFill/>
          <a:ln/>
        </p:spPr>
        <p:txBody>
          <a:bodyPr wrap="square" lIns="0" tIns="0" rIns="0" bIns="0" rtlCol="0" anchor="ctr"/>
          <a:lstStyle/>
          <a:p>
            <a:pPr marL="0" indent="0" algn="l">
              <a:buNone/>
            </a:pPr>
            <a:r>
              <a:rPr lang="es-CL" sz="1500" b="1" i="0" dirty="0">
                <a:solidFill>
                  <a:srgbClr val="06304A"/>
                </a:solidFill>
                <a:latin typeface="Calibri" pitchFamily="34" charset="0"/>
                <a:ea typeface="Calibri" pitchFamily="34" charset="-122"/>
                <a:cs typeface="Calibri" pitchFamily="34" charset="-120"/>
              </a:rPr>
              <a:t>Debe contener</a:t>
            </a:r>
          </a:p>
        </p:txBody>
      </p:sp>
      <p:sp>
        <p:nvSpPr>
          <p:cNvPr id="5" name="Shape 5"/>
          <p:cNvSpPr/>
          <p:nvPr/>
        </p:nvSpPr>
        <p:spPr>
          <a:xfrm>
            <a:off x="548640" y="2020000"/>
            <a:ext cx="6200000" cy="590000"/>
          </a:xfrm>
          <a:prstGeom prst="roundRect">
            <a:avLst>
              <a:gd name="adj" fmla="val 12000"/>
            </a:avLst>
          </a:prstGeom>
          <a:solidFill>
            <a:srgbClr val="F4F7FA"/>
          </a:solidFill>
          <a:ln w="12700">
            <a:solidFill>
              <a:srgbClr val="F4F7FA"/>
            </a:solidFill>
            <a:prstDash val="solid"/>
          </a:ln>
        </p:spPr>
        <p:txBody>
          <a:bodyPr/>
          <a:lstStyle/>
          <a:p>
            <a:endParaRPr lang="es-CL"/>
          </a:p>
        </p:txBody>
      </p:sp>
      <p:sp>
        <p:nvSpPr>
          <p:cNvPr id="6" name="Text 6"/>
          <p:cNvSpPr/>
          <p:nvPr/>
        </p:nvSpPr>
        <p:spPr>
          <a:xfrm>
            <a:off x="848640" y="2110000"/>
            <a:ext cx="5700000" cy="240000"/>
          </a:xfrm>
          <a:prstGeom prst="rect">
            <a:avLst/>
          </a:prstGeom>
          <a:noFill/>
          <a:ln/>
        </p:spPr>
        <p:txBody>
          <a:bodyPr wrap="square" lIns="0" tIns="0" rIns="0" bIns="0" rtlCol="0" anchor="ctr"/>
          <a:lstStyle/>
          <a:p>
            <a:pPr marL="0" indent="0" algn="l">
              <a:buNone/>
            </a:pPr>
            <a:r>
              <a:rPr lang="es-CL" sz="1250" b="1" i="0" dirty="0">
                <a:solidFill>
                  <a:srgbClr val="06304A"/>
                </a:solidFill>
                <a:latin typeface="Calibri" pitchFamily="34" charset="0"/>
                <a:ea typeface="Calibri" pitchFamily="34" charset="-122"/>
                <a:cs typeface="Calibri" pitchFamily="34" charset="-120"/>
              </a:rPr>
              <a:t>Binarias</a:t>
            </a:r>
            <a:r>
              <a:rPr lang="es-CL" sz="1100" b="0" i="0" dirty="0">
                <a:solidFill>
                  <a:srgbClr val="AC212E"/>
                </a:solidFill>
                <a:latin typeface="Calibri" pitchFamily="34" charset="0"/>
                <a:ea typeface="Calibri" pitchFamily="34" charset="-122"/>
                <a:cs typeface="Calibri" pitchFamily="34" charset="-120"/>
              </a:rPr>
              <a:t>   0/1, sí/no</a:t>
            </a:r>
          </a:p>
        </p:txBody>
      </p:sp>
      <p:sp>
        <p:nvSpPr>
          <p:cNvPr id="7" name="Text 7"/>
          <p:cNvSpPr/>
          <p:nvPr/>
        </p:nvSpPr>
        <p:spPr>
          <a:xfrm>
            <a:off x="848640" y="2340000"/>
            <a:ext cx="5700000" cy="230000"/>
          </a:xfrm>
          <a:prstGeom prst="rect">
            <a:avLst/>
          </a:prstGeom>
          <a:noFill/>
          <a:ln/>
        </p:spPr>
        <p:txBody>
          <a:bodyPr wrap="square" lIns="0" tIns="0" rIns="0" bIns="0" rtlCol="0" anchor="ctr"/>
          <a:lstStyle/>
          <a:p>
            <a:pPr marL="0" indent="0" algn="l">
              <a:buNone/>
            </a:pPr>
            <a:r>
              <a:rPr lang="es-CL" sz="1100" b="0" i="0" dirty="0">
                <a:solidFill>
                  <a:srgbClr val="5A6B7B"/>
                </a:solidFill>
                <a:latin typeface="Calibri" pitchFamily="34" charset="0"/>
                <a:ea typeface="Calibri" pitchFamily="34" charset="-122"/>
                <a:cs typeface="Calibri" pitchFamily="34" charset="-120"/>
              </a:rPr>
              <a:t>Codificación </a:t>
            </a:r>
            <a:r>
              <a:rPr lang="es-CL" sz="1100" b="0" i="0">
                <a:solidFill>
                  <a:srgbClr val="5A6B7B"/>
                </a:solidFill>
                <a:latin typeface="Calibri" pitchFamily="34" charset="0"/>
                <a:ea typeface="Calibri" pitchFamily="34" charset="-122"/>
                <a:cs typeface="Calibri" pitchFamily="34" charset="-120"/>
              </a:rPr>
              <a:t>0-1 </a:t>
            </a:r>
            <a:endParaRPr lang="es-CL" sz="1100" b="0" i="0" dirty="0">
              <a:solidFill>
                <a:srgbClr val="5A6B7B"/>
              </a:solidFill>
              <a:latin typeface="Calibri" pitchFamily="34" charset="0"/>
              <a:ea typeface="Calibri" pitchFamily="34" charset="-122"/>
              <a:cs typeface="Calibri" pitchFamily="34" charset="-120"/>
            </a:endParaRPr>
          </a:p>
        </p:txBody>
      </p:sp>
      <p:sp>
        <p:nvSpPr>
          <p:cNvPr id="8" name="Shape 8"/>
          <p:cNvSpPr/>
          <p:nvPr/>
        </p:nvSpPr>
        <p:spPr>
          <a:xfrm>
            <a:off x="548640" y="2670000"/>
            <a:ext cx="6200000" cy="590000"/>
          </a:xfrm>
          <a:prstGeom prst="roundRect">
            <a:avLst>
              <a:gd name="adj" fmla="val 12000"/>
            </a:avLst>
          </a:prstGeom>
          <a:solidFill>
            <a:srgbClr val="F4F7FA"/>
          </a:solidFill>
          <a:ln w="12700">
            <a:solidFill>
              <a:srgbClr val="F4F7FA"/>
            </a:solidFill>
            <a:prstDash val="solid"/>
          </a:ln>
        </p:spPr>
        <p:txBody>
          <a:bodyPr/>
          <a:lstStyle/>
          <a:p>
            <a:endParaRPr lang="es-CL"/>
          </a:p>
        </p:txBody>
      </p:sp>
      <p:sp>
        <p:nvSpPr>
          <p:cNvPr id="9" name="Text 9"/>
          <p:cNvSpPr/>
          <p:nvPr/>
        </p:nvSpPr>
        <p:spPr>
          <a:xfrm>
            <a:off x="848640" y="2760000"/>
            <a:ext cx="5700000" cy="240000"/>
          </a:xfrm>
          <a:prstGeom prst="rect">
            <a:avLst/>
          </a:prstGeom>
          <a:noFill/>
          <a:ln/>
        </p:spPr>
        <p:txBody>
          <a:bodyPr wrap="square" lIns="0" tIns="0" rIns="0" bIns="0" rtlCol="0" anchor="ctr"/>
          <a:lstStyle/>
          <a:p>
            <a:pPr marL="0" indent="0" algn="l">
              <a:buNone/>
            </a:pPr>
            <a:r>
              <a:rPr lang="es-CL" sz="1250" b="1" i="0" dirty="0">
                <a:solidFill>
                  <a:srgbClr val="06304A"/>
                </a:solidFill>
                <a:latin typeface="Calibri" pitchFamily="34" charset="0"/>
                <a:ea typeface="Calibri" pitchFamily="34" charset="-122"/>
                <a:cs typeface="Calibri" pitchFamily="34" charset="-120"/>
              </a:rPr>
              <a:t>Enteras</a:t>
            </a:r>
            <a:r>
              <a:rPr lang="es-CL" sz="1100" b="0" i="0" dirty="0">
                <a:solidFill>
                  <a:srgbClr val="AC212E"/>
                </a:solidFill>
                <a:latin typeface="Calibri" pitchFamily="34" charset="0"/>
                <a:ea typeface="Calibri" pitchFamily="34" charset="-122"/>
                <a:cs typeface="Calibri" pitchFamily="34" charset="-120"/>
              </a:rPr>
              <a:t>   recuento discreto</a:t>
            </a:r>
          </a:p>
        </p:txBody>
      </p:sp>
      <p:sp>
        <p:nvSpPr>
          <p:cNvPr id="10" name="Text 10"/>
          <p:cNvSpPr/>
          <p:nvPr/>
        </p:nvSpPr>
        <p:spPr>
          <a:xfrm>
            <a:off x="848640" y="2990000"/>
            <a:ext cx="5700000" cy="230000"/>
          </a:xfrm>
          <a:prstGeom prst="rect">
            <a:avLst/>
          </a:prstGeom>
          <a:noFill/>
          <a:ln/>
        </p:spPr>
        <p:txBody>
          <a:bodyPr wrap="square" lIns="0" tIns="0" rIns="0" bIns="0" rtlCol="0" anchor="ctr"/>
          <a:lstStyle/>
          <a:p>
            <a:pPr marL="0" indent="0" algn="l">
              <a:buNone/>
            </a:pPr>
            <a:r>
              <a:rPr lang="es-CL" sz="1100" b="0" i="0" dirty="0">
                <a:solidFill>
                  <a:srgbClr val="5A6B7B"/>
                </a:solidFill>
                <a:latin typeface="Calibri" pitchFamily="34" charset="0"/>
                <a:ea typeface="Calibri" pitchFamily="34" charset="-122"/>
                <a:cs typeface="Calibri" pitchFamily="34" charset="-120"/>
              </a:rPr>
              <a:t>Decidir si se tratan como número o como categoría</a:t>
            </a:r>
          </a:p>
        </p:txBody>
      </p:sp>
      <p:sp>
        <p:nvSpPr>
          <p:cNvPr id="11" name="Shape 11"/>
          <p:cNvSpPr/>
          <p:nvPr/>
        </p:nvSpPr>
        <p:spPr>
          <a:xfrm>
            <a:off x="548640" y="3320000"/>
            <a:ext cx="6200000" cy="590000"/>
          </a:xfrm>
          <a:prstGeom prst="roundRect">
            <a:avLst>
              <a:gd name="adj" fmla="val 12000"/>
            </a:avLst>
          </a:prstGeom>
          <a:solidFill>
            <a:srgbClr val="F4F7FA"/>
          </a:solidFill>
          <a:ln w="12700">
            <a:solidFill>
              <a:srgbClr val="F4F7FA"/>
            </a:solidFill>
            <a:prstDash val="solid"/>
          </a:ln>
        </p:spPr>
        <p:txBody>
          <a:bodyPr/>
          <a:lstStyle/>
          <a:p>
            <a:endParaRPr lang="es-CL"/>
          </a:p>
        </p:txBody>
      </p:sp>
      <p:sp>
        <p:nvSpPr>
          <p:cNvPr id="12" name="Text 12"/>
          <p:cNvSpPr/>
          <p:nvPr/>
        </p:nvSpPr>
        <p:spPr>
          <a:xfrm>
            <a:off x="848640" y="3410000"/>
            <a:ext cx="5700000" cy="240000"/>
          </a:xfrm>
          <a:prstGeom prst="rect">
            <a:avLst/>
          </a:prstGeom>
          <a:noFill/>
          <a:ln/>
        </p:spPr>
        <p:txBody>
          <a:bodyPr wrap="square" lIns="0" tIns="0" rIns="0" bIns="0" rtlCol="0" anchor="ctr"/>
          <a:lstStyle/>
          <a:p>
            <a:pPr marL="0" indent="0" algn="l">
              <a:buNone/>
            </a:pPr>
            <a:r>
              <a:rPr lang="es-CL" sz="1250" b="1" i="0" dirty="0">
                <a:solidFill>
                  <a:srgbClr val="06304A"/>
                </a:solidFill>
                <a:latin typeface="Calibri" pitchFamily="34" charset="0"/>
                <a:ea typeface="Calibri" pitchFamily="34" charset="-122"/>
                <a:cs typeface="Calibri" pitchFamily="34" charset="-120"/>
              </a:rPr>
              <a:t>Flotantes</a:t>
            </a:r>
            <a:r>
              <a:rPr lang="es-CL" sz="1100" b="0" i="0" dirty="0">
                <a:solidFill>
                  <a:srgbClr val="AC212E"/>
                </a:solidFill>
                <a:latin typeface="Calibri" pitchFamily="34" charset="0"/>
                <a:ea typeface="Calibri" pitchFamily="34" charset="-122"/>
                <a:cs typeface="Calibri" pitchFamily="34" charset="-120"/>
              </a:rPr>
              <a:t>   magnitud continua</a:t>
            </a:r>
          </a:p>
        </p:txBody>
      </p:sp>
      <p:sp>
        <p:nvSpPr>
          <p:cNvPr id="13" name="Text 13"/>
          <p:cNvSpPr/>
          <p:nvPr/>
        </p:nvSpPr>
        <p:spPr>
          <a:xfrm>
            <a:off x="848640" y="3640000"/>
            <a:ext cx="5700000" cy="230000"/>
          </a:xfrm>
          <a:prstGeom prst="rect">
            <a:avLst/>
          </a:prstGeom>
          <a:noFill/>
          <a:ln/>
        </p:spPr>
        <p:txBody>
          <a:bodyPr wrap="square" lIns="0" tIns="0" rIns="0" bIns="0" rtlCol="0" anchor="ctr"/>
          <a:lstStyle/>
          <a:p>
            <a:pPr marL="0" indent="0" algn="l">
              <a:buNone/>
            </a:pPr>
            <a:r>
              <a:rPr lang="es-CL" sz="1100" b="0" i="0" dirty="0">
                <a:solidFill>
                  <a:srgbClr val="5A6B7B"/>
                </a:solidFill>
                <a:latin typeface="Calibri" pitchFamily="34" charset="0"/>
                <a:ea typeface="Calibri" pitchFamily="34" charset="-122"/>
                <a:cs typeface="Calibri" pitchFamily="34" charset="-120"/>
              </a:rPr>
              <a:t>Valores atípicos, escalamiento e imputación</a:t>
            </a:r>
          </a:p>
        </p:txBody>
      </p:sp>
      <p:sp>
        <p:nvSpPr>
          <p:cNvPr id="14" name="Shape 14"/>
          <p:cNvSpPr/>
          <p:nvPr/>
        </p:nvSpPr>
        <p:spPr>
          <a:xfrm>
            <a:off x="548640" y="3970000"/>
            <a:ext cx="6200000" cy="590000"/>
          </a:xfrm>
          <a:prstGeom prst="roundRect">
            <a:avLst>
              <a:gd name="adj" fmla="val 12000"/>
            </a:avLst>
          </a:prstGeom>
          <a:solidFill>
            <a:srgbClr val="F4F7FA"/>
          </a:solidFill>
          <a:ln w="12700">
            <a:solidFill>
              <a:srgbClr val="F4F7FA"/>
            </a:solidFill>
            <a:prstDash val="solid"/>
          </a:ln>
        </p:spPr>
        <p:txBody>
          <a:bodyPr/>
          <a:lstStyle/>
          <a:p>
            <a:endParaRPr lang="es-CL"/>
          </a:p>
        </p:txBody>
      </p:sp>
      <p:sp>
        <p:nvSpPr>
          <p:cNvPr id="15" name="Text 15"/>
          <p:cNvSpPr/>
          <p:nvPr/>
        </p:nvSpPr>
        <p:spPr>
          <a:xfrm>
            <a:off x="848640" y="4060000"/>
            <a:ext cx="5700000" cy="240000"/>
          </a:xfrm>
          <a:prstGeom prst="rect">
            <a:avLst/>
          </a:prstGeom>
          <a:noFill/>
          <a:ln/>
        </p:spPr>
        <p:txBody>
          <a:bodyPr wrap="square" lIns="0" tIns="0" rIns="0" bIns="0" rtlCol="0" anchor="ctr"/>
          <a:lstStyle/>
          <a:p>
            <a:pPr marL="0" indent="0" algn="l">
              <a:buNone/>
            </a:pPr>
            <a:r>
              <a:rPr lang="es-CL" sz="1250" b="1" i="0" dirty="0">
                <a:solidFill>
                  <a:srgbClr val="06304A"/>
                </a:solidFill>
                <a:latin typeface="Calibri" pitchFamily="34" charset="0"/>
                <a:ea typeface="Calibri" pitchFamily="34" charset="-122"/>
                <a:cs typeface="Calibri" pitchFamily="34" charset="-120"/>
              </a:rPr>
              <a:t>Categóricas nominales</a:t>
            </a:r>
            <a:r>
              <a:rPr lang="es-CL" sz="1100" b="0" i="0" dirty="0">
                <a:solidFill>
                  <a:srgbClr val="AC212E"/>
                </a:solidFill>
                <a:latin typeface="Calibri" pitchFamily="34" charset="0"/>
                <a:ea typeface="Calibri" pitchFamily="34" charset="-122"/>
                <a:cs typeface="Calibri" pitchFamily="34" charset="-120"/>
              </a:rPr>
              <a:t>   sin orden natural</a:t>
            </a:r>
          </a:p>
        </p:txBody>
      </p:sp>
      <p:sp>
        <p:nvSpPr>
          <p:cNvPr id="16" name="Text 16"/>
          <p:cNvSpPr/>
          <p:nvPr/>
        </p:nvSpPr>
        <p:spPr>
          <a:xfrm>
            <a:off x="848640" y="4290000"/>
            <a:ext cx="5700000" cy="230000"/>
          </a:xfrm>
          <a:prstGeom prst="rect">
            <a:avLst/>
          </a:prstGeom>
          <a:noFill/>
          <a:ln/>
        </p:spPr>
        <p:txBody>
          <a:bodyPr wrap="square" lIns="0" tIns="0" rIns="0" bIns="0" rtlCol="0" anchor="ctr"/>
          <a:lstStyle/>
          <a:p>
            <a:pPr marL="0" indent="0" algn="l">
              <a:buNone/>
            </a:pPr>
            <a:r>
              <a:rPr lang="es-CL" sz="1100" b="0" i="0" dirty="0">
                <a:solidFill>
                  <a:srgbClr val="5A6B7B"/>
                </a:solidFill>
                <a:latin typeface="Calibri" pitchFamily="34" charset="0"/>
                <a:ea typeface="Calibri" pitchFamily="34" charset="-122"/>
                <a:cs typeface="Calibri" pitchFamily="34" charset="-120"/>
              </a:rPr>
              <a:t>One-hot encoding y agrupación de categorías raras</a:t>
            </a:r>
          </a:p>
        </p:txBody>
      </p:sp>
      <p:sp>
        <p:nvSpPr>
          <p:cNvPr id="17" name="Shape 17"/>
          <p:cNvSpPr/>
          <p:nvPr/>
        </p:nvSpPr>
        <p:spPr>
          <a:xfrm>
            <a:off x="548640" y="4620000"/>
            <a:ext cx="6200000" cy="590000"/>
          </a:xfrm>
          <a:prstGeom prst="roundRect">
            <a:avLst>
              <a:gd name="adj" fmla="val 12000"/>
            </a:avLst>
          </a:prstGeom>
          <a:solidFill>
            <a:srgbClr val="F4F7FA"/>
          </a:solidFill>
          <a:ln w="12700">
            <a:solidFill>
              <a:srgbClr val="F4F7FA"/>
            </a:solidFill>
            <a:prstDash val="solid"/>
          </a:ln>
        </p:spPr>
        <p:txBody>
          <a:bodyPr/>
          <a:lstStyle/>
          <a:p>
            <a:endParaRPr lang="es-CL"/>
          </a:p>
        </p:txBody>
      </p:sp>
      <p:sp>
        <p:nvSpPr>
          <p:cNvPr id="18" name="Text 18"/>
          <p:cNvSpPr/>
          <p:nvPr/>
        </p:nvSpPr>
        <p:spPr>
          <a:xfrm>
            <a:off x="848640" y="4710000"/>
            <a:ext cx="5700000" cy="240000"/>
          </a:xfrm>
          <a:prstGeom prst="rect">
            <a:avLst/>
          </a:prstGeom>
          <a:noFill/>
          <a:ln/>
        </p:spPr>
        <p:txBody>
          <a:bodyPr wrap="square" lIns="0" tIns="0" rIns="0" bIns="0" rtlCol="0" anchor="ctr"/>
          <a:lstStyle/>
          <a:p>
            <a:pPr marL="0" indent="0" algn="l">
              <a:buNone/>
            </a:pPr>
            <a:r>
              <a:rPr lang="es-CL" sz="1250" b="1" i="0" dirty="0">
                <a:solidFill>
                  <a:srgbClr val="06304A"/>
                </a:solidFill>
                <a:latin typeface="Calibri" pitchFamily="34" charset="0"/>
                <a:ea typeface="Calibri" pitchFamily="34" charset="-122"/>
                <a:cs typeface="Calibri" pitchFamily="34" charset="-120"/>
              </a:rPr>
              <a:t>Categóricas ordinales</a:t>
            </a:r>
            <a:r>
              <a:rPr lang="es-CL" sz="1100" b="0" i="0" dirty="0">
                <a:solidFill>
                  <a:srgbClr val="AC212E"/>
                </a:solidFill>
                <a:latin typeface="Calibri" pitchFamily="34" charset="0"/>
                <a:ea typeface="Calibri" pitchFamily="34" charset="-122"/>
                <a:cs typeface="Calibri" pitchFamily="34" charset="-120"/>
              </a:rPr>
              <a:t>   con orden natural</a:t>
            </a:r>
          </a:p>
        </p:txBody>
      </p:sp>
      <p:sp>
        <p:nvSpPr>
          <p:cNvPr id="19" name="Text 19"/>
          <p:cNvSpPr/>
          <p:nvPr/>
        </p:nvSpPr>
        <p:spPr>
          <a:xfrm>
            <a:off x="848640" y="4940000"/>
            <a:ext cx="5700000" cy="230000"/>
          </a:xfrm>
          <a:prstGeom prst="rect">
            <a:avLst/>
          </a:prstGeom>
          <a:noFill/>
          <a:ln/>
        </p:spPr>
        <p:txBody>
          <a:bodyPr wrap="square" lIns="0" tIns="0" rIns="0" bIns="0" rtlCol="0" anchor="ctr"/>
          <a:lstStyle/>
          <a:p>
            <a:pPr marL="0" indent="0" algn="l">
              <a:buNone/>
            </a:pPr>
            <a:r>
              <a:rPr lang="es-CL" sz="1100" b="0" i="0" dirty="0">
                <a:solidFill>
                  <a:srgbClr val="5A6B7B"/>
                </a:solidFill>
                <a:latin typeface="Calibri" pitchFamily="34" charset="0"/>
                <a:ea typeface="Calibri" pitchFamily="34" charset="-122"/>
                <a:cs typeface="Calibri" pitchFamily="34" charset="-120"/>
              </a:rPr>
              <a:t>Codificación con el orden declarado por el grupo</a:t>
            </a:r>
          </a:p>
        </p:txBody>
      </p:sp>
      <p:sp>
        <p:nvSpPr>
          <p:cNvPr id="20" name="Text 20"/>
          <p:cNvSpPr/>
          <p:nvPr/>
        </p:nvSpPr>
        <p:spPr>
          <a:xfrm>
            <a:off x="848640" y="5310000"/>
            <a:ext cx="5900000" cy="300000"/>
          </a:xfrm>
          <a:prstGeom prst="rect">
            <a:avLst/>
          </a:prstGeom>
          <a:noFill/>
          <a:ln/>
        </p:spPr>
        <p:txBody>
          <a:bodyPr wrap="square" lIns="0" tIns="0" rIns="0" bIns="0" rtlCol="0" anchor="ctr"/>
          <a:lstStyle/>
          <a:p>
            <a:pPr marL="0" indent="0" algn="l">
              <a:buNone/>
            </a:pPr>
            <a:r>
              <a:rPr lang="es-CL" sz="1000" b="0" i="1" dirty="0">
                <a:solidFill>
                  <a:srgbClr val="5A6B7B"/>
                </a:solidFill>
                <a:latin typeface="Calibri" pitchFamily="34" charset="0"/>
                <a:ea typeface="Calibri" pitchFamily="34" charset="-122"/>
                <a:cs typeface="Calibri" pitchFamily="34" charset="-120"/>
              </a:rPr>
              <a:t>A esos cinco tipos, los requisitos mínimos del curso suman una variable de fecha y una de alta cardinalidad.</a:t>
            </a:r>
          </a:p>
        </p:txBody>
      </p:sp>
      <p:sp>
        <p:nvSpPr>
          <p:cNvPr id="21" name="Text 21"/>
          <p:cNvSpPr/>
          <p:nvPr/>
        </p:nvSpPr>
        <p:spPr>
          <a:xfrm>
            <a:off x="7000000" y="1690000"/>
            <a:ext cx="4612880" cy="300000"/>
          </a:xfrm>
          <a:prstGeom prst="rect">
            <a:avLst/>
          </a:prstGeom>
          <a:noFill/>
          <a:ln/>
        </p:spPr>
        <p:txBody>
          <a:bodyPr wrap="square" lIns="0" tIns="0" rIns="0" bIns="0" rtlCol="0" anchor="ctr"/>
          <a:lstStyle/>
          <a:p>
            <a:pPr marL="0" indent="0" algn="l">
              <a:buNone/>
            </a:pPr>
            <a:r>
              <a:rPr lang="es-CL" sz="1500" b="1" i="0" dirty="0">
                <a:solidFill>
                  <a:srgbClr val="AC212E"/>
                </a:solidFill>
                <a:latin typeface="Calibri" pitchFamily="34" charset="0"/>
                <a:ea typeface="Calibri" pitchFamily="34" charset="-122"/>
                <a:cs typeface="Calibri" pitchFamily="34" charset="-120"/>
              </a:rPr>
              <a:t>No se acepta</a:t>
            </a:r>
          </a:p>
        </p:txBody>
      </p:sp>
      <p:sp>
        <p:nvSpPr>
          <p:cNvPr id="22" name="Shape 22"/>
          <p:cNvSpPr/>
          <p:nvPr/>
        </p:nvSpPr>
        <p:spPr>
          <a:xfrm>
            <a:off x="7000000" y="2060000"/>
            <a:ext cx="4612880" cy="9000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3" name="Text 23"/>
          <p:cNvSpPr/>
          <p:nvPr/>
        </p:nvSpPr>
        <p:spPr>
          <a:xfrm>
            <a:off x="7260000" y="2170000"/>
            <a:ext cx="300000" cy="280000"/>
          </a:xfrm>
          <a:prstGeom prst="rect">
            <a:avLst/>
          </a:prstGeom>
          <a:noFill/>
          <a:ln/>
        </p:spPr>
        <p:txBody>
          <a:bodyPr wrap="square" lIns="0" tIns="0" rIns="0" bIns="0" rtlCol="0" anchor="ctr"/>
          <a:lstStyle/>
          <a:p>
            <a:pPr marL="0" indent="0" algn="l">
              <a:buNone/>
            </a:pPr>
            <a:r>
              <a:rPr lang="es-CL" sz="1800" b="1" i="0" dirty="0">
                <a:solidFill>
                  <a:srgbClr val="AC212E"/>
                </a:solidFill>
                <a:latin typeface="Calibri" pitchFamily="34" charset="0"/>
                <a:ea typeface="Calibri" pitchFamily="34" charset="-122"/>
                <a:cs typeface="Calibri" pitchFamily="34" charset="-120"/>
              </a:rPr>
              <a:t>×</a:t>
            </a:r>
          </a:p>
        </p:txBody>
      </p:sp>
      <p:sp>
        <p:nvSpPr>
          <p:cNvPr id="24" name="Text 24"/>
          <p:cNvSpPr/>
          <p:nvPr/>
        </p:nvSpPr>
        <p:spPr>
          <a:xfrm>
            <a:off x="7620000" y="2180000"/>
            <a:ext cx="3732880" cy="260000"/>
          </a:xfrm>
          <a:prstGeom prst="rect">
            <a:avLst/>
          </a:prstGeom>
          <a:noFill/>
          <a:ln/>
        </p:spPr>
        <p:txBody>
          <a:bodyPr wrap="square" lIns="0" tIns="0" rIns="0" bIns="0" rtlCol="0" anchor="ctr"/>
          <a:lstStyle/>
          <a:p>
            <a:pPr marL="0" indent="0" algn="l">
              <a:buNone/>
            </a:pPr>
            <a:r>
              <a:rPr lang="es-CL" sz="1250" b="1" i="0" dirty="0">
                <a:solidFill>
                  <a:srgbClr val="AC212E"/>
                </a:solidFill>
                <a:latin typeface="Calibri" pitchFamily="34" charset="0"/>
                <a:ea typeface="Calibri" pitchFamily="34" charset="-122"/>
                <a:cs typeface="Calibri" pitchFamily="34" charset="-120"/>
              </a:rPr>
              <a:t>Titanic, Iris, Housing</a:t>
            </a:r>
          </a:p>
        </p:txBody>
      </p:sp>
      <p:sp>
        <p:nvSpPr>
          <p:cNvPr id="25" name="Text 25"/>
          <p:cNvSpPr/>
          <p:nvPr/>
        </p:nvSpPr>
        <p:spPr>
          <a:xfrm>
            <a:off x="7620000" y="2450000"/>
            <a:ext cx="3732880" cy="430000"/>
          </a:xfrm>
          <a:prstGeom prst="rect">
            <a:avLst/>
          </a:prstGeom>
          <a:noFill/>
          <a:ln/>
        </p:spPr>
        <p:txBody>
          <a:bodyPr wrap="square" lIns="0" tIns="0" rIns="0" bIns="0" rtlCol="0" anchor="ctr"/>
          <a:lstStyle/>
          <a:p>
            <a:pPr marL="0" indent="0" algn="l">
              <a:buNone/>
            </a:pPr>
            <a:r>
              <a:rPr lang="es-CL" sz="1050" b="0" i="0" dirty="0">
                <a:solidFill>
                  <a:srgbClr val="5A6B7B"/>
                </a:solidFill>
                <a:latin typeface="Calibri" pitchFamily="34" charset="0"/>
                <a:ea typeface="Calibri" pitchFamily="34" charset="-122"/>
                <a:cs typeface="Calibri" pitchFamily="34" charset="-120"/>
              </a:rPr>
              <a:t>Conjuntos didácticos de circulación masiva: vienen pre-limpiados y tienen miles de soluciones publicadas.</a:t>
            </a:r>
          </a:p>
        </p:txBody>
      </p:sp>
      <p:sp>
        <p:nvSpPr>
          <p:cNvPr id="26" name="Shape 26"/>
          <p:cNvSpPr/>
          <p:nvPr/>
        </p:nvSpPr>
        <p:spPr>
          <a:xfrm>
            <a:off x="7000000" y="3020000"/>
            <a:ext cx="4612880" cy="9000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27" name="Text 27"/>
          <p:cNvSpPr/>
          <p:nvPr/>
        </p:nvSpPr>
        <p:spPr>
          <a:xfrm>
            <a:off x="7260000" y="3130000"/>
            <a:ext cx="300000" cy="280000"/>
          </a:xfrm>
          <a:prstGeom prst="rect">
            <a:avLst/>
          </a:prstGeom>
          <a:noFill/>
          <a:ln/>
        </p:spPr>
        <p:txBody>
          <a:bodyPr wrap="square" lIns="0" tIns="0" rIns="0" bIns="0" rtlCol="0" anchor="ctr"/>
          <a:lstStyle/>
          <a:p>
            <a:pPr marL="0" indent="0" algn="l">
              <a:buNone/>
            </a:pPr>
            <a:r>
              <a:rPr lang="es-CL" sz="1800" b="1" i="0" dirty="0">
                <a:solidFill>
                  <a:srgbClr val="AC212E"/>
                </a:solidFill>
                <a:latin typeface="Calibri" pitchFamily="34" charset="0"/>
                <a:ea typeface="Calibri" pitchFamily="34" charset="-122"/>
                <a:cs typeface="Calibri" pitchFamily="34" charset="-120"/>
              </a:rPr>
              <a:t>×</a:t>
            </a:r>
          </a:p>
        </p:txBody>
      </p:sp>
      <p:sp>
        <p:nvSpPr>
          <p:cNvPr id="28" name="Text 28"/>
          <p:cNvSpPr/>
          <p:nvPr/>
        </p:nvSpPr>
        <p:spPr>
          <a:xfrm>
            <a:off x="7620000" y="3140000"/>
            <a:ext cx="3732880" cy="260000"/>
          </a:xfrm>
          <a:prstGeom prst="rect">
            <a:avLst/>
          </a:prstGeom>
          <a:noFill/>
          <a:ln/>
        </p:spPr>
        <p:txBody>
          <a:bodyPr wrap="square" lIns="0" tIns="0" rIns="0" bIns="0" rtlCol="0" anchor="ctr"/>
          <a:lstStyle/>
          <a:p>
            <a:pPr marL="0" indent="0" algn="l">
              <a:buNone/>
            </a:pPr>
            <a:r>
              <a:rPr lang="es-CL" sz="1250" b="1" i="0" dirty="0">
                <a:solidFill>
                  <a:srgbClr val="AC212E"/>
                </a:solidFill>
                <a:latin typeface="Calibri" pitchFamily="34" charset="0"/>
                <a:ea typeface="Calibri" pitchFamily="34" charset="-122"/>
                <a:cs typeface="Calibri" pitchFamily="34" charset="-120"/>
              </a:rPr>
              <a:t>Stroke</a:t>
            </a:r>
          </a:p>
        </p:txBody>
      </p:sp>
      <p:sp>
        <p:nvSpPr>
          <p:cNvPr id="29" name="Text 29"/>
          <p:cNvSpPr/>
          <p:nvPr/>
        </p:nvSpPr>
        <p:spPr>
          <a:xfrm>
            <a:off x="7620000" y="3410000"/>
            <a:ext cx="3732880" cy="430000"/>
          </a:xfrm>
          <a:prstGeom prst="rect">
            <a:avLst/>
          </a:prstGeom>
          <a:noFill/>
          <a:ln/>
        </p:spPr>
        <p:txBody>
          <a:bodyPr wrap="square" lIns="0" tIns="0" rIns="0" bIns="0" rtlCol="0" anchor="ctr"/>
          <a:lstStyle/>
          <a:p>
            <a:pPr marL="0" indent="0" algn="l">
              <a:buNone/>
            </a:pPr>
            <a:r>
              <a:rPr lang="es-CL" sz="1050" b="0" i="0" dirty="0">
                <a:solidFill>
                  <a:srgbClr val="5A6B7B"/>
                </a:solidFill>
                <a:latin typeface="Calibri" pitchFamily="34" charset="0"/>
                <a:ea typeface="Calibri" pitchFamily="34" charset="-122"/>
                <a:cs typeface="Calibri" pitchFamily="34" charset="-120"/>
              </a:rPr>
              <a:t>Es el conjunto trabajado en clase. El caso docente queda excluido del proyecto.</a:t>
            </a:r>
          </a:p>
        </p:txBody>
      </p:sp>
      <p:sp>
        <p:nvSpPr>
          <p:cNvPr id="30" name="Shape 30"/>
          <p:cNvSpPr/>
          <p:nvPr/>
        </p:nvSpPr>
        <p:spPr>
          <a:xfrm>
            <a:off x="7000000" y="3980000"/>
            <a:ext cx="4612880" cy="900000"/>
          </a:xfrm>
          <a:prstGeom prst="roundRect">
            <a:avLst>
              <a:gd name="adj" fmla="val 9000"/>
            </a:avLst>
          </a:prstGeom>
          <a:solidFill>
            <a:srgbClr val="F6E7E9"/>
          </a:solidFill>
          <a:ln w="12700">
            <a:solidFill>
              <a:srgbClr val="F6E7E9"/>
            </a:solidFill>
            <a:prstDash val="solid"/>
          </a:ln>
        </p:spPr>
        <p:txBody>
          <a:bodyPr/>
          <a:lstStyle/>
          <a:p>
            <a:endParaRPr lang="es-CL"/>
          </a:p>
        </p:txBody>
      </p:sp>
      <p:sp>
        <p:nvSpPr>
          <p:cNvPr id="31" name="Text 31"/>
          <p:cNvSpPr/>
          <p:nvPr/>
        </p:nvSpPr>
        <p:spPr>
          <a:xfrm>
            <a:off x="7260000" y="4090000"/>
            <a:ext cx="300000" cy="280000"/>
          </a:xfrm>
          <a:prstGeom prst="rect">
            <a:avLst/>
          </a:prstGeom>
          <a:noFill/>
          <a:ln/>
        </p:spPr>
        <p:txBody>
          <a:bodyPr wrap="square" lIns="0" tIns="0" rIns="0" bIns="0" rtlCol="0" anchor="ctr"/>
          <a:lstStyle/>
          <a:p>
            <a:pPr marL="0" indent="0" algn="l">
              <a:buNone/>
            </a:pPr>
            <a:r>
              <a:rPr lang="es-CL" sz="1800" b="1" i="0" dirty="0">
                <a:solidFill>
                  <a:srgbClr val="AC212E"/>
                </a:solidFill>
                <a:latin typeface="Calibri" pitchFamily="34" charset="0"/>
                <a:ea typeface="Calibri" pitchFamily="34" charset="-122"/>
                <a:cs typeface="Calibri" pitchFamily="34" charset="-120"/>
              </a:rPr>
              <a:t>×</a:t>
            </a:r>
          </a:p>
        </p:txBody>
      </p:sp>
      <p:sp>
        <p:nvSpPr>
          <p:cNvPr id="32" name="Text 32"/>
          <p:cNvSpPr/>
          <p:nvPr/>
        </p:nvSpPr>
        <p:spPr>
          <a:xfrm>
            <a:off x="7620000" y="4100000"/>
            <a:ext cx="3732880" cy="260000"/>
          </a:xfrm>
          <a:prstGeom prst="rect">
            <a:avLst/>
          </a:prstGeom>
          <a:noFill/>
          <a:ln/>
        </p:spPr>
        <p:txBody>
          <a:bodyPr wrap="square" lIns="0" tIns="0" rIns="0" bIns="0" rtlCol="0" anchor="ctr"/>
          <a:lstStyle/>
          <a:p>
            <a:pPr marL="0" indent="0" algn="l">
              <a:buNone/>
            </a:pPr>
            <a:r>
              <a:rPr lang="es-CL" sz="1250" b="1" i="0" dirty="0">
                <a:solidFill>
                  <a:srgbClr val="AC212E"/>
                </a:solidFill>
                <a:latin typeface="Calibri" pitchFamily="34" charset="0"/>
                <a:ea typeface="Calibri" pitchFamily="34" charset="-122"/>
                <a:cs typeface="Calibri" pitchFamily="34" charset="-120"/>
              </a:rPr>
              <a:t>Kaggle ya preprocesado</a:t>
            </a:r>
          </a:p>
        </p:txBody>
      </p:sp>
      <p:sp>
        <p:nvSpPr>
          <p:cNvPr id="33" name="Text 33"/>
          <p:cNvSpPr/>
          <p:nvPr/>
        </p:nvSpPr>
        <p:spPr>
          <a:xfrm>
            <a:off x="7620000" y="4370000"/>
            <a:ext cx="3732880" cy="430000"/>
          </a:xfrm>
          <a:prstGeom prst="rect">
            <a:avLst/>
          </a:prstGeom>
          <a:noFill/>
          <a:ln/>
        </p:spPr>
        <p:txBody>
          <a:bodyPr wrap="square" lIns="0" tIns="0" rIns="0" bIns="0" rtlCol="0" anchor="ctr"/>
          <a:lstStyle/>
          <a:p>
            <a:pPr marL="0" indent="0" algn="l">
              <a:buNone/>
            </a:pPr>
            <a:r>
              <a:rPr lang="es-CL" sz="1050" b="0" i="0" dirty="0">
                <a:solidFill>
                  <a:srgbClr val="5A6B7B"/>
                </a:solidFill>
                <a:latin typeface="Calibri" pitchFamily="34" charset="0"/>
                <a:ea typeface="Calibri" pitchFamily="34" charset="-122"/>
                <a:cs typeface="Calibri" pitchFamily="34" charset="-120"/>
              </a:rPr>
              <a:t>Los preparados para una competencia no dejan preprocesamiento real que hacer. Si eligen Kaggle, que sean datos crudos.</a:t>
            </a:r>
          </a:p>
        </p:txBody>
      </p:sp>
      <p:sp>
        <p:nvSpPr>
          <p:cNvPr id="34" name="Text 34"/>
          <p:cNvSpPr/>
          <p:nvPr/>
        </p:nvSpPr>
        <p:spPr>
          <a:xfrm>
            <a:off x="7260000" y="4980000"/>
            <a:ext cx="4352880" cy="300000"/>
          </a:xfrm>
          <a:prstGeom prst="rect">
            <a:avLst/>
          </a:prstGeom>
          <a:noFill/>
          <a:ln/>
        </p:spPr>
        <p:txBody>
          <a:bodyPr wrap="square" lIns="0" tIns="0" rIns="0" bIns="0" rtlCol="0" anchor="ctr"/>
          <a:lstStyle/>
          <a:p>
            <a:pPr marL="0" indent="0" algn="l">
              <a:buNone/>
            </a:pPr>
            <a:r>
              <a:rPr lang="es-CL" sz="1000" b="0" i="1" dirty="0">
                <a:solidFill>
                  <a:srgbClr val="5A6B7B"/>
                </a:solidFill>
                <a:latin typeface="Calibri" pitchFamily="34" charset="0"/>
                <a:ea typeface="Calibri" pitchFamily="34" charset="-122"/>
                <a:cs typeface="Calibri" pitchFamily="34" charset="-120"/>
              </a:rPr>
              <a:t>Quedan excluidos además los datos personales identificables, el origen no verificable y la repetición del mismo conjunto entre grupos.</a:t>
            </a:r>
          </a:p>
        </p:txBody>
      </p:sp>
      <p:sp>
        <p:nvSpPr>
          <p:cNvPr id="35" name="Shape 35"/>
          <p:cNvSpPr/>
          <p:nvPr/>
        </p:nvSpPr>
        <p:spPr>
          <a:xfrm>
            <a:off x="548640" y="5760000"/>
            <a:ext cx="11064240" cy="700000"/>
          </a:xfrm>
          <a:prstGeom prst="roundRect">
            <a:avLst>
              <a:gd name="adj" fmla="val 8000"/>
            </a:avLst>
          </a:prstGeom>
          <a:solidFill>
            <a:srgbClr val="0A1526"/>
          </a:solidFill>
          <a:ln w="12700">
            <a:solidFill>
              <a:srgbClr val="0A1526"/>
            </a:solidFill>
            <a:prstDash val="solid"/>
          </a:ln>
        </p:spPr>
        <p:txBody>
          <a:bodyPr/>
          <a:lstStyle/>
          <a:p>
            <a:endParaRPr lang="es-CL"/>
          </a:p>
        </p:txBody>
      </p:sp>
      <p:sp>
        <p:nvSpPr>
          <p:cNvPr id="36" name="Text 36"/>
          <p:cNvSpPr/>
          <p:nvPr/>
        </p:nvSpPr>
        <p:spPr>
          <a:xfrm>
            <a:off x="868680" y="5760000"/>
            <a:ext cx="10424160" cy="700000"/>
          </a:xfrm>
          <a:prstGeom prst="rect">
            <a:avLst/>
          </a:prstGeom>
          <a:noFill/>
          <a:ln/>
        </p:spPr>
        <p:txBody>
          <a:bodyPr wrap="square" lIns="0" tIns="0" rIns="0" bIns="0" rtlCol="0" anchor="ctr"/>
          <a:lstStyle/>
          <a:p>
            <a:pPr marL="0" indent="0" algn="l">
              <a:buNone/>
            </a:pPr>
            <a:r>
              <a:rPr lang="es-CL" sz="1300" b="1" i="0" dirty="0">
                <a:solidFill>
                  <a:srgbClr val="AC212E"/>
                </a:solidFill>
                <a:latin typeface="Calibri" pitchFamily="34" charset="0"/>
                <a:ea typeface="Calibri" pitchFamily="34" charset="-122"/>
                <a:cs typeface="Calibri" pitchFamily="34" charset="-120"/>
              </a:rPr>
              <a:t>Un conjunto ya limpio no es una ventaja.</a:t>
            </a:r>
            <a:r>
              <a:rPr lang="es-CL" sz="1300" b="0" i="0" dirty="0">
                <a:solidFill>
                  <a:srgbClr val="D7E3EE"/>
                </a:solidFill>
                <a:latin typeface="Calibri" pitchFamily="34" charset="0"/>
                <a:ea typeface="Calibri" pitchFamily="34" charset="-122"/>
                <a:cs typeface="Calibri" pitchFamily="34" charset="-120"/>
              </a:rPr>
              <a:t>   Si no hay valores faltantes, categorías inconsistentes ni decisiones que tomar, no hay nada que justificar, y el criterio de mayor peso de la Sumativa 1 queda sin evidencia.</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965960"/>
            <a:ext cx="6400800" cy="640080"/>
          </a:xfrm>
          <a:prstGeom prst="rect">
            <a:avLst/>
          </a:prstGeom>
          <a:noFill/>
          <a:ln/>
        </p:spPr>
        <p:txBody>
          <a:bodyPr wrap="square" lIns="0" tIns="0" rIns="0" bIns="0" rtlCol="0" anchor="ctr"/>
          <a:lstStyle/>
          <a:p>
            <a:pPr marL="0" indent="0">
              <a:buNone/>
            </a:pPr>
            <a:r>
              <a:rPr lang="en-US" sz="4600" b="1" kern="0" spc="300" dirty="0">
                <a:solidFill>
                  <a:srgbClr val="FFFFFF"/>
                </a:solidFill>
                <a:latin typeface="Cambria" pitchFamily="34" charset="0"/>
                <a:ea typeface="Cambria" pitchFamily="34" charset="-122"/>
                <a:cs typeface="Cambria" pitchFamily="34" charset="-120"/>
              </a:rPr>
              <a:t>FASE 1</a:t>
            </a:r>
            <a:endParaRPr lang="en-US" sz="4600" dirty="0"/>
          </a:p>
        </p:txBody>
      </p:sp>
      <p:sp>
        <p:nvSpPr>
          <p:cNvPr id="6" name="Text 2"/>
          <p:cNvSpPr/>
          <p:nvPr/>
        </p:nvSpPr>
        <p:spPr>
          <a:xfrm>
            <a:off x="548640" y="2697480"/>
            <a:ext cx="7680960" cy="548640"/>
          </a:xfrm>
          <a:prstGeom prst="rect">
            <a:avLst/>
          </a:prstGeom>
          <a:noFill/>
          <a:ln/>
        </p:spPr>
        <p:txBody>
          <a:bodyPr wrap="square" lIns="0" tIns="0" rIns="0" bIns="0" rtlCol="0" anchor="ctr"/>
          <a:lstStyle/>
          <a:p>
            <a:pPr marL="0" indent="0">
              <a:buNone/>
            </a:pPr>
            <a:r>
              <a:rPr lang="en-US" sz="2600" dirty="0">
                <a:solidFill>
                  <a:srgbClr val="D7E3EE"/>
                </a:solidFill>
                <a:latin typeface="Cambria" pitchFamily="34" charset="0"/>
                <a:ea typeface="Cambria" pitchFamily="34" charset="-122"/>
                <a:cs typeface="Cambria" pitchFamily="34" charset="-120"/>
              </a:rPr>
              <a:t>Definición y orientación de la situación</a:t>
            </a:r>
            <a:endParaRPr lang="en-US" sz="2600" dirty="0"/>
          </a:p>
        </p:txBody>
      </p:sp>
      <p:sp>
        <p:nvSpPr>
          <p:cNvPr id="7" name="Shape 3"/>
          <p:cNvSpPr/>
          <p:nvPr/>
        </p:nvSpPr>
        <p:spPr>
          <a:xfrm>
            <a:off x="548640" y="342900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703320"/>
            <a:ext cx="7863840" cy="822960"/>
          </a:xfrm>
          <a:prstGeom prst="rect">
            <a:avLst/>
          </a:prstGeom>
          <a:noFill/>
          <a:ln/>
        </p:spPr>
        <p:txBody>
          <a:bodyPr wrap="square" lIns="0" tIns="0" rIns="0" bIns="0" rtlCol="0" anchor="ctr"/>
          <a:lstStyle/>
          <a:p>
            <a:pPr marL="0" indent="0">
              <a:lnSpc>
                <a:spcPts val="2400"/>
              </a:lnSpc>
              <a:buNone/>
            </a:pPr>
            <a:r>
              <a:rPr lang="en-US" sz="1600" dirty="0">
                <a:solidFill>
                  <a:srgbClr val="D7E3EE"/>
                </a:solidFill>
                <a:latin typeface="Calibri" pitchFamily="34" charset="0"/>
                <a:ea typeface="Calibri" pitchFamily="34" charset="-122"/>
                <a:cs typeface="Calibri" pitchFamily="34" charset="-120"/>
              </a:rPr>
              <a:t>Evaluación Formativa 1 — Mapa conceptual</a:t>
            </a:r>
            <a:endParaRPr lang="en-US" sz="1600" dirty="0"/>
          </a:p>
          <a:p>
            <a:pPr marL="0" indent="0">
              <a:lnSpc>
                <a:spcPts val="2400"/>
              </a:lnSpc>
              <a:buNone/>
            </a:pPr>
            <a:r>
              <a:rPr lang="en-US" sz="1600" dirty="0">
                <a:solidFill>
                  <a:srgbClr val="D7E3EE"/>
                </a:solidFill>
                <a:latin typeface="Calibri" pitchFamily="34" charset="0"/>
                <a:ea typeface="Calibri" pitchFamily="34" charset="-122"/>
                <a:cs typeface="Calibri" pitchFamily="34" charset="-120"/>
              </a:rPr>
              <a:t>Exploración guiada de herramientas colaborativas en ciencia de datos</a:t>
            </a:r>
            <a:endParaRPr lang="en-US" sz="16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Semana 1   |   Trabajo grupal (3–4)   |   Formativa · 0% · 25 puntos</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Propósito de la Fase 1</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Planificar y representar conceptualmente el flujo de trabajo reproducible inicial del proyecto.</a:t>
            </a:r>
            <a:endParaRPr lang="en-US" sz="1400" dirty="0"/>
          </a:p>
        </p:txBody>
      </p:sp>
      <p:sp>
        <p:nvSpPr>
          <p:cNvPr id="4" name="Shape 2"/>
          <p:cNvSpPr/>
          <p:nvPr/>
        </p:nvSpPr>
        <p:spPr>
          <a:xfrm>
            <a:off x="548640" y="1837944"/>
            <a:ext cx="420624" cy="420624"/>
          </a:xfrm>
          <a:prstGeom prst="ellipse">
            <a:avLst/>
          </a:prstGeom>
          <a:solidFill>
            <a:srgbClr val="AC212E"/>
          </a:solidFill>
          <a:ln/>
        </p:spPr>
        <p:txBody>
          <a:bodyPr/>
          <a:lstStyle/>
          <a:p>
            <a:endParaRPr lang="es-CL"/>
          </a:p>
        </p:txBody>
      </p:sp>
      <p:sp>
        <p:nvSpPr>
          <p:cNvPr id="5" name="Text 3"/>
          <p:cNvSpPr/>
          <p:nvPr/>
        </p:nvSpPr>
        <p:spPr>
          <a:xfrm>
            <a:off x="548640" y="183794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783080"/>
            <a:ext cx="2194560" cy="384048"/>
          </a:xfrm>
          <a:prstGeom prst="rect">
            <a:avLst/>
          </a:prstGeom>
          <a:noFill/>
          <a:ln/>
        </p:spPr>
        <p:txBody>
          <a:bodyPr wrap="square" lIns="0" tIns="0" rIns="0" bIns="0" rtlCol="0" anchor="ctr"/>
          <a:lstStyle/>
          <a:p>
            <a:pPr marL="0" indent="0">
              <a:buNone/>
            </a:pPr>
            <a:r>
              <a:rPr lang="en-US" sz="1700" b="1" dirty="0">
                <a:solidFill>
                  <a:srgbClr val="AC212E"/>
                </a:solidFill>
                <a:latin typeface="Calibri" pitchFamily="34" charset="0"/>
                <a:ea typeface="Calibri" pitchFamily="34" charset="-122"/>
                <a:cs typeface="Calibri" pitchFamily="34" charset="-120"/>
              </a:rPr>
              <a:t>Identificar</a:t>
            </a:r>
            <a:endParaRPr lang="en-US" sz="1700" dirty="0"/>
          </a:p>
        </p:txBody>
      </p:sp>
      <p:sp>
        <p:nvSpPr>
          <p:cNvPr id="7" name="Text 5"/>
          <p:cNvSpPr/>
          <p:nvPr/>
        </p:nvSpPr>
        <p:spPr>
          <a:xfrm>
            <a:off x="3291840" y="1783080"/>
            <a:ext cx="4937760" cy="548640"/>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Qué herramientas de software científico va a usar el grupo y para qué.</a:t>
            </a:r>
            <a:endParaRPr lang="en-US" sz="1400" dirty="0"/>
          </a:p>
        </p:txBody>
      </p:sp>
      <p:sp>
        <p:nvSpPr>
          <p:cNvPr id="8" name="Shape 6"/>
          <p:cNvSpPr/>
          <p:nvPr/>
        </p:nvSpPr>
        <p:spPr>
          <a:xfrm>
            <a:off x="548640" y="2889504"/>
            <a:ext cx="420624" cy="420624"/>
          </a:xfrm>
          <a:prstGeom prst="ellipse">
            <a:avLst/>
          </a:prstGeom>
          <a:solidFill>
            <a:srgbClr val="AC212E"/>
          </a:solidFill>
          <a:ln/>
        </p:spPr>
        <p:txBody>
          <a:bodyPr/>
          <a:lstStyle/>
          <a:p>
            <a:endParaRPr lang="es-CL"/>
          </a:p>
        </p:txBody>
      </p:sp>
      <p:sp>
        <p:nvSpPr>
          <p:cNvPr id="9" name="Text 7"/>
          <p:cNvSpPr/>
          <p:nvPr/>
        </p:nvSpPr>
        <p:spPr>
          <a:xfrm>
            <a:off x="548640" y="288950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43000" y="2834640"/>
            <a:ext cx="2194560" cy="384048"/>
          </a:xfrm>
          <a:prstGeom prst="rect">
            <a:avLst/>
          </a:prstGeom>
          <a:noFill/>
          <a:ln/>
        </p:spPr>
        <p:txBody>
          <a:bodyPr wrap="square" lIns="0" tIns="0" rIns="0" bIns="0" rtlCol="0" anchor="ctr"/>
          <a:lstStyle/>
          <a:p>
            <a:pPr marL="0" indent="0">
              <a:buNone/>
            </a:pPr>
            <a:r>
              <a:rPr lang="en-US" sz="1700" b="1" dirty="0">
                <a:solidFill>
                  <a:srgbClr val="AC212E"/>
                </a:solidFill>
                <a:latin typeface="Calibri" pitchFamily="34" charset="0"/>
                <a:ea typeface="Calibri" pitchFamily="34" charset="-122"/>
                <a:cs typeface="Calibri" pitchFamily="34" charset="-120"/>
              </a:rPr>
              <a:t>Anticipar</a:t>
            </a:r>
            <a:endParaRPr lang="en-US" sz="1700" dirty="0"/>
          </a:p>
        </p:txBody>
      </p:sp>
      <p:sp>
        <p:nvSpPr>
          <p:cNvPr id="11" name="Text 9"/>
          <p:cNvSpPr/>
          <p:nvPr/>
        </p:nvSpPr>
        <p:spPr>
          <a:xfrm>
            <a:off x="3291840" y="2834640"/>
            <a:ext cx="4937760" cy="548640"/>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Cómo se configurará el entorno reproducible que se implementa después.</a:t>
            </a:r>
            <a:endParaRPr lang="en-US" sz="1400" dirty="0"/>
          </a:p>
        </p:txBody>
      </p:sp>
      <p:sp>
        <p:nvSpPr>
          <p:cNvPr id="12" name="Shape 10"/>
          <p:cNvSpPr/>
          <p:nvPr/>
        </p:nvSpPr>
        <p:spPr>
          <a:xfrm>
            <a:off x="548640" y="3941064"/>
            <a:ext cx="420624" cy="420624"/>
          </a:xfrm>
          <a:prstGeom prst="ellipse">
            <a:avLst/>
          </a:prstGeom>
          <a:solidFill>
            <a:srgbClr val="AC212E"/>
          </a:solidFill>
          <a:ln/>
        </p:spPr>
        <p:txBody>
          <a:bodyPr/>
          <a:lstStyle/>
          <a:p>
            <a:endParaRPr lang="es-CL"/>
          </a:p>
        </p:txBody>
      </p:sp>
      <p:sp>
        <p:nvSpPr>
          <p:cNvPr id="13" name="Text 11"/>
          <p:cNvSpPr/>
          <p:nvPr/>
        </p:nvSpPr>
        <p:spPr>
          <a:xfrm>
            <a:off x="548640" y="394106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3886200"/>
            <a:ext cx="2194560" cy="384048"/>
          </a:xfrm>
          <a:prstGeom prst="rect">
            <a:avLst/>
          </a:prstGeom>
          <a:noFill/>
          <a:ln/>
        </p:spPr>
        <p:txBody>
          <a:bodyPr wrap="square" lIns="0" tIns="0" rIns="0" bIns="0" rtlCol="0" anchor="ctr"/>
          <a:lstStyle/>
          <a:p>
            <a:pPr marL="0" indent="0">
              <a:buNone/>
            </a:pPr>
            <a:r>
              <a:rPr lang="en-US" sz="1700" b="1" dirty="0">
                <a:solidFill>
                  <a:srgbClr val="AC212E"/>
                </a:solidFill>
                <a:latin typeface="Calibri" pitchFamily="34" charset="0"/>
                <a:ea typeface="Calibri" pitchFamily="34" charset="-122"/>
                <a:cs typeface="Calibri" pitchFamily="34" charset="-120"/>
              </a:rPr>
              <a:t>Organizar</a:t>
            </a:r>
            <a:endParaRPr lang="en-US" sz="1700" dirty="0"/>
          </a:p>
        </p:txBody>
      </p:sp>
      <p:sp>
        <p:nvSpPr>
          <p:cNvPr id="15" name="Text 13"/>
          <p:cNvSpPr/>
          <p:nvPr/>
        </p:nvSpPr>
        <p:spPr>
          <a:xfrm>
            <a:off x="3291840" y="3886200"/>
            <a:ext cx="4937760" cy="548640"/>
          </a:xfrm>
          <a:prstGeom prst="rect">
            <a:avLst/>
          </a:prstGeom>
          <a:noFill/>
          <a:ln/>
        </p:spPr>
        <p:txBody>
          <a:bodyPr wrap="square" lIns="0" tIns="0" rIns="0" bIns="0" rtlCol="0" anchor="ctr"/>
          <a:lstStyle/>
          <a:p>
            <a:pPr marL="0" indent="0">
              <a:buNone/>
            </a:pPr>
            <a:r>
              <a:rPr lang="en-US" sz="1400" dirty="0">
                <a:solidFill>
                  <a:srgbClr val="06304A"/>
                </a:solidFill>
                <a:latin typeface="Calibri" pitchFamily="34" charset="0"/>
                <a:ea typeface="Calibri" pitchFamily="34" charset="-122"/>
                <a:cs typeface="Calibri" pitchFamily="34" charset="-120"/>
              </a:rPr>
              <a:t>La relación entre problema, datos, herramientas y procesos.</a:t>
            </a:r>
            <a:endParaRPr lang="en-US" sz="1400" dirty="0"/>
          </a:p>
        </p:txBody>
      </p:sp>
      <p:sp>
        <p:nvSpPr>
          <p:cNvPr id="16" name="Shape 14"/>
          <p:cNvSpPr/>
          <p:nvPr/>
        </p:nvSpPr>
        <p:spPr>
          <a:xfrm>
            <a:off x="8549640" y="1691640"/>
            <a:ext cx="3063240" cy="3291840"/>
          </a:xfrm>
          <a:prstGeom prst="roundRect">
            <a:avLst>
              <a:gd name="adj" fmla="val 2687"/>
            </a:avLst>
          </a:prstGeom>
          <a:solidFill>
            <a:srgbClr val="0A1526"/>
          </a:solidFill>
          <a:ln w="12700">
            <a:solidFill>
              <a:srgbClr val="0A1526"/>
            </a:solidFill>
            <a:prstDash val="solid"/>
          </a:ln>
        </p:spPr>
        <p:txBody>
          <a:bodyPr/>
          <a:lstStyle/>
          <a:p>
            <a:endParaRPr lang="es-CL"/>
          </a:p>
        </p:txBody>
      </p:sp>
      <p:sp>
        <p:nvSpPr>
          <p:cNvPr id="17" name="Text 15"/>
          <p:cNvSpPr/>
          <p:nvPr/>
        </p:nvSpPr>
        <p:spPr>
          <a:xfrm>
            <a:off x="8823960" y="1920240"/>
            <a:ext cx="2560320" cy="320040"/>
          </a:xfrm>
          <a:prstGeom prst="rect">
            <a:avLst/>
          </a:prstGeom>
          <a:noFill/>
          <a:ln/>
        </p:spPr>
        <p:txBody>
          <a:bodyPr wrap="square" lIns="0" tIns="0" rIns="0" bIns="0" rtlCol="0" anchor="ctr"/>
          <a:lstStyle/>
          <a:p>
            <a:pPr marL="0" indent="0">
              <a:buNone/>
            </a:pPr>
            <a:r>
              <a:rPr lang="en-US" sz="1200" b="1" dirty="0">
                <a:solidFill>
                  <a:srgbClr val="D7E3EE"/>
                </a:solidFill>
                <a:latin typeface="Calibri" pitchFamily="34" charset="0"/>
                <a:ea typeface="Calibri" pitchFamily="34" charset="-122"/>
                <a:cs typeface="Calibri" pitchFamily="34" charset="-120"/>
              </a:rPr>
              <a:t>Resultado de aprendizaje</a:t>
            </a:r>
            <a:endParaRPr lang="en-US" sz="1200" dirty="0"/>
          </a:p>
        </p:txBody>
      </p:sp>
      <p:sp>
        <p:nvSpPr>
          <p:cNvPr id="18" name="Text 16"/>
          <p:cNvSpPr/>
          <p:nvPr/>
        </p:nvSpPr>
        <p:spPr>
          <a:xfrm>
            <a:off x="8823960" y="2286000"/>
            <a:ext cx="2560320" cy="137160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Aplicar buenas prácticas y herramientas de software científico para la gestión y documentación reproducible de proyectos en ciencia de datos.</a:t>
            </a:r>
            <a:endParaRPr lang="en-US" sz="1300" dirty="0"/>
          </a:p>
        </p:txBody>
      </p:sp>
      <p:sp>
        <p:nvSpPr>
          <p:cNvPr id="19" name="Text 17"/>
          <p:cNvSpPr/>
          <p:nvPr/>
        </p:nvSpPr>
        <p:spPr>
          <a:xfrm>
            <a:off x="8823960" y="4343400"/>
            <a:ext cx="2560320" cy="365760"/>
          </a:xfrm>
          <a:prstGeom prst="rect">
            <a:avLst/>
          </a:prstGeom>
          <a:noFill/>
          <a:ln/>
        </p:spPr>
        <p:txBody>
          <a:bodyPr wrap="square" lIns="0" tIns="0" rIns="0" bIns="0" rtlCol="0" anchor="ctr"/>
          <a:lstStyle/>
          <a:p>
            <a:pPr marL="0" indent="0">
              <a:buNone/>
            </a:pPr>
            <a:r>
              <a:rPr lang="en-US" sz="1400" b="1" dirty="0">
                <a:solidFill>
                  <a:srgbClr val="D7E3EE"/>
                </a:solidFill>
                <a:latin typeface="Calibri" pitchFamily="34" charset="0"/>
                <a:ea typeface="Calibri" pitchFamily="34" charset="-122"/>
                <a:cs typeface="Calibri" pitchFamily="34" charset="-120"/>
              </a:rPr>
              <a:t>ID 1.1   ID 1.2   ID 1.3</a:t>
            </a:r>
            <a:endParaRPr lang="en-US" sz="1400" dirty="0"/>
          </a:p>
        </p:txBody>
      </p:sp>
      <p:sp>
        <p:nvSpPr>
          <p:cNvPr id="20" name="Text 18"/>
          <p:cNvSpPr/>
          <p:nvPr/>
        </p:nvSpPr>
        <p:spPr>
          <a:xfrm>
            <a:off x="548640" y="5303520"/>
            <a:ext cx="11064240" cy="45720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En esta fase no se programa, no se configura el control de versiones y no se documenta técnicamente el proyecto.</a:t>
            </a:r>
            <a:endParaRPr lang="en-US" sz="1500" dirty="0"/>
          </a:p>
        </p:txBody>
      </p:sp>
      <p:sp>
        <p:nvSpPr>
          <p:cNvPr id="21" name="Text 19"/>
          <p:cNvSpPr/>
          <p:nvPr/>
        </p:nvSpPr>
        <p:spPr>
          <a:xfrm>
            <a:off x="548640" y="5715000"/>
            <a:ext cx="11064240" cy="365760"/>
          </a:xfrm>
          <a:prstGeom prst="rect">
            <a:avLst/>
          </a:prstGeom>
          <a:noFill/>
          <a:ln/>
        </p:spPr>
        <p:txBody>
          <a:bodyPr wrap="square" lIns="0" tIns="0" rIns="0" bIns="0" rtlCol="0" anchor="ctr"/>
          <a:lstStyle/>
          <a:p>
            <a:pPr marL="0" indent="0">
              <a:buNone/>
            </a:pPr>
            <a:r>
              <a:rPr lang="en-US" sz="1400" dirty="0">
                <a:solidFill>
                  <a:srgbClr val="5A6B7B"/>
                </a:solidFill>
                <a:latin typeface="Calibri" pitchFamily="34" charset="0"/>
                <a:ea typeface="Calibri" pitchFamily="34" charset="-122"/>
                <a:cs typeface="Calibri" pitchFamily="34" charset="-120"/>
              </a:rPr>
              <a:t>Todo eso ocurre en la evaluación sumativa. Aquí se planifica.</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indicadores se están midiendo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tres indicadores del RA1 atraviesan toda la actividad.</a:t>
            </a:r>
            <a:endParaRPr lang="en-US" sz="1400" dirty="0"/>
          </a:p>
        </p:txBody>
      </p:sp>
      <p:sp>
        <p:nvSpPr>
          <p:cNvPr id="4" name="Shape 2"/>
          <p:cNvSpPr/>
          <p:nvPr/>
        </p:nvSpPr>
        <p:spPr>
          <a:xfrm>
            <a:off x="548640" y="1783080"/>
            <a:ext cx="1106424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65960"/>
            <a:ext cx="1051560" cy="45720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ID 1.1</a:t>
            </a:r>
            <a:endParaRPr lang="en-US" sz="2000" dirty="0"/>
          </a:p>
        </p:txBody>
      </p:sp>
      <p:sp>
        <p:nvSpPr>
          <p:cNvPr id="6" name="Text 4"/>
          <p:cNvSpPr/>
          <p:nvPr/>
        </p:nvSpPr>
        <p:spPr>
          <a:xfrm>
            <a:off x="2011680" y="1947672"/>
            <a:ext cx="34747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Herramientas de software científico</a:t>
            </a:r>
            <a:endParaRPr lang="en-US" sz="1500" dirty="0"/>
          </a:p>
        </p:txBody>
      </p:sp>
      <p:sp>
        <p:nvSpPr>
          <p:cNvPr id="7" name="Text 5"/>
          <p:cNvSpPr/>
          <p:nvPr/>
        </p:nvSpPr>
        <p:spPr>
          <a:xfrm>
            <a:off x="2011680" y="2331720"/>
            <a:ext cx="9235440" cy="45720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Aplican herramientas científicas en problemas de análisis de datos en contexto profesional.</a:t>
            </a:r>
            <a:endParaRPr lang="en-US" sz="1300" dirty="0"/>
          </a:p>
        </p:txBody>
      </p:sp>
      <p:sp>
        <p:nvSpPr>
          <p:cNvPr id="8" name="Shape 6"/>
          <p:cNvSpPr/>
          <p:nvPr/>
        </p:nvSpPr>
        <p:spPr>
          <a:xfrm>
            <a:off x="548640" y="3154680"/>
            <a:ext cx="1106424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9" name="Text 7"/>
          <p:cNvSpPr/>
          <p:nvPr/>
        </p:nvSpPr>
        <p:spPr>
          <a:xfrm>
            <a:off x="868680" y="3337560"/>
            <a:ext cx="1051560" cy="45720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ID 1.2</a:t>
            </a:r>
            <a:endParaRPr lang="en-US" sz="2000" dirty="0"/>
          </a:p>
        </p:txBody>
      </p:sp>
      <p:sp>
        <p:nvSpPr>
          <p:cNvPr id="10" name="Text 8"/>
          <p:cNvSpPr/>
          <p:nvPr/>
        </p:nvSpPr>
        <p:spPr>
          <a:xfrm>
            <a:off x="2011680" y="3319272"/>
            <a:ext cx="34747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Control de versiones y notebooks</a:t>
            </a:r>
            <a:endParaRPr lang="en-US" sz="1500" dirty="0"/>
          </a:p>
        </p:txBody>
      </p:sp>
      <p:sp>
        <p:nvSpPr>
          <p:cNvPr id="11" name="Text 9"/>
          <p:cNvSpPr/>
          <p:nvPr/>
        </p:nvSpPr>
        <p:spPr>
          <a:xfrm>
            <a:off x="2011680" y="3703320"/>
            <a:ext cx="9235440" cy="45720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Configuran Git/GitHub y la gestión con Jupyter, asegurando colaboración y reproducibilidad.</a:t>
            </a:r>
            <a:endParaRPr lang="en-US" sz="1300" dirty="0"/>
          </a:p>
        </p:txBody>
      </p:sp>
      <p:sp>
        <p:nvSpPr>
          <p:cNvPr id="12" name="Shape 10"/>
          <p:cNvSpPr/>
          <p:nvPr/>
        </p:nvSpPr>
        <p:spPr>
          <a:xfrm>
            <a:off x="548640" y="4526280"/>
            <a:ext cx="1106424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3" name="Text 11"/>
          <p:cNvSpPr/>
          <p:nvPr/>
        </p:nvSpPr>
        <p:spPr>
          <a:xfrm>
            <a:off x="868680" y="4709160"/>
            <a:ext cx="1051560" cy="457200"/>
          </a:xfrm>
          <a:prstGeom prst="rect">
            <a:avLst/>
          </a:prstGeom>
          <a:noFill/>
          <a:ln/>
        </p:spPr>
        <p:txBody>
          <a:bodyPr wrap="square" lIns="0" tIns="0" rIns="0" bIns="0" rtlCol="0" anchor="ctr"/>
          <a:lstStyle/>
          <a:p>
            <a:pPr marL="0" indent="0">
              <a:buNone/>
            </a:pPr>
            <a:r>
              <a:rPr lang="en-US" sz="2000" b="1" dirty="0">
                <a:solidFill>
                  <a:srgbClr val="AC212E"/>
                </a:solidFill>
                <a:latin typeface="Cambria" pitchFamily="34" charset="0"/>
                <a:ea typeface="Cambria" pitchFamily="34" charset="-122"/>
                <a:cs typeface="Cambria" pitchFamily="34" charset="-120"/>
              </a:rPr>
              <a:t>ID 1.3</a:t>
            </a:r>
            <a:endParaRPr lang="en-US" sz="2000" dirty="0"/>
          </a:p>
        </p:txBody>
      </p:sp>
      <p:sp>
        <p:nvSpPr>
          <p:cNvPr id="14" name="Text 12"/>
          <p:cNvSpPr/>
          <p:nvPr/>
        </p:nvSpPr>
        <p:spPr>
          <a:xfrm>
            <a:off x="2011680" y="4690872"/>
            <a:ext cx="347472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Documentación colaborativa</a:t>
            </a:r>
            <a:endParaRPr lang="en-US" sz="1500" dirty="0"/>
          </a:p>
        </p:txBody>
      </p:sp>
      <p:sp>
        <p:nvSpPr>
          <p:cNvPr id="15" name="Text 13"/>
          <p:cNvSpPr/>
          <p:nvPr/>
        </p:nvSpPr>
        <p:spPr>
          <a:xfrm>
            <a:off x="2011680" y="5074920"/>
            <a:ext cx="9235440" cy="45720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Documentan avances integrando código, texto y referencias técnicas según buenas prácticas.</a:t>
            </a:r>
            <a:endParaRPr lang="en-US" sz="1300" dirty="0"/>
          </a:p>
        </p:txBody>
      </p:sp>
      <p:sp>
        <p:nvSpPr>
          <p:cNvPr id="16" name="Text 14"/>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En la Fase 1 estos indicadores se evidencian de forma proyectada: el mapa muestra cómo se van a cumplir, no que ya se cumplieron.</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Qué deben hacer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Trabajo grupal (3–4 integrantes) · asincrónico · dedicación estimada 90 minutos · 1 intento</a:t>
            </a:r>
            <a:endParaRPr lang="en-US" sz="1400" dirty="0"/>
          </a:p>
        </p:txBody>
      </p:sp>
      <p:sp>
        <p:nvSpPr>
          <p:cNvPr id="4" name="Shape 2"/>
          <p:cNvSpPr/>
          <p:nvPr/>
        </p:nvSpPr>
        <p:spPr>
          <a:xfrm>
            <a:off x="548640"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5" name="Shape 3"/>
          <p:cNvSpPr/>
          <p:nvPr/>
        </p:nvSpPr>
        <p:spPr>
          <a:xfrm>
            <a:off x="822960" y="2148840"/>
            <a:ext cx="457200" cy="457200"/>
          </a:xfrm>
          <a:prstGeom prst="ellipse">
            <a:avLst/>
          </a:prstGeom>
          <a:solidFill>
            <a:srgbClr val="AC212E"/>
          </a:solidFill>
          <a:ln/>
        </p:spPr>
        <p:txBody>
          <a:bodyPr/>
          <a:lstStyle/>
          <a:p>
            <a:endParaRPr lang="es-CL"/>
          </a:p>
        </p:txBody>
      </p:sp>
      <p:sp>
        <p:nvSpPr>
          <p:cNvPr id="6" name="Text 4"/>
          <p:cNvSpPr/>
          <p:nvPr/>
        </p:nvSpPr>
        <p:spPr>
          <a:xfrm>
            <a:off x="822960"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22960"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Revisar</a:t>
            </a:r>
            <a:endParaRPr lang="en-US" sz="1700" dirty="0"/>
          </a:p>
        </p:txBody>
      </p:sp>
      <p:sp>
        <p:nvSpPr>
          <p:cNvPr id="8" name="Text 6"/>
          <p:cNvSpPr/>
          <p:nvPr/>
        </p:nvSpPr>
        <p:spPr>
          <a:xfrm>
            <a:off x="822960"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El material de la semana: guías técnicas, recursos disciplinares y la rúbrica.</a:t>
            </a:r>
            <a:endParaRPr lang="en-US" sz="1250" dirty="0"/>
          </a:p>
        </p:txBody>
      </p:sp>
      <p:sp>
        <p:nvSpPr>
          <p:cNvPr id="9" name="Shape 7"/>
          <p:cNvSpPr/>
          <p:nvPr/>
        </p:nvSpPr>
        <p:spPr>
          <a:xfrm>
            <a:off x="3410712"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0" name="Shape 8"/>
          <p:cNvSpPr/>
          <p:nvPr/>
        </p:nvSpPr>
        <p:spPr>
          <a:xfrm>
            <a:off x="3685032" y="2148840"/>
            <a:ext cx="457200" cy="457200"/>
          </a:xfrm>
          <a:prstGeom prst="ellipse">
            <a:avLst/>
          </a:prstGeom>
          <a:solidFill>
            <a:srgbClr val="AC212E"/>
          </a:solidFill>
          <a:ln/>
        </p:spPr>
        <p:txBody>
          <a:bodyPr/>
          <a:lstStyle/>
          <a:p>
            <a:endParaRPr lang="es-CL"/>
          </a:p>
        </p:txBody>
      </p:sp>
      <p:sp>
        <p:nvSpPr>
          <p:cNvPr id="11" name="Text 9"/>
          <p:cNvSpPr/>
          <p:nvPr/>
        </p:nvSpPr>
        <p:spPr>
          <a:xfrm>
            <a:off x="3685032"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3685032"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Acordar</a:t>
            </a:r>
            <a:endParaRPr lang="en-US" sz="1700" dirty="0"/>
          </a:p>
        </p:txBody>
      </p:sp>
      <p:sp>
        <p:nvSpPr>
          <p:cNvPr id="13" name="Text 11"/>
          <p:cNvSpPr/>
          <p:nvPr/>
        </p:nvSpPr>
        <p:spPr>
          <a:xfrm>
            <a:off x="3685032"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La problemática asignada y el conjunto de datos con que trabajará el grupo.</a:t>
            </a:r>
            <a:endParaRPr lang="en-US" sz="1250" dirty="0"/>
          </a:p>
        </p:txBody>
      </p:sp>
      <p:sp>
        <p:nvSpPr>
          <p:cNvPr id="14" name="Shape 12"/>
          <p:cNvSpPr/>
          <p:nvPr/>
        </p:nvSpPr>
        <p:spPr>
          <a:xfrm>
            <a:off x="6272784"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15" name="Shape 13"/>
          <p:cNvSpPr/>
          <p:nvPr/>
        </p:nvSpPr>
        <p:spPr>
          <a:xfrm>
            <a:off x="6547104" y="2148840"/>
            <a:ext cx="457200" cy="457200"/>
          </a:xfrm>
          <a:prstGeom prst="ellipse">
            <a:avLst/>
          </a:prstGeom>
          <a:solidFill>
            <a:srgbClr val="AC212E"/>
          </a:solidFill>
          <a:ln/>
        </p:spPr>
        <p:txBody>
          <a:bodyPr/>
          <a:lstStyle/>
          <a:p>
            <a:endParaRPr lang="es-CL"/>
          </a:p>
        </p:txBody>
      </p:sp>
      <p:sp>
        <p:nvSpPr>
          <p:cNvPr id="16" name="Text 14"/>
          <p:cNvSpPr/>
          <p:nvPr/>
        </p:nvSpPr>
        <p:spPr>
          <a:xfrm>
            <a:off x="6547104"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547104"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Elaborar</a:t>
            </a:r>
            <a:endParaRPr lang="en-US" sz="1700" dirty="0"/>
          </a:p>
        </p:txBody>
      </p:sp>
      <p:sp>
        <p:nvSpPr>
          <p:cNvPr id="18" name="Text 16"/>
          <p:cNvSpPr/>
          <p:nvPr/>
        </p:nvSpPr>
        <p:spPr>
          <a:xfrm>
            <a:off x="6547104"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El mapa conceptual del flujo reproducible en la herramienta que elijan.</a:t>
            </a:r>
            <a:endParaRPr lang="en-US" sz="1250" dirty="0"/>
          </a:p>
        </p:txBody>
      </p:sp>
      <p:sp>
        <p:nvSpPr>
          <p:cNvPr id="19" name="Shape 17"/>
          <p:cNvSpPr/>
          <p:nvPr/>
        </p:nvSpPr>
        <p:spPr>
          <a:xfrm>
            <a:off x="9134856" y="1920240"/>
            <a:ext cx="2651760" cy="22860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20" name="Shape 18"/>
          <p:cNvSpPr/>
          <p:nvPr/>
        </p:nvSpPr>
        <p:spPr>
          <a:xfrm>
            <a:off x="9409176" y="2148840"/>
            <a:ext cx="457200" cy="457200"/>
          </a:xfrm>
          <a:prstGeom prst="ellipse">
            <a:avLst/>
          </a:prstGeom>
          <a:solidFill>
            <a:srgbClr val="AC212E"/>
          </a:solidFill>
          <a:ln/>
        </p:spPr>
        <p:txBody>
          <a:bodyPr/>
          <a:lstStyle/>
          <a:p>
            <a:endParaRPr lang="es-CL"/>
          </a:p>
        </p:txBody>
      </p:sp>
      <p:sp>
        <p:nvSpPr>
          <p:cNvPr id="21" name="Text 19"/>
          <p:cNvSpPr/>
          <p:nvPr/>
        </p:nvSpPr>
        <p:spPr>
          <a:xfrm>
            <a:off x="9409176" y="214884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9409176" y="2743200"/>
            <a:ext cx="210312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Verificar</a:t>
            </a:r>
            <a:endParaRPr lang="en-US" sz="1700" dirty="0"/>
          </a:p>
        </p:txBody>
      </p:sp>
      <p:sp>
        <p:nvSpPr>
          <p:cNvPr id="23" name="Text 21"/>
          <p:cNvSpPr/>
          <p:nvPr/>
        </p:nvSpPr>
        <p:spPr>
          <a:xfrm>
            <a:off x="9409176" y="3154680"/>
            <a:ext cx="2148840" cy="914400"/>
          </a:xfrm>
          <a:prstGeom prst="rect">
            <a:avLst/>
          </a:prstGeom>
          <a:noFill/>
          <a:ln/>
        </p:spPr>
        <p:txBody>
          <a:bodyPr wrap="square" lIns="0" tIns="0" rIns="0" bIns="0" rtlCol="0" anchor="ctr"/>
          <a:lstStyle/>
          <a:p>
            <a:pPr marL="0" indent="0">
              <a:lnSpc>
                <a:spcPts val="1700"/>
              </a:lnSpc>
              <a:buNone/>
            </a:pPr>
            <a:r>
              <a:rPr lang="en-US" sz="1250" dirty="0">
                <a:solidFill>
                  <a:srgbClr val="D7E3EE"/>
                </a:solidFill>
                <a:latin typeface="Calibri" pitchFamily="34" charset="0"/>
                <a:ea typeface="Calibri" pitchFamily="34" charset="-122"/>
                <a:cs typeface="Calibri" pitchFamily="34" charset="-120"/>
              </a:rPr>
              <a:t>Los aspectos formales y subir el archivo al buzón de tareas.</a:t>
            </a:r>
            <a:endParaRPr lang="en-US" sz="1250" dirty="0"/>
          </a:p>
        </p:txBody>
      </p:sp>
      <p:sp>
        <p:nvSpPr>
          <p:cNvPr id="24" name="Text 22"/>
          <p:cNvSpPr/>
          <p:nvPr/>
        </p:nvSpPr>
        <p:spPr>
          <a:xfrm>
            <a:off x="548640" y="4617720"/>
            <a:ext cx="548640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Herramientas sugeridas para el mapa</a:t>
            </a:r>
            <a:endParaRPr lang="en-US" sz="1400" dirty="0"/>
          </a:p>
        </p:txBody>
      </p:sp>
      <p:sp>
        <p:nvSpPr>
          <p:cNvPr id="25" name="Text 23"/>
          <p:cNvSpPr/>
          <p:nvPr/>
        </p:nvSpPr>
        <p:spPr>
          <a:xfrm>
            <a:off x="548640" y="4983480"/>
            <a:ext cx="1106424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Lucidchart   ·   XMind   ·   MindMeister   ·   Canva   ·   Miro   ·   PowerPoint u otra similar</a:t>
            </a:r>
            <a:endParaRPr lang="en-US" sz="1400" dirty="0"/>
          </a:p>
        </p:txBody>
      </p:sp>
      <p:sp>
        <p:nvSpPr>
          <p:cNvPr id="26" name="Text 24"/>
          <p:cNvSpPr/>
          <p:nvPr/>
        </p:nvSpPr>
        <p:spPr>
          <a:xfrm>
            <a:off x="548640" y="5577840"/>
            <a:ext cx="11064240" cy="411480"/>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Recomendación: elaboren primero el mapa y después redacten. Escribir suele revelar vacíos que conviene corregir antes de entregar.</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debe contener el mapa conceptual</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Seis elementos exigidos por las instrucciones. Ninguno es opcional.</a:t>
            </a:r>
            <a:endParaRPr lang="en-US" sz="1400" dirty="0"/>
          </a:p>
        </p:txBody>
      </p:sp>
      <p:sp>
        <p:nvSpPr>
          <p:cNvPr id="4" name="Shape 2"/>
          <p:cNvSpPr/>
          <p:nvPr/>
        </p:nvSpPr>
        <p:spPr>
          <a:xfrm>
            <a:off x="54864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112264"/>
            <a:ext cx="402336" cy="402336"/>
          </a:xfrm>
          <a:prstGeom prst="ellipse">
            <a:avLst/>
          </a:prstGeom>
          <a:solidFill>
            <a:srgbClr val="AC212E"/>
          </a:solidFill>
          <a:ln/>
        </p:spPr>
        <p:txBody>
          <a:bodyPr/>
          <a:lstStyle/>
          <a:p>
            <a:endParaRPr lang="es-CL"/>
          </a:p>
        </p:txBody>
      </p:sp>
      <p:sp>
        <p:nvSpPr>
          <p:cNvPr id="6" name="Text 4"/>
          <p:cNvSpPr/>
          <p:nvPr/>
        </p:nvSpPr>
        <p:spPr>
          <a:xfrm>
            <a:off x="804672" y="211226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7160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Representación visual del flujo de trabajo reproducible del problema y dataset asignado</a:t>
            </a:r>
            <a:endParaRPr lang="en-US" sz="1300" dirty="0"/>
          </a:p>
        </p:txBody>
      </p:sp>
      <p:sp>
        <p:nvSpPr>
          <p:cNvPr id="8" name="Shape 6"/>
          <p:cNvSpPr/>
          <p:nvPr/>
        </p:nvSpPr>
        <p:spPr>
          <a:xfrm>
            <a:off x="6309360" y="1783080"/>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9" name="Shape 7"/>
          <p:cNvSpPr/>
          <p:nvPr/>
        </p:nvSpPr>
        <p:spPr>
          <a:xfrm>
            <a:off x="6565392" y="2112264"/>
            <a:ext cx="402336" cy="402336"/>
          </a:xfrm>
          <a:prstGeom prst="ellipse">
            <a:avLst/>
          </a:prstGeom>
          <a:solidFill>
            <a:srgbClr val="AC212E"/>
          </a:solidFill>
          <a:ln/>
        </p:spPr>
        <p:txBody>
          <a:bodyPr/>
          <a:lstStyle/>
          <a:p>
            <a:endParaRPr lang="es-CL"/>
          </a:p>
        </p:txBody>
      </p:sp>
      <p:sp>
        <p:nvSpPr>
          <p:cNvPr id="10" name="Text 8"/>
          <p:cNvSpPr/>
          <p:nvPr/>
        </p:nvSpPr>
        <p:spPr>
          <a:xfrm>
            <a:off x="6565392" y="211226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7132320" y="1892808"/>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Integración de las herramientas: GitHub, Jupyter Notebooks y control de versiones</a:t>
            </a:r>
            <a:endParaRPr lang="en-US" sz="1300" dirty="0"/>
          </a:p>
        </p:txBody>
      </p:sp>
      <p:sp>
        <p:nvSpPr>
          <p:cNvPr id="12" name="Shape 10"/>
          <p:cNvSpPr/>
          <p:nvPr/>
        </p:nvSpPr>
        <p:spPr>
          <a:xfrm>
            <a:off x="54864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3" name="Shape 11"/>
          <p:cNvSpPr/>
          <p:nvPr/>
        </p:nvSpPr>
        <p:spPr>
          <a:xfrm>
            <a:off x="804672" y="3410712"/>
            <a:ext cx="402336" cy="402336"/>
          </a:xfrm>
          <a:prstGeom prst="ellipse">
            <a:avLst/>
          </a:prstGeom>
          <a:solidFill>
            <a:srgbClr val="AC212E"/>
          </a:solidFill>
          <a:ln/>
        </p:spPr>
        <p:txBody>
          <a:bodyPr/>
          <a:lstStyle/>
          <a:p>
            <a:endParaRPr lang="es-CL"/>
          </a:p>
        </p:txBody>
      </p:sp>
      <p:sp>
        <p:nvSpPr>
          <p:cNvPr id="14" name="Text 12"/>
          <p:cNvSpPr/>
          <p:nvPr/>
        </p:nvSpPr>
        <p:spPr>
          <a:xfrm>
            <a:off x="804672" y="341071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37160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Estructura conceptual del entorno técnico: repositorio, carpetas, archivos y commits proyectados</a:t>
            </a:r>
            <a:endParaRPr lang="en-US" sz="1300" dirty="0"/>
          </a:p>
        </p:txBody>
      </p:sp>
      <p:sp>
        <p:nvSpPr>
          <p:cNvPr id="16" name="Shape 14"/>
          <p:cNvSpPr/>
          <p:nvPr/>
        </p:nvSpPr>
        <p:spPr>
          <a:xfrm>
            <a:off x="6309360" y="3081528"/>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17" name="Shape 15"/>
          <p:cNvSpPr/>
          <p:nvPr/>
        </p:nvSpPr>
        <p:spPr>
          <a:xfrm>
            <a:off x="6565392" y="3410712"/>
            <a:ext cx="402336" cy="402336"/>
          </a:xfrm>
          <a:prstGeom prst="ellipse">
            <a:avLst/>
          </a:prstGeom>
          <a:solidFill>
            <a:srgbClr val="AC212E"/>
          </a:solidFill>
          <a:ln/>
        </p:spPr>
        <p:txBody>
          <a:bodyPr/>
          <a:lstStyle/>
          <a:p>
            <a:endParaRPr lang="es-CL"/>
          </a:p>
        </p:txBody>
      </p:sp>
      <p:sp>
        <p:nvSpPr>
          <p:cNvPr id="18" name="Text 16"/>
          <p:cNvSpPr/>
          <p:nvPr/>
        </p:nvSpPr>
        <p:spPr>
          <a:xfrm>
            <a:off x="6565392" y="341071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7132320" y="3191256"/>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Vinculación entre componentes técnicos y documentación científica</a:t>
            </a:r>
            <a:endParaRPr lang="en-US" sz="1300" dirty="0"/>
          </a:p>
        </p:txBody>
      </p:sp>
      <p:sp>
        <p:nvSpPr>
          <p:cNvPr id="20" name="Shape 18"/>
          <p:cNvSpPr/>
          <p:nvPr/>
        </p:nvSpPr>
        <p:spPr>
          <a:xfrm>
            <a:off x="54864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1" name="Shape 19"/>
          <p:cNvSpPr/>
          <p:nvPr/>
        </p:nvSpPr>
        <p:spPr>
          <a:xfrm>
            <a:off x="804672" y="4709160"/>
            <a:ext cx="402336" cy="402336"/>
          </a:xfrm>
          <a:prstGeom prst="ellipse">
            <a:avLst/>
          </a:prstGeom>
          <a:solidFill>
            <a:srgbClr val="AC212E"/>
          </a:solidFill>
          <a:ln/>
        </p:spPr>
        <p:txBody>
          <a:bodyPr/>
          <a:lstStyle/>
          <a:p>
            <a:endParaRPr lang="es-CL"/>
          </a:p>
        </p:txBody>
      </p:sp>
      <p:sp>
        <p:nvSpPr>
          <p:cNvPr id="22" name="Text 20"/>
          <p:cNvSpPr/>
          <p:nvPr/>
        </p:nvSpPr>
        <p:spPr>
          <a:xfrm>
            <a:off x="804672" y="47091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37160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Leyenda o glosario visual que permita interpretar el flujo</a:t>
            </a:r>
            <a:endParaRPr lang="en-US" sz="1300" dirty="0"/>
          </a:p>
        </p:txBody>
      </p:sp>
      <p:sp>
        <p:nvSpPr>
          <p:cNvPr id="24" name="Shape 22"/>
          <p:cNvSpPr/>
          <p:nvPr/>
        </p:nvSpPr>
        <p:spPr>
          <a:xfrm>
            <a:off x="6309360" y="4379976"/>
            <a:ext cx="5303520" cy="1097280"/>
          </a:xfrm>
          <a:prstGeom prst="roundRect">
            <a:avLst>
              <a:gd name="adj" fmla="val 75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6565392" y="4709160"/>
            <a:ext cx="402336" cy="402336"/>
          </a:xfrm>
          <a:prstGeom prst="ellipse">
            <a:avLst/>
          </a:prstGeom>
          <a:solidFill>
            <a:srgbClr val="AC212E"/>
          </a:solidFill>
          <a:ln/>
        </p:spPr>
        <p:txBody>
          <a:bodyPr/>
          <a:lstStyle/>
          <a:p>
            <a:endParaRPr lang="es-CL"/>
          </a:p>
        </p:txBody>
      </p:sp>
      <p:sp>
        <p:nvSpPr>
          <p:cNvPr id="26" name="Text 24"/>
          <p:cNvSpPr/>
          <p:nvPr/>
        </p:nvSpPr>
        <p:spPr>
          <a:xfrm>
            <a:off x="6565392" y="470916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7132320" y="4489704"/>
            <a:ext cx="4343400" cy="877824"/>
          </a:xfrm>
          <a:prstGeom prst="rect">
            <a:avLst/>
          </a:prstGeom>
          <a:noFill/>
          <a:ln/>
        </p:spPr>
        <p:txBody>
          <a:bodyPr wrap="square" lIns="0" tIns="0" rIns="0" bIns="0" rtlCol="0" anchor="ctr"/>
          <a:lstStyle/>
          <a:p>
            <a:pPr marL="0" indent="0">
              <a:lnSpc>
                <a:spcPts val="1700"/>
              </a:lnSpc>
              <a:buNone/>
            </a:pPr>
            <a:r>
              <a:rPr lang="en-US" sz="1300" dirty="0">
                <a:solidFill>
                  <a:srgbClr val="06304A"/>
                </a:solidFill>
                <a:latin typeface="Calibri" pitchFamily="34" charset="0"/>
                <a:ea typeface="Calibri" pitchFamily="34" charset="-122"/>
                <a:cs typeface="Calibri" pitchFamily="34" charset="-120"/>
              </a:rPr>
              <a:t>Evidencia de reflexión técnica grupal y coherencia con la Fase 1</a:t>
            </a:r>
            <a:endParaRPr lang="en-US" sz="1300" dirty="0"/>
          </a:p>
        </p:txBody>
      </p:sp>
      <p:sp>
        <p:nvSpPr>
          <p:cNvPr id="28" name="Text 26"/>
          <p:cNvSpPr/>
          <p:nvPr/>
        </p:nvSpPr>
        <p:spPr>
          <a:xfrm>
            <a:off x="548640" y="6327648"/>
            <a:ext cx="1106424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Los elementos 3 y 5 son los que más se omiten: los commits proyectados y la leyenda del mapa.</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Ejemplo aplicado: del enunciado al mapa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Ejemplo referencial. Cada grupo lo adapta a su problemática y a su conjunto de datos.</a:t>
            </a:r>
            <a:endParaRPr lang="en-US" sz="1400" dirty="0"/>
          </a:p>
        </p:txBody>
      </p:sp>
      <p:sp>
        <p:nvSpPr>
          <p:cNvPr id="4" name="Shape 2"/>
          <p:cNvSpPr/>
          <p:nvPr/>
        </p:nvSpPr>
        <p:spPr>
          <a:xfrm>
            <a:off x="548640" y="1737360"/>
            <a:ext cx="5394960" cy="4023360"/>
          </a:xfrm>
          <a:prstGeom prst="roundRect">
            <a:avLst>
              <a:gd name="adj" fmla="val 2045"/>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22960" y="1920240"/>
            <a:ext cx="484632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Estructura del repositorio proyectada</a:t>
            </a:r>
            <a:endParaRPr lang="en-US" sz="1400" dirty="0"/>
          </a:p>
        </p:txBody>
      </p:sp>
      <p:sp>
        <p:nvSpPr>
          <p:cNvPr id="6" name="Text 4"/>
          <p:cNvSpPr/>
          <p:nvPr/>
        </p:nvSpPr>
        <p:spPr>
          <a:xfrm>
            <a:off x="822960" y="2331720"/>
            <a:ext cx="4846320" cy="2103120"/>
          </a:xfrm>
          <a:prstGeom prst="rect">
            <a:avLst/>
          </a:prstGeom>
          <a:noFill/>
          <a:ln/>
        </p:spPr>
        <p:txBody>
          <a:bodyPr wrap="square" lIns="0" tIns="0" rIns="0" bIns="0" rtlCol="0" anchor="ctr"/>
          <a:lstStyle/>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proyecto-grupoX-mcdi500/</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data/</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 raw/          datos originales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 processed/    datos transformados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notebooks/        análisis documentado</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src/              funciones reutilizables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docs/             documentación</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requirements.txt  dependencias</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.gitignore        qué no se versiona</a:t>
            </a:r>
            <a:endParaRPr lang="en-US" sz="1100" dirty="0"/>
          </a:p>
          <a:p>
            <a:pPr marL="0" indent="0">
              <a:lnSpc>
                <a:spcPts val="1500"/>
              </a:lnSpc>
              <a:buNone/>
            </a:pPr>
            <a:r>
              <a:rPr lang="en-US" sz="1100" dirty="0">
                <a:solidFill>
                  <a:srgbClr val="06304A"/>
                </a:solidFill>
                <a:latin typeface="Courier New" pitchFamily="34" charset="0"/>
                <a:ea typeface="Courier New" pitchFamily="34" charset="-122"/>
                <a:cs typeface="Courier New" pitchFamily="34" charset="-120"/>
              </a:rPr>
              <a:t>└─ README.md         qué es y cómo se ejecuta</a:t>
            </a:r>
            <a:endParaRPr lang="en-US" sz="1100" dirty="0"/>
          </a:p>
        </p:txBody>
      </p:sp>
      <p:sp>
        <p:nvSpPr>
          <p:cNvPr id="7" name="Text 5"/>
          <p:cNvSpPr/>
          <p:nvPr/>
        </p:nvSpPr>
        <p:spPr>
          <a:xfrm>
            <a:off x="822960" y="4526280"/>
            <a:ext cx="484632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Commits proyectados</a:t>
            </a:r>
            <a:endParaRPr lang="en-US" sz="1400" dirty="0"/>
          </a:p>
        </p:txBody>
      </p:sp>
      <p:sp>
        <p:nvSpPr>
          <p:cNvPr id="8" name="Text 6"/>
          <p:cNvSpPr/>
          <p:nvPr/>
        </p:nvSpPr>
        <p:spPr>
          <a:xfrm>
            <a:off x="822960" y="4864608"/>
            <a:ext cx="4846320" cy="777240"/>
          </a:xfrm>
          <a:prstGeom prst="rect">
            <a:avLst/>
          </a:prstGeom>
          <a:noFill/>
          <a:ln/>
        </p:spPr>
        <p:txBody>
          <a:bodyPr wrap="square" lIns="0" tIns="0" rIns="0" bIns="0" rtlCol="0" anchor="ctr"/>
          <a:lstStyle/>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docs: crea estructura inicial del proyecto</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docs: documenta criterios de versionamiento</a:t>
            </a:r>
            <a:endParaRPr lang="en-US" sz="1050" dirty="0"/>
          </a:p>
          <a:p>
            <a:pPr marL="0" indent="0">
              <a:lnSpc>
                <a:spcPts val="1500"/>
              </a:lnSpc>
              <a:buNone/>
            </a:pPr>
            <a:r>
              <a:rPr lang="en-US" sz="1050" dirty="0">
                <a:solidFill>
                  <a:srgbClr val="06304A"/>
                </a:solidFill>
                <a:latin typeface="Courier New" pitchFamily="34" charset="0"/>
                <a:ea typeface="Courier New" pitchFamily="34" charset="-122"/>
                <a:cs typeface="Courier New" pitchFamily="34" charset="-120"/>
              </a:rPr>
              <a:t>data: incorpora dataset base en raw</a:t>
            </a:r>
            <a:endParaRPr lang="en-US" sz="1050" dirty="0"/>
          </a:p>
        </p:txBody>
      </p:sp>
      <p:sp>
        <p:nvSpPr>
          <p:cNvPr id="9" name="Shape 7"/>
          <p:cNvSpPr/>
          <p:nvPr/>
        </p:nvSpPr>
        <p:spPr>
          <a:xfrm>
            <a:off x="6309360" y="1737360"/>
            <a:ext cx="5303520" cy="4023360"/>
          </a:xfrm>
          <a:prstGeom prst="roundRect">
            <a:avLst>
              <a:gd name="adj" fmla="val 2045"/>
            </a:avLst>
          </a:prstGeom>
          <a:solidFill>
            <a:srgbClr val="0A1526"/>
          </a:solidFill>
          <a:ln w="12700">
            <a:solidFill>
              <a:srgbClr val="0A1526"/>
            </a:solidFill>
            <a:prstDash val="solid"/>
          </a:ln>
        </p:spPr>
        <p:txBody>
          <a:bodyPr/>
          <a:lstStyle/>
          <a:p>
            <a:endParaRPr lang="es-CL"/>
          </a:p>
        </p:txBody>
      </p:sp>
      <p:sp>
        <p:nvSpPr>
          <p:cNvPr id="10" name="Text 8"/>
          <p:cNvSpPr/>
          <p:nvPr/>
        </p:nvSpPr>
        <p:spPr>
          <a:xfrm>
            <a:off x="6583680" y="1920240"/>
            <a:ext cx="4754880" cy="36576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Cómo se lee esto en el mapa</a:t>
            </a:r>
            <a:endParaRPr lang="en-US" sz="1400" dirty="0"/>
          </a:p>
        </p:txBody>
      </p:sp>
      <p:sp>
        <p:nvSpPr>
          <p:cNvPr id="11" name="Text 9"/>
          <p:cNvSpPr/>
          <p:nvPr/>
        </p:nvSpPr>
        <p:spPr>
          <a:xfrm>
            <a:off x="6583680" y="2377440"/>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Carpetas → etapas</a:t>
            </a:r>
            <a:endParaRPr lang="en-US" sz="1350" dirty="0"/>
          </a:p>
        </p:txBody>
      </p:sp>
      <p:sp>
        <p:nvSpPr>
          <p:cNvPr id="12" name="Text 10"/>
          <p:cNvSpPr/>
          <p:nvPr/>
        </p:nvSpPr>
        <p:spPr>
          <a:xfrm>
            <a:off x="6583680" y="2670048"/>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Cada carpeta corresponde a un momento del flujo, no a un capricho de orden.</a:t>
            </a:r>
            <a:endParaRPr lang="en-US" sz="1200" dirty="0"/>
          </a:p>
        </p:txBody>
      </p:sp>
      <p:sp>
        <p:nvSpPr>
          <p:cNvPr id="13" name="Text 11"/>
          <p:cNvSpPr/>
          <p:nvPr/>
        </p:nvSpPr>
        <p:spPr>
          <a:xfrm>
            <a:off x="6583680" y="3227832"/>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Commits → trazabilidad</a:t>
            </a:r>
            <a:endParaRPr lang="en-US" sz="1350" dirty="0"/>
          </a:p>
        </p:txBody>
      </p:sp>
      <p:sp>
        <p:nvSpPr>
          <p:cNvPr id="14" name="Text 12"/>
          <p:cNvSpPr/>
          <p:nvPr/>
        </p:nvSpPr>
        <p:spPr>
          <a:xfrm>
            <a:off x="6583680" y="3520440"/>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Los ejemplos muestran que el grupo entiende qué se registra y con qué nivel de detalle.</a:t>
            </a:r>
            <a:endParaRPr lang="en-US" sz="1200" dirty="0"/>
          </a:p>
        </p:txBody>
      </p:sp>
      <p:sp>
        <p:nvSpPr>
          <p:cNvPr id="15" name="Text 13"/>
          <p:cNvSpPr/>
          <p:nvPr/>
        </p:nvSpPr>
        <p:spPr>
          <a:xfrm>
            <a:off x="6583680" y="4078224"/>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README → comunicación</a:t>
            </a:r>
            <a:endParaRPr lang="en-US" sz="1350" dirty="0"/>
          </a:p>
        </p:txBody>
      </p:sp>
      <p:sp>
        <p:nvSpPr>
          <p:cNvPr id="16" name="Text 14"/>
          <p:cNvSpPr/>
          <p:nvPr/>
        </p:nvSpPr>
        <p:spPr>
          <a:xfrm>
            <a:off x="6583680" y="4370832"/>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Es el punto donde el proyecto se explica a un tercero.</a:t>
            </a:r>
            <a:endParaRPr lang="en-US" sz="1200" dirty="0"/>
          </a:p>
        </p:txBody>
      </p:sp>
      <p:sp>
        <p:nvSpPr>
          <p:cNvPr id="17" name="Text 15"/>
          <p:cNvSpPr/>
          <p:nvPr/>
        </p:nvSpPr>
        <p:spPr>
          <a:xfrm>
            <a:off x="6583680" y="4928616"/>
            <a:ext cx="4754880" cy="29260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.gitignore → criterio</a:t>
            </a:r>
            <a:endParaRPr lang="en-US" sz="1350" dirty="0"/>
          </a:p>
        </p:txBody>
      </p:sp>
      <p:sp>
        <p:nvSpPr>
          <p:cNvPr id="18" name="Text 16"/>
          <p:cNvSpPr/>
          <p:nvPr/>
        </p:nvSpPr>
        <p:spPr>
          <a:xfrm>
            <a:off x="6583680" y="5221224"/>
            <a:ext cx="4754880" cy="502920"/>
          </a:xfrm>
          <a:prstGeom prst="rect">
            <a:avLst/>
          </a:prstGeom>
          <a:noFill/>
          <a:ln/>
        </p:spPr>
        <p:txBody>
          <a:bodyPr wrap="square" lIns="0" tIns="0" rIns="0" bIns="0" rtlCol="0" anchor="ctr"/>
          <a:lstStyle/>
          <a:p>
            <a:pPr marL="0" indent="0">
              <a:lnSpc>
                <a:spcPts val="1600"/>
              </a:lnSpc>
              <a:buNone/>
            </a:pPr>
            <a:r>
              <a:rPr lang="en-US" sz="1200" dirty="0">
                <a:solidFill>
                  <a:srgbClr val="D7E3EE"/>
                </a:solidFill>
                <a:latin typeface="Calibri" pitchFamily="34" charset="0"/>
                <a:ea typeface="Calibri" pitchFamily="34" charset="-122"/>
                <a:cs typeface="Calibri" pitchFamily="34" charset="-120"/>
              </a:rPr>
              <a:t>Decidir qué NO se versiona también es una decisión técnica.</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deben entregar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Un solo archivo, subido por una sola persona del grupo.</a:t>
            </a:r>
            <a:endParaRPr lang="en-US" sz="1400" dirty="0"/>
          </a:p>
        </p:txBody>
      </p:sp>
      <p:graphicFrame>
        <p:nvGraphicFramePr>
          <p:cNvPr id="12" name="Table 0"/>
          <p:cNvGraphicFramePr>
            <a:graphicFrameLocks noGrp="1"/>
          </p:cNvGraphicFramePr>
          <p:nvPr/>
        </p:nvGraphicFramePr>
        <p:xfrm>
          <a:off x="548640" y="1737360"/>
          <a:ext cx="11064240" cy="3657600"/>
        </p:xfrm>
        <a:graphic>
          <a:graphicData uri="http://schemas.openxmlformats.org/drawingml/2006/table">
            <a:tbl>
              <a:tblPr/>
              <a:tblGrid>
                <a:gridCol w="320040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Aspecto</a:t>
                      </a:r>
                      <a:endParaRPr lang="en-US" sz="14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Requisito</a:t>
                      </a:r>
                      <a:endParaRPr lang="en-US" sz="14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Formato del archivo</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PDF, JPG o PNG</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Extensión máxima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Dos páginas tamaño carta, horizontal o vertical</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Portada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Nombres completos de todos los integrantes, como aparecerán en el acta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Tipografía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Arial o Calibri 11 pts, uso moderado de color</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Referencias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Al menos una en formato APA 7</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Nombre del archivo</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mcdi500_s1_grupox — sin tildes, ñ ni caracteres especiales, máx. 20 caracteres</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Vía de entrega</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300" dirty="0">
                          <a:solidFill>
                            <a:srgbClr val="06304A"/>
                          </a:solidFill>
                          <a:latin typeface="Calibri" pitchFamily="34" charset="0"/>
                          <a:ea typeface="Calibri" pitchFamily="34" charset="-122"/>
                          <a:cs typeface="Calibri" pitchFamily="34" charset="-120"/>
                        </a:rPr>
                        <a:t>Entrega de actividad → botón «Examinar mi equipo»</a:t>
                      </a:r>
                      <a:endParaRPr lang="en-US" sz="1300" dirty="0">
                        <a:latin typeface="Calibri" charset="0"/>
                        <a:ea typeface="Calibri" charset="0"/>
                        <a:cs typeface="Calibri" charset="0"/>
                      </a:endParaRPr>
                    </a:p>
                  </a:txBody>
                  <a:tcPr marL="82296" marR="82296" marT="82296" marB="82296"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48640" y="5257800"/>
            <a:ext cx="11064240" cy="777240"/>
          </a:xfrm>
          <a:prstGeom prst="roundRect">
            <a:avLst>
              <a:gd name="adj" fmla="val 10588"/>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5394960"/>
            <a:ext cx="10424160" cy="502920"/>
          </a:xfrm>
          <a:prstGeom prst="rect">
            <a:avLst/>
          </a:prstGeom>
          <a:noFill/>
          <a:ln/>
        </p:spPr>
        <p:txBody>
          <a:bodyPr wrap="square" lIns="0" tIns="0" rIns="0" bIns="0" rtlCol="0" anchor="ctr"/>
          <a:lstStyle/>
          <a:p>
            <a:pPr marL="0" indent="0">
              <a:buNone/>
            </a:pPr>
            <a:r>
              <a:rPr lang="en-US" sz="1400" dirty="0">
                <a:solidFill>
                  <a:srgbClr val="AC212E"/>
                </a:solidFill>
                <a:latin typeface="Calibri" pitchFamily="34" charset="0"/>
                <a:ea typeface="Calibri" pitchFamily="34" charset="-122"/>
                <a:cs typeface="Calibri" pitchFamily="34" charset="-120"/>
              </a:rPr>
              <a:t>El plazo importa aunque la actividad no pondere: entregar tarde significa recibir la retroalimentación cuando ya no alcanza a corregirse antes de la sumativa.</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Cómo se evalúa: 5 criterios de 5 puntos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25 puntos en total. Evaluación formativa: no pondera, pero la retroalimentación se aplica a la sumativa.</a:t>
            </a:r>
            <a:endParaRPr lang="en-US" sz="1400" dirty="0"/>
          </a:p>
        </p:txBody>
      </p:sp>
      <p:sp>
        <p:nvSpPr>
          <p:cNvPr id="4" name="Shape 2"/>
          <p:cNvSpPr/>
          <p:nvPr/>
        </p:nvSpPr>
        <p:spPr>
          <a:xfrm>
            <a:off x="548640" y="1783080"/>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13232" y="1856232"/>
            <a:ext cx="402336" cy="402336"/>
          </a:xfrm>
          <a:prstGeom prst="ellipse">
            <a:avLst/>
          </a:prstGeom>
          <a:solidFill>
            <a:srgbClr val="AC212E"/>
          </a:solidFill>
          <a:ln/>
        </p:spPr>
        <p:txBody>
          <a:bodyPr/>
          <a:lstStyle/>
          <a:p>
            <a:endParaRPr lang="es-CL"/>
          </a:p>
        </p:txBody>
      </p:sp>
      <p:sp>
        <p:nvSpPr>
          <p:cNvPr id="6" name="Text 4"/>
          <p:cNvSpPr/>
          <p:nvPr/>
        </p:nvSpPr>
        <p:spPr>
          <a:xfrm>
            <a:off x="713232" y="185623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80160" y="1783080"/>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Integración técnica del flujo reproducible y ecosistema científico</a:t>
            </a:r>
            <a:endParaRPr lang="en-US" sz="1300" dirty="0"/>
          </a:p>
        </p:txBody>
      </p:sp>
      <p:sp>
        <p:nvSpPr>
          <p:cNvPr id="8" name="Text 6"/>
          <p:cNvSpPr/>
          <p:nvPr/>
        </p:nvSpPr>
        <p:spPr>
          <a:xfrm>
            <a:off x="9098280" y="1783080"/>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9" name="Shape 7"/>
          <p:cNvSpPr/>
          <p:nvPr/>
        </p:nvSpPr>
        <p:spPr>
          <a:xfrm>
            <a:off x="548640" y="2441448"/>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713232" y="2514600"/>
            <a:ext cx="402336" cy="402336"/>
          </a:xfrm>
          <a:prstGeom prst="ellipse">
            <a:avLst/>
          </a:prstGeom>
          <a:solidFill>
            <a:srgbClr val="AC212E"/>
          </a:solidFill>
          <a:ln/>
        </p:spPr>
        <p:txBody>
          <a:bodyPr/>
          <a:lstStyle/>
          <a:p>
            <a:endParaRPr lang="es-CL"/>
          </a:p>
        </p:txBody>
      </p:sp>
      <p:sp>
        <p:nvSpPr>
          <p:cNvPr id="11" name="Text 9"/>
          <p:cNvSpPr/>
          <p:nvPr/>
        </p:nvSpPr>
        <p:spPr>
          <a:xfrm>
            <a:off x="713232" y="25146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280160" y="2441448"/>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Estructura conceptual del entorno técnico de trabajo</a:t>
            </a:r>
            <a:endParaRPr lang="en-US" sz="1300" dirty="0"/>
          </a:p>
        </p:txBody>
      </p:sp>
      <p:sp>
        <p:nvSpPr>
          <p:cNvPr id="13" name="Text 11"/>
          <p:cNvSpPr/>
          <p:nvPr/>
        </p:nvSpPr>
        <p:spPr>
          <a:xfrm>
            <a:off x="9098280" y="2441448"/>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14" name="Shape 12"/>
          <p:cNvSpPr/>
          <p:nvPr/>
        </p:nvSpPr>
        <p:spPr>
          <a:xfrm>
            <a:off x="548640" y="3099816"/>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713232" y="3172968"/>
            <a:ext cx="402336" cy="402336"/>
          </a:xfrm>
          <a:prstGeom prst="ellipse">
            <a:avLst/>
          </a:prstGeom>
          <a:solidFill>
            <a:srgbClr val="AC212E"/>
          </a:solidFill>
          <a:ln/>
        </p:spPr>
        <p:txBody>
          <a:bodyPr/>
          <a:lstStyle/>
          <a:p>
            <a:endParaRPr lang="es-CL"/>
          </a:p>
        </p:txBody>
      </p:sp>
      <p:sp>
        <p:nvSpPr>
          <p:cNvPr id="16" name="Text 14"/>
          <p:cNvSpPr/>
          <p:nvPr/>
        </p:nvSpPr>
        <p:spPr>
          <a:xfrm>
            <a:off x="713232" y="317296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280160" y="3099816"/>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Vinculación entre componentes técnicos y documentación científica reproducible</a:t>
            </a:r>
            <a:endParaRPr lang="en-US" sz="1300" dirty="0"/>
          </a:p>
        </p:txBody>
      </p:sp>
      <p:sp>
        <p:nvSpPr>
          <p:cNvPr id="18" name="Text 16"/>
          <p:cNvSpPr/>
          <p:nvPr/>
        </p:nvSpPr>
        <p:spPr>
          <a:xfrm>
            <a:off x="9098280" y="3099816"/>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19" name="Shape 17"/>
          <p:cNvSpPr/>
          <p:nvPr/>
        </p:nvSpPr>
        <p:spPr>
          <a:xfrm>
            <a:off x="548640" y="3758184"/>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713232" y="3831336"/>
            <a:ext cx="402336" cy="402336"/>
          </a:xfrm>
          <a:prstGeom prst="ellipse">
            <a:avLst/>
          </a:prstGeom>
          <a:solidFill>
            <a:srgbClr val="AC212E"/>
          </a:solidFill>
          <a:ln/>
        </p:spPr>
        <p:txBody>
          <a:bodyPr/>
          <a:lstStyle/>
          <a:p>
            <a:endParaRPr lang="es-CL"/>
          </a:p>
        </p:txBody>
      </p:sp>
      <p:sp>
        <p:nvSpPr>
          <p:cNvPr id="21" name="Text 19"/>
          <p:cNvSpPr/>
          <p:nvPr/>
        </p:nvSpPr>
        <p:spPr>
          <a:xfrm>
            <a:off x="713232" y="383133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280160" y="3758184"/>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Calidad visual, jerarquía conceptual y uso de conectores</a:t>
            </a:r>
            <a:endParaRPr lang="en-US" sz="1300" dirty="0"/>
          </a:p>
        </p:txBody>
      </p:sp>
      <p:sp>
        <p:nvSpPr>
          <p:cNvPr id="23" name="Text 21"/>
          <p:cNvSpPr/>
          <p:nvPr/>
        </p:nvSpPr>
        <p:spPr>
          <a:xfrm>
            <a:off x="9098280" y="3758184"/>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24" name="Shape 22"/>
          <p:cNvSpPr/>
          <p:nvPr/>
        </p:nvSpPr>
        <p:spPr>
          <a:xfrm>
            <a:off x="548640" y="4416552"/>
            <a:ext cx="8503920" cy="548640"/>
          </a:xfrm>
          <a:prstGeom prst="roundRect">
            <a:avLst>
              <a:gd name="adj" fmla="val 150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713232" y="4489704"/>
            <a:ext cx="402336" cy="402336"/>
          </a:xfrm>
          <a:prstGeom prst="ellipse">
            <a:avLst/>
          </a:prstGeom>
          <a:solidFill>
            <a:srgbClr val="AC212E"/>
          </a:solidFill>
          <a:ln/>
        </p:spPr>
        <p:txBody>
          <a:bodyPr/>
          <a:lstStyle/>
          <a:p>
            <a:endParaRPr lang="es-CL"/>
          </a:p>
        </p:txBody>
      </p:sp>
      <p:sp>
        <p:nvSpPr>
          <p:cNvPr id="26" name="Text 24"/>
          <p:cNvSpPr/>
          <p:nvPr/>
        </p:nvSpPr>
        <p:spPr>
          <a:xfrm>
            <a:off x="713232" y="448970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280160" y="4416552"/>
            <a:ext cx="7589520" cy="548640"/>
          </a:xfrm>
          <a:prstGeom prst="rect">
            <a:avLst/>
          </a:prstGeom>
          <a:noFill/>
          <a:ln/>
        </p:spPr>
        <p:txBody>
          <a:bodyPr wrap="square" lIns="0" tIns="0" rIns="0" bIns="0" rtlCol="0" anchor="ctr"/>
          <a:lstStyle/>
          <a:p>
            <a:pPr marL="0" indent="0">
              <a:buNone/>
            </a:pPr>
            <a:r>
              <a:rPr lang="en-US" sz="1300" dirty="0">
                <a:solidFill>
                  <a:srgbClr val="06304A"/>
                </a:solidFill>
                <a:latin typeface="Calibri" pitchFamily="34" charset="0"/>
                <a:ea typeface="Calibri" pitchFamily="34" charset="-122"/>
                <a:cs typeface="Calibri" pitchFamily="34" charset="-120"/>
              </a:rPr>
              <a:t>Reflexión técnica grupal y coherencia con la Fase 1 del ABP</a:t>
            </a:r>
            <a:endParaRPr lang="en-US" sz="1300" dirty="0"/>
          </a:p>
        </p:txBody>
      </p:sp>
      <p:sp>
        <p:nvSpPr>
          <p:cNvPr id="28" name="Text 26"/>
          <p:cNvSpPr/>
          <p:nvPr/>
        </p:nvSpPr>
        <p:spPr>
          <a:xfrm>
            <a:off x="9098280" y="4416552"/>
            <a:ext cx="548640" cy="548640"/>
          </a:xfrm>
          <a:prstGeom prst="rect">
            <a:avLst/>
          </a:prstGeom>
          <a:noFill/>
          <a:ln/>
        </p:spPr>
        <p:txBody>
          <a:bodyPr wrap="square" lIns="0" tIns="0" rIns="0" bIns="0" rtlCol="0" anchor="ctr"/>
          <a:lstStyle/>
          <a:p>
            <a:pPr marL="0" indent="0">
              <a:buNone/>
            </a:pPr>
            <a:r>
              <a:rPr lang="en-US" sz="1700" b="1" dirty="0">
                <a:solidFill>
                  <a:srgbClr val="AC212E"/>
                </a:solidFill>
                <a:latin typeface="Cambria" pitchFamily="34" charset="0"/>
                <a:ea typeface="Cambria" pitchFamily="34" charset="-122"/>
                <a:cs typeface="Cambria" pitchFamily="34" charset="-120"/>
              </a:rPr>
              <a:t>/5</a:t>
            </a:r>
            <a:endParaRPr lang="en-US" sz="1700" dirty="0"/>
          </a:p>
        </p:txBody>
      </p:sp>
      <p:sp>
        <p:nvSpPr>
          <p:cNvPr id="29" name="Shape 27"/>
          <p:cNvSpPr/>
          <p:nvPr/>
        </p:nvSpPr>
        <p:spPr>
          <a:xfrm>
            <a:off x="9829800" y="1783080"/>
            <a:ext cx="1783080" cy="3035808"/>
          </a:xfrm>
          <a:prstGeom prst="roundRect">
            <a:avLst>
              <a:gd name="adj" fmla="val 4615"/>
            </a:avLst>
          </a:prstGeom>
          <a:solidFill>
            <a:srgbClr val="0A1526"/>
          </a:solidFill>
          <a:ln w="12700">
            <a:solidFill>
              <a:srgbClr val="0A1526"/>
            </a:solidFill>
            <a:prstDash val="solid"/>
          </a:ln>
        </p:spPr>
        <p:txBody>
          <a:bodyPr/>
          <a:lstStyle/>
          <a:p>
            <a:endParaRPr lang="es-CL"/>
          </a:p>
        </p:txBody>
      </p:sp>
      <p:sp>
        <p:nvSpPr>
          <p:cNvPr id="30" name="Text 28"/>
          <p:cNvSpPr/>
          <p:nvPr/>
        </p:nvSpPr>
        <p:spPr>
          <a:xfrm>
            <a:off x="10012680" y="1920240"/>
            <a:ext cx="1463040" cy="292608"/>
          </a:xfrm>
          <a:prstGeom prst="rect">
            <a:avLst/>
          </a:prstGeom>
          <a:noFill/>
          <a:ln/>
        </p:spPr>
        <p:txBody>
          <a:bodyPr wrap="square" lIns="0" tIns="0" rIns="0" bIns="0" rtlCol="0" anchor="ctr"/>
          <a:lstStyle/>
          <a:p>
            <a:pPr marL="0" indent="0">
              <a:buNone/>
            </a:pPr>
            <a:r>
              <a:rPr lang="en-US" sz="1200" b="1" dirty="0">
                <a:solidFill>
                  <a:srgbClr val="AC212E"/>
                </a:solidFill>
                <a:latin typeface="Calibri" pitchFamily="34" charset="0"/>
                <a:ea typeface="Calibri" pitchFamily="34" charset="-122"/>
                <a:cs typeface="Calibri" pitchFamily="34" charset="-120"/>
              </a:rPr>
              <a:t>Niveles</a:t>
            </a:r>
            <a:endParaRPr lang="en-US" sz="1200" dirty="0"/>
          </a:p>
        </p:txBody>
      </p:sp>
      <p:sp>
        <p:nvSpPr>
          <p:cNvPr id="31" name="Text 29"/>
          <p:cNvSpPr/>
          <p:nvPr/>
        </p:nvSpPr>
        <p:spPr>
          <a:xfrm>
            <a:off x="10012680" y="2286000"/>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Excelente</a:t>
            </a:r>
            <a:endParaRPr lang="en-US" sz="1200" dirty="0"/>
          </a:p>
        </p:txBody>
      </p:sp>
      <p:sp>
        <p:nvSpPr>
          <p:cNvPr id="32" name="Text 30"/>
          <p:cNvSpPr/>
          <p:nvPr/>
        </p:nvSpPr>
        <p:spPr>
          <a:xfrm>
            <a:off x="11109960" y="2286000"/>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0012680" y="2770632"/>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Bueno</a:t>
            </a:r>
            <a:endParaRPr lang="en-US" sz="1200" dirty="0"/>
          </a:p>
        </p:txBody>
      </p:sp>
      <p:sp>
        <p:nvSpPr>
          <p:cNvPr id="34" name="Text 32"/>
          <p:cNvSpPr/>
          <p:nvPr/>
        </p:nvSpPr>
        <p:spPr>
          <a:xfrm>
            <a:off x="11109960" y="2770632"/>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3</a:t>
            </a:r>
            <a:endParaRPr lang="en-US" sz="1300" dirty="0"/>
          </a:p>
        </p:txBody>
      </p:sp>
      <p:sp>
        <p:nvSpPr>
          <p:cNvPr id="35" name="Text 33"/>
          <p:cNvSpPr/>
          <p:nvPr/>
        </p:nvSpPr>
        <p:spPr>
          <a:xfrm>
            <a:off x="10012680" y="3255264"/>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Suficiente</a:t>
            </a:r>
            <a:endParaRPr lang="en-US" sz="1200" dirty="0"/>
          </a:p>
        </p:txBody>
      </p:sp>
      <p:sp>
        <p:nvSpPr>
          <p:cNvPr id="36" name="Text 34"/>
          <p:cNvSpPr/>
          <p:nvPr/>
        </p:nvSpPr>
        <p:spPr>
          <a:xfrm>
            <a:off x="11109960" y="3255264"/>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2</a:t>
            </a:r>
            <a:endParaRPr lang="en-US" sz="1300" dirty="0"/>
          </a:p>
        </p:txBody>
      </p:sp>
      <p:sp>
        <p:nvSpPr>
          <p:cNvPr id="37" name="Text 35"/>
          <p:cNvSpPr/>
          <p:nvPr/>
        </p:nvSpPr>
        <p:spPr>
          <a:xfrm>
            <a:off x="10012680" y="3739896"/>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Deficiente</a:t>
            </a:r>
            <a:endParaRPr lang="en-US" sz="1200" dirty="0"/>
          </a:p>
        </p:txBody>
      </p:sp>
      <p:sp>
        <p:nvSpPr>
          <p:cNvPr id="38" name="Text 36"/>
          <p:cNvSpPr/>
          <p:nvPr/>
        </p:nvSpPr>
        <p:spPr>
          <a:xfrm>
            <a:off x="11109960" y="3739896"/>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1</a:t>
            </a:r>
            <a:endParaRPr lang="en-US" sz="1300" dirty="0"/>
          </a:p>
        </p:txBody>
      </p:sp>
      <p:sp>
        <p:nvSpPr>
          <p:cNvPr id="39" name="Text 37"/>
          <p:cNvSpPr/>
          <p:nvPr/>
        </p:nvSpPr>
        <p:spPr>
          <a:xfrm>
            <a:off x="10012680" y="4224528"/>
            <a:ext cx="109728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Insuficiente</a:t>
            </a:r>
            <a:endParaRPr lang="en-US" sz="1200" dirty="0"/>
          </a:p>
        </p:txBody>
      </p:sp>
      <p:sp>
        <p:nvSpPr>
          <p:cNvPr id="40" name="Text 38"/>
          <p:cNvSpPr/>
          <p:nvPr/>
        </p:nvSpPr>
        <p:spPr>
          <a:xfrm>
            <a:off x="11109960" y="4224528"/>
            <a:ext cx="365760" cy="365760"/>
          </a:xfrm>
          <a:prstGeom prst="rect">
            <a:avLst/>
          </a:prstGeom>
          <a:noFill/>
          <a:ln/>
        </p:spPr>
        <p:txBody>
          <a:bodyPr wrap="square" lIns="0" tIns="0" rIns="0" bIns="0" rtlCol="0" anchor="ctr"/>
          <a:lstStyle/>
          <a:p>
            <a:pPr marL="0" indent="0" algn="r">
              <a:buNone/>
            </a:pPr>
            <a:r>
              <a:rPr lang="en-US" sz="1300" b="1" dirty="0">
                <a:solidFill>
                  <a:srgbClr val="D7E3EE"/>
                </a:solidFill>
                <a:latin typeface="Calibri" pitchFamily="34" charset="0"/>
                <a:ea typeface="Calibri" pitchFamily="34" charset="-122"/>
                <a:cs typeface="Calibri" pitchFamily="34" charset="-120"/>
              </a:rPr>
              <a:t>0</a:t>
            </a:r>
            <a:endParaRPr lang="en-US" sz="1300" dirty="0"/>
          </a:p>
        </p:txBody>
      </p:sp>
      <p:sp>
        <p:nvSpPr>
          <p:cNvPr id="41" name="Text 39"/>
          <p:cNvSpPr/>
          <p:nvPr/>
        </p:nvSpPr>
        <p:spPr>
          <a:xfrm>
            <a:off x="548640" y="5257800"/>
            <a:ext cx="11064240" cy="457200"/>
          </a:xfrm>
          <a:prstGeom prst="rect">
            <a:avLst/>
          </a:prstGeom>
          <a:noFill/>
          <a:ln/>
        </p:spPr>
        <p:txBody>
          <a:bodyPr wrap="square" lIns="0" tIns="0" rIns="0" bIns="0" rtlCol="0" anchor="ctr"/>
          <a:lstStyle/>
          <a:p>
            <a:pPr marL="0" indent="0">
              <a:buNone/>
            </a:pPr>
            <a:r>
              <a:rPr lang="en-US" sz="1400" i="1" dirty="0">
                <a:solidFill>
                  <a:srgbClr val="06304A"/>
                </a:solidFill>
                <a:latin typeface="Calibri" pitchFamily="34" charset="0"/>
                <a:ea typeface="Calibri" pitchFamily="34" charset="-122"/>
                <a:cs typeface="Calibri" pitchFamily="34" charset="-120"/>
              </a:rPr>
              <a:t>Del nivel Excelente al Bueno se pierden 2 puntos de golpe: la diferencia entre «completo y técnicamente preciso» y «adecuado con aspectos por profundizar».</a:t>
            </a:r>
            <a:endParaRPr lang="en-US" sz="1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Nivel de profundidad esperado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La misma idea, en dos niveles distintos de elaboración.</a:t>
            </a:r>
            <a:endParaRPr lang="en-US" sz="1400" dirty="0"/>
          </a:p>
        </p:txBody>
      </p:sp>
      <p:sp>
        <p:nvSpPr>
          <p:cNvPr id="4" name="Shape 2"/>
          <p:cNvSpPr/>
          <p:nvPr/>
        </p:nvSpPr>
        <p:spPr>
          <a:xfrm>
            <a:off x="548640" y="1737360"/>
            <a:ext cx="5394960" cy="3931920"/>
          </a:xfrm>
          <a:prstGeom prst="roundRect">
            <a:avLst>
              <a:gd name="adj" fmla="val 2093"/>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6217920" y="1737360"/>
            <a:ext cx="5394960" cy="3931920"/>
          </a:xfrm>
          <a:prstGeom prst="roundRect">
            <a:avLst>
              <a:gd name="adj" fmla="val 2093"/>
            </a:avLst>
          </a:prstGeom>
          <a:solidFill>
            <a:srgbClr val="0A1526"/>
          </a:solidFill>
          <a:ln w="12700">
            <a:solidFill>
              <a:srgbClr val="0A1526"/>
            </a:solidFill>
            <a:prstDash val="solid"/>
          </a:ln>
        </p:spPr>
        <p:txBody>
          <a:bodyPr/>
          <a:lstStyle/>
          <a:p>
            <a:endParaRPr lang="es-CL"/>
          </a:p>
        </p:txBody>
      </p:sp>
      <p:sp>
        <p:nvSpPr>
          <p:cNvPr id="6" name="Text 4"/>
          <p:cNvSpPr/>
          <p:nvPr/>
        </p:nvSpPr>
        <p:spPr>
          <a:xfrm>
            <a:off x="868680" y="1920240"/>
            <a:ext cx="4754880" cy="365760"/>
          </a:xfrm>
          <a:prstGeom prst="rect">
            <a:avLst/>
          </a:prstGeom>
          <a:noFill/>
          <a:ln/>
        </p:spPr>
        <p:txBody>
          <a:bodyPr wrap="square" lIns="0" tIns="0" rIns="0" bIns="0" rtlCol="0" anchor="ctr"/>
          <a:lstStyle/>
          <a:p>
            <a:pPr marL="0" indent="0">
              <a:buNone/>
            </a:pPr>
            <a:r>
              <a:rPr lang="en-US" sz="1500" b="1" dirty="0">
                <a:solidFill>
                  <a:srgbClr val="5A6B7B"/>
                </a:solidFill>
                <a:latin typeface="Calibri" pitchFamily="34" charset="0"/>
                <a:ea typeface="Calibri" pitchFamily="34" charset="-122"/>
                <a:cs typeface="Calibri" pitchFamily="34" charset="-120"/>
              </a:rPr>
              <a:t>Insuficiente: solo menciona</a:t>
            </a:r>
            <a:endParaRPr lang="en-US" sz="1500" dirty="0"/>
          </a:p>
        </p:txBody>
      </p:sp>
      <p:sp>
        <p:nvSpPr>
          <p:cNvPr id="7" name="Text 5"/>
          <p:cNvSpPr/>
          <p:nvPr/>
        </p:nvSpPr>
        <p:spPr>
          <a:xfrm>
            <a:off x="6537960" y="1920240"/>
            <a:ext cx="4754880" cy="365760"/>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Nivel Excelente: integra</a:t>
            </a:r>
            <a:endParaRPr lang="en-US" sz="1500" dirty="0"/>
          </a:p>
        </p:txBody>
      </p:sp>
      <p:sp>
        <p:nvSpPr>
          <p:cNvPr id="8" name="Text 6"/>
          <p:cNvSpPr/>
          <p:nvPr/>
        </p:nvSpPr>
        <p:spPr>
          <a:xfrm>
            <a:off x="868680" y="2423160"/>
            <a:ext cx="4754880" cy="914400"/>
          </a:xfrm>
          <a:prstGeom prst="rect">
            <a:avLst/>
          </a:prstGeom>
          <a:noFill/>
          <a:ln/>
        </p:spPr>
        <p:txBody>
          <a:bodyPr wrap="square" lIns="0" tIns="0" rIns="0" bIns="0" rtlCol="0" anchor="t"/>
          <a:lstStyle/>
          <a:p>
            <a:pPr marL="0" indent="0">
              <a:lnSpc>
                <a:spcPts val="1700"/>
              </a:lnSpc>
              <a:buNone/>
            </a:pPr>
            <a:r>
              <a:rPr lang="en-US" sz="1250" i="1" dirty="0">
                <a:solidFill>
                  <a:srgbClr val="5A6B7B"/>
                </a:solidFill>
                <a:latin typeface="Calibri" pitchFamily="34" charset="0"/>
                <a:ea typeface="Calibri" pitchFamily="34" charset="-122"/>
                <a:cs typeface="Calibri" pitchFamily="34" charset="-120"/>
              </a:rPr>
              <a:t>«Usaremos GitHub para el proyecto.»</a:t>
            </a:r>
            <a:endParaRPr lang="en-US" sz="1250" dirty="0"/>
          </a:p>
        </p:txBody>
      </p:sp>
      <p:sp>
        <p:nvSpPr>
          <p:cNvPr id="9" name="Text 7"/>
          <p:cNvSpPr/>
          <p:nvPr/>
        </p:nvSpPr>
        <p:spPr>
          <a:xfrm>
            <a:off x="6537960" y="2423160"/>
            <a:ext cx="4754880" cy="914400"/>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«GitHub aloja el repositorio remoto y permite que los cuatro integrantes trabajen sobre la misma base, con historial verificable desde la etapa de definición.»</a:t>
            </a:r>
            <a:endParaRPr lang="en-US" sz="1250" dirty="0"/>
          </a:p>
        </p:txBody>
      </p:sp>
      <p:sp>
        <p:nvSpPr>
          <p:cNvPr id="10" name="Text 8"/>
          <p:cNvSpPr/>
          <p:nvPr/>
        </p:nvSpPr>
        <p:spPr>
          <a:xfrm>
            <a:off x="868680" y="3520440"/>
            <a:ext cx="4754880" cy="914400"/>
          </a:xfrm>
          <a:prstGeom prst="rect">
            <a:avLst/>
          </a:prstGeom>
          <a:noFill/>
          <a:ln/>
        </p:spPr>
        <p:txBody>
          <a:bodyPr wrap="square" lIns="0" tIns="0" rIns="0" bIns="0" rtlCol="0" anchor="t"/>
          <a:lstStyle/>
          <a:p>
            <a:pPr marL="0" indent="0">
              <a:lnSpc>
                <a:spcPts val="1700"/>
              </a:lnSpc>
              <a:buNone/>
            </a:pPr>
            <a:r>
              <a:rPr lang="en-US" sz="1250" i="1" dirty="0">
                <a:solidFill>
                  <a:srgbClr val="5A6B7B"/>
                </a:solidFill>
                <a:latin typeface="Calibri" pitchFamily="34" charset="0"/>
                <a:ea typeface="Calibri" pitchFamily="34" charset="-122"/>
                <a:cs typeface="Calibri" pitchFamily="34" charset="-120"/>
              </a:rPr>
              <a:t>«Haremos commits.»</a:t>
            </a:r>
            <a:endParaRPr lang="en-US" sz="1250" dirty="0"/>
          </a:p>
        </p:txBody>
      </p:sp>
      <p:sp>
        <p:nvSpPr>
          <p:cNvPr id="11" name="Text 9"/>
          <p:cNvSpPr/>
          <p:nvPr/>
        </p:nvSpPr>
        <p:spPr>
          <a:xfrm>
            <a:off x="6537960" y="3520440"/>
            <a:ext cx="4754880" cy="914400"/>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«docs: crea estructura inicial del proyecto — usamos prefijos docs, data, feat y fix para que el historial sea legible.»</a:t>
            </a:r>
            <a:endParaRPr lang="en-US" sz="1250" dirty="0"/>
          </a:p>
        </p:txBody>
      </p:sp>
      <p:sp>
        <p:nvSpPr>
          <p:cNvPr id="12" name="Text 10"/>
          <p:cNvSpPr/>
          <p:nvPr/>
        </p:nvSpPr>
        <p:spPr>
          <a:xfrm>
            <a:off x="868680" y="4617720"/>
            <a:ext cx="4754880" cy="914400"/>
          </a:xfrm>
          <a:prstGeom prst="rect">
            <a:avLst/>
          </a:prstGeom>
          <a:noFill/>
          <a:ln/>
        </p:spPr>
        <p:txBody>
          <a:bodyPr wrap="square" lIns="0" tIns="0" rIns="0" bIns="0" rtlCol="0" anchor="t"/>
          <a:lstStyle/>
          <a:p>
            <a:pPr marL="0" indent="0">
              <a:lnSpc>
                <a:spcPts val="1700"/>
              </a:lnSpc>
              <a:buNone/>
            </a:pPr>
            <a:r>
              <a:rPr lang="en-US" sz="1250" i="1" dirty="0">
                <a:solidFill>
                  <a:srgbClr val="5A6B7B"/>
                </a:solidFill>
                <a:latin typeface="Calibri" pitchFamily="34" charset="0"/>
                <a:ea typeface="Calibri" pitchFamily="34" charset="-122"/>
                <a:cs typeface="Calibri" pitchFamily="34" charset="-120"/>
              </a:rPr>
              <a:t>«El notebook tendrá texto y código.»</a:t>
            </a:r>
            <a:endParaRPr lang="en-US" sz="1250" dirty="0"/>
          </a:p>
        </p:txBody>
      </p:sp>
      <p:sp>
        <p:nvSpPr>
          <p:cNvPr id="13" name="Text 11"/>
          <p:cNvSpPr/>
          <p:nvPr/>
        </p:nvSpPr>
        <p:spPr>
          <a:xfrm>
            <a:off x="6537960" y="4617720"/>
            <a:ext cx="4754880" cy="914400"/>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«Las celdas narrativas registran por qué se tomó cada decisión; el README explica cómo ejecutar el proyecto desde cero.»</a:t>
            </a:r>
            <a:endParaRPr lang="en-US" sz="1250" dirty="0"/>
          </a:p>
        </p:txBody>
      </p:sp>
      <p:sp>
        <p:nvSpPr>
          <p:cNvPr id="14" name="Text 12"/>
          <p:cNvSpPr/>
          <p:nvPr/>
        </p:nvSpPr>
        <p:spPr>
          <a:xfrm>
            <a:off x="548640" y="5806440"/>
            <a:ext cx="11064240" cy="411480"/>
          </a:xfrm>
          <a:prstGeom prst="rect">
            <a:avLst/>
          </a:prstGeom>
          <a:noFill/>
          <a:ln/>
        </p:spPr>
        <p:txBody>
          <a:bodyPr wrap="square" lIns="0" tIns="0" rIns="0" bIns="0" rtlCol="0" anchor="ctr"/>
          <a:lstStyle/>
          <a:p>
            <a:pPr marL="0" indent="0">
              <a:buNone/>
            </a:pPr>
            <a:r>
              <a:rPr lang="en-US" sz="1400" i="1" dirty="0">
                <a:solidFill>
                  <a:srgbClr val="06304A"/>
                </a:solidFill>
                <a:latin typeface="Calibri" pitchFamily="34" charset="0"/>
                <a:ea typeface="Calibri" pitchFamily="34" charset="-122"/>
                <a:cs typeface="Calibri" pitchFamily="34" charset="-120"/>
              </a:rPr>
              <a:t>La diferencia no es la extensión: es que la segunda versión dice para qué sirve y a qué etapa corresponde.</a:t>
            </a:r>
            <a:endParaRPr lang="en-US" sz="1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Errores frecuentes y cómo evitarlos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que más cuestan puntos, y la corrección concreta de cada uno.</a:t>
            </a:r>
            <a:endParaRPr lang="en-US" sz="1400" dirty="0"/>
          </a:p>
        </p:txBody>
      </p:sp>
      <p:sp>
        <p:nvSpPr>
          <p:cNvPr id="4" name="Shape 2"/>
          <p:cNvSpPr/>
          <p:nvPr/>
        </p:nvSpPr>
        <p:spPr>
          <a:xfrm>
            <a:off x="548640" y="178308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86384" y="2084832"/>
            <a:ext cx="384048" cy="384048"/>
          </a:xfrm>
          <a:prstGeom prst="ellipse">
            <a:avLst/>
          </a:prstGeom>
          <a:solidFill>
            <a:srgbClr val="AC212E"/>
          </a:solidFill>
          <a:ln/>
        </p:spPr>
        <p:txBody>
          <a:bodyPr/>
          <a:lstStyle/>
          <a:p>
            <a:endParaRPr lang="es-CL"/>
          </a:p>
        </p:txBody>
      </p:sp>
      <p:sp>
        <p:nvSpPr>
          <p:cNvPr id="6" name="Text 4"/>
          <p:cNvSpPr/>
          <p:nvPr/>
        </p:nvSpPr>
        <p:spPr>
          <a:xfrm>
            <a:off x="786384" y="20848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325880" y="190195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Confundir Git con GitHub</a:t>
            </a:r>
            <a:endParaRPr lang="en-US" sz="1350" dirty="0"/>
          </a:p>
        </p:txBody>
      </p:sp>
      <p:sp>
        <p:nvSpPr>
          <p:cNvPr id="8" name="Text 6"/>
          <p:cNvSpPr/>
          <p:nvPr/>
        </p:nvSpPr>
        <p:spPr>
          <a:xfrm>
            <a:off x="1325880" y="225856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Declarar la función de cada uno: control local frente a repositorio remoto y colaboración.</a:t>
            </a:r>
            <a:endParaRPr lang="en-US" sz="1200" dirty="0"/>
          </a:p>
        </p:txBody>
      </p:sp>
      <p:sp>
        <p:nvSpPr>
          <p:cNvPr id="9" name="Shape 7"/>
          <p:cNvSpPr/>
          <p:nvPr/>
        </p:nvSpPr>
        <p:spPr>
          <a:xfrm>
            <a:off x="6309360" y="178308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47104" y="2084832"/>
            <a:ext cx="384048" cy="384048"/>
          </a:xfrm>
          <a:prstGeom prst="ellipse">
            <a:avLst/>
          </a:prstGeom>
          <a:solidFill>
            <a:srgbClr val="AC212E"/>
          </a:solidFill>
          <a:ln/>
        </p:spPr>
        <p:txBody>
          <a:bodyPr/>
          <a:lstStyle/>
          <a:p>
            <a:endParaRPr lang="es-CL"/>
          </a:p>
        </p:txBody>
      </p:sp>
      <p:sp>
        <p:nvSpPr>
          <p:cNvPr id="11" name="Text 9"/>
          <p:cNvSpPr/>
          <p:nvPr/>
        </p:nvSpPr>
        <p:spPr>
          <a:xfrm>
            <a:off x="6547104" y="208483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7086600" y="190195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Mapa sin leyenda</a:t>
            </a:r>
            <a:endParaRPr lang="en-US" sz="1350" dirty="0"/>
          </a:p>
        </p:txBody>
      </p:sp>
      <p:sp>
        <p:nvSpPr>
          <p:cNvPr id="13" name="Text 11"/>
          <p:cNvSpPr/>
          <p:nvPr/>
        </p:nvSpPr>
        <p:spPr>
          <a:xfrm>
            <a:off x="7086600" y="225856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Todo símbolo del mapa debe estar en la leyenda, y todo lo de la leyenda debe aparecer en el mapa.</a:t>
            </a:r>
            <a:endParaRPr lang="en-US" sz="1200" dirty="0"/>
          </a:p>
        </p:txBody>
      </p:sp>
      <p:sp>
        <p:nvSpPr>
          <p:cNvPr id="14" name="Shape 12"/>
          <p:cNvSpPr/>
          <p:nvPr/>
        </p:nvSpPr>
        <p:spPr>
          <a:xfrm>
            <a:off x="548640" y="310896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786384" y="3410712"/>
            <a:ext cx="384048" cy="384048"/>
          </a:xfrm>
          <a:prstGeom prst="ellipse">
            <a:avLst/>
          </a:prstGeom>
          <a:solidFill>
            <a:srgbClr val="AC212E"/>
          </a:solidFill>
          <a:ln/>
        </p:spPr>
        <p:txBody>
          <a:bodyPr/>
          <a:lstStyle/>
          <a:p>
            <a:endParaRPr lang="es-CL"/>
          </a:p>
        </p:txBody>
      </p:sp>
      <p:sp>
        <p:nvSpPr>
          <p:cNvPr id="16" name="Text 14"/>
          <p:cNvSpPr/>
          <p:nvPr/>
        </p:nvSpPr>
        <p:spPr>
          <a:xfrm>
            <a:off x="786384" y="341071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325880" y="322783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Listar herramientas sin vincularlas</a:t>
            </a:r>
            <a:endParaRPr lang="en-US" sz="1350" dirty="0"/>
          </a:p>
        </p:txBody>
      </p:sp>
      <p:sp>
        <p:nvSpPr>
          <p:cNvPr id="18" name="Text 16"/>
          <p:cNvSpPr/>
          <p:nvPr/>
        </p:nvSpPr>
        <p:spPr>
          <a:xfrm>
            <a:off x="1325880" y="358444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Asociar cada herramienta a la etapa del flujo que sostiene.</a:t>
            </a:r>
            <a:endParaRPr lang="en-US" sz="1200" dirty="0"/>
          </a:p>
        </p:txBody>
      </p:sp>
      <p:sp>
        <p:nvSpPr>
          <p:cNvPr id="19" name="Shape 17"/>
          <p:cNvSpPr/>
          <p:nvPr/>
        </p:nvSpPr>
        <p:spPr>
          <a:xfrm>
            <a:off x="6309360" y="310896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47104" y="3410712"/>
            <a:ext cx="384048" cy="384048"/>
          </a:xfrm>
          <a:prstGeom prst="ellipse">
            <a:avLst/>
          </a:prstGeom>
          <a:solidFill>
            <a:srgbClr val="AC212E"/>
          </a:solidFill>
          <a:ln/>
        </p:spPr>
        <p:txBody>
          <a:bodyPr/>
          <a:lstStyle/>
          <a:p>
            <a:endParaRPr lang="es-CL"/>
          </a:p>
        </p:txBody>
      </p:sp>
      <p:sp>
        <p:nvSpPr>
          <p:cNvPr id="21" name="Text 19"/>
          <p:cNvSpPr/>
          <p:nvPr/>
        </p:nvSpPr>
        <p:spPr>
          <a:xfrm>
            <a:off x="6547104" y="341071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086600" y="322783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Commits genéricos</a:t>
            </a:r>
            <a:endParaRPr lang="en-US" sz="1350" dirty="0"/>
          </a:p>
        </p:txBody>
      </p:sp>
      <p:sp>
        <p:nvSpPr>
          <p:cNvPr id="23" name="Text 21"/>
          <p:cNvSpPr/>
          <p:nvPr/>
        </p:nvSpPr>
        <p:spPr>
          <a:xfrm>
            <a:off x="7086600" y="358444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Reemplazar «primer commit» por mensajes que describan el cambio.</a:t>
            </a:r>
            <a:endParaRPr lang="en-US" sz="1200" dirty="0"/>
          </a:p>
        </p:txBody>
      </p:sp>
      <p:sp>
        <p:nvSpPr>
          <p:cNvPr id="24" name="Shape 22"/>
          <p:cNvSpPr/>
          <p:nvPr/>
        </p:nvSpPr>
        <p:spPr>
          <a:xfrm>
            <a:off x="548640" y="443484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25" name="Shape 23"/>
          <p:cNvSpPr/>
          <p:nvPr/>
        </p:nvSpPr>
        <p:spPr>
          <a:xfrm>
            <a:off x="786384" y="4736592"/>
            <a:ext cx="384048" cy="384048"/>
          </a:xfrm>
          <a:prstGeom prst="ellipse">
            <a:avLst/>
          </a:prstGeom>
          <a:solidFill>
            <a:srgbClr val="AC212E"/>
          </a:solidFill>
          <a:ln/>
        </p:spPr>
        <p:txBody>
          <a:bodyPr/>
          <a:lstStyle/>
          <a:p>
            <a:endParaRPr lang="es-CL"/>
          </a:p>
        </p:txBody>
      </p:sp>
      <p:sp>
        <p:nvSpPr>
          <p:cNvPr id="26" name="Text 24"/>
          <p:cNvSpPr/>
          <p:nvPr/>
        </p:nvSpPr>
        <p:spPr>
          <a:xfrm>
            <a:off x="786384" y="47365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1325880" y="455371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Mapa desconectado del problema</a:t>
            </a:r>
            <a:endParaRPr lang="en-US" sz="1350" dirty="0"/>
          </a:p>
        </p:txBody>
      </p:sp>
      <p:sp>
        <p:nvSpPr>
          <p:cNvPr id="28" name="Text 26"/>
          <p:cNvSpPr/>
          <p:nvPr/>
        </p:nvSpPr>
        <p:spPr>
          <a:xfrm>
            <a:off x="1325880" y="491032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Partir de la problemática y el dataset: son lo que evalúa el criterio 5.</a:t>
            </a:r>
            <a:endParaRPr lang="en-US" sz="1200" dirty="0"/>
          </a:p>
        </p:txBody>
      </p:sp>
      <p:sp>
        <p:nvSpPr>
          <p:cNvPr id="29" name="Shape 27"/>
          <p:cNvSpPr/>
          <p:nvPr/>
        </p:nvSpPr>
        <p:spPr>
          <a:xfrm>
            <a:off x="6309360" y="4434840"/>
            <a:ext cx="5303520" cy="1143000"/>
          </a:xfrm>
          <a:prstGeom prst="roundRect">
            <a:avLst>
              <a:gd name="adj" fmla="val 7200"/>
            </a:avLst>
          </a:prstGeom>
          <a:solidFill>
            <a:srgbClr val="F4F7FA"/>
          </a:solidFill>
          <a:ln w="12700">
            <a:solidFill>
              <a:srgbClr val="F4F7FA"/>
            </a:solidFill>
            <a:prstDash val="solid"/>
          </a:ln>
        </p:spPr>
        <p:txBody>
          <a:bodyPr/>
          <a:lstStyle/>
          <a:p>
            <a:endParaRPr lang="es-CL"/>
          </a:p>
        </p:txBody>
      </p:sp>
      <p:sp>
        <p:nvSpPr>
          <p:cNvPr id="30" name="Shape 28"/>
          <p:cNvSpPr/>
          <p:nvPr/>
        </p:nvSpPr>
        <p:spPr>
          <a:xfrm>
            <a:off x="6547104" y="4736592"/>
            <a:ext cx="384048" cy="384048"/>
          </a:xfrm>
          <a:prstGeom prst="ellipse">
            <a:avLst/>
          </a:prstGeom>
          <a:solidFill>
            <a:srgbClr val="AC212E"/>
          </a:solidFill>
          <a:ln/>
        </p:spPr>
        <p:txBody>
          <a:bodyPr/>
          <a:lstStyle/>
          <a:p>
            <a:endParaRPr lang="es-CL"/>
          </a:p>
        </p:txBody>
      </p:sp>
      <p:sp>
        <p:nvSpPr>
          <p:cNvPr id="31" name="Text 29"/>
          <p:cNvSpPr/>
          <p:nvPr/>
        </p:nvSpPr>
        <p:spPr>
          <a:xfrm>
            <a:off x="6547104" y="4736592"/>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7086600" y="4553712"/>
            <a:ext cx="4389120" cy="347472"/>
          </a:xfrm>
          <a:prstGeom prst="rect">
            <a:avLst/>
          </a:prstGeom>
          <a:noFill/>
          <a:ln/>
        </p:spPr>
        <p:txBody>
          <a:bodyPr wrap="square" lIns="0" tIns="0" rIns="0" bIns="0" rtlCol="0" anchor="ctr"/>
          <a:lstStyle/>
          <a:p>
            <a:pPr marL="0" indent="0">
              <a:buNone/>
            </a:pPr>
            <a:r>
              <a:rPr lang="en-US" sz="1350" b="1" dirty="0">
                <a:solidFill>
                  <a:srgbClr val="06304A"/>
                </a:solidFill>
                <a:latin typeface="Calibri" pitchFamily="34" charset="0"/>
                <a:ea typeface="Calibri" pitchFamily="34" charset="-122"/>
                <a:cs typeface="Calibri" pitchFamily="34" charset="-120"/>
              </a:rPr>
              <a:t>Omitir los aspectos formales</a:t>
            </a:r>
            <a:endParaRPr lang="en-US" sz="1350" dirty="0"/>
          </a:p>
        </p:txBody>
      </p:sp>
      <p:sp>
        <p:nvSpPr>
          <p:cNvPr id="33" name="Text 31"/>
          <p:cNvSpPr/>
          <p:nvPr/>
        </p:nvSpPr>
        <p:spPr>
          <a:xfrm>
            <a:off x="7086600" y="4910328"/>
            <a:ext cx="4389120" cy="566928"/>
          </a:xfrm>
          <a:prstGeom prst="rect">
            <a:avLst/>
          </a:prstGeom>
          <a:noFill/>
          <a:ln/>
        </p:spPr>
        <p:txBody>
          <a:bodyPr wrap="square" lIns="0" tIns="0" rIns="0" bIns="0" rtlCol="0" anchor="t"/>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Verificar nombre de archivo, dos páginas, portada con integrantes y referencia APA 7.</a:t>
            </a:r>
            <a:endParaRPr lang="en-US" sz="12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55000"/>
          </a:blip>
          <a:stretch>
            <a:fillRect/>
          </a:stretch>
        </p:blipFill>
        <p:spPr>
          <a:xfrm>
            <a:off x="6675120" y="0"/>
            <a:ext cx="5513832" cy="3227832"/>
          </a:xfrm>
          <a:prstGeom prst="rect">
            <a:avLst/>
          </a:prstGeom>
        </p:spPr>
      </p:pic>
      <p:sp>
        <p:nvSpPr>
          <p:cNvPr id="3" name="Shape 0"/>
          <p:cNvSpPr/>
          <p:nvPr/>
        </p:nvSpPr>
        <p:spPr>
          <a:xfrm>
            <a:off x="6675120" y="0"/>
            <a:ext cx="5513832" cy="3227832"/>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457200"/>
            <a:ext cx="4754880" cy="886968"/>
          </a:xfrm>
          <a:prstGeom prst="rect">
            <a:avLst/>
          </a:prstGeom>
        </p:spPr>
      </p:pic>
      <p:sp>
        <p:nvSpPr>
          <p:cNvPr id="5" name="Text 1"/>
          <p:cNvSpPr/>
          <p:nvPr/>
        </p:nvSpPr>
        <p:spPr>
          <a:xfrm>
            <a:off x="548640" y="1874520"/>
            <a:ext cx="7680960" cy="640080"/>
          </a:xfrm>
          <a:prstGeom prst="rect">
            <a:avLst/>
          </a:prstGeom>
          <a:noFill/>
          <a:ln/>
        </p:spPr>
        <p:txBody>
          <a:bodyPr wrap="square" lIns="0" tIns="0" rIns="0" bIns="0" rtlCol="0" anchor="ctr"/>
          <a:lstStyle/>
          <a:p>
            <a:pPr marL="0" indent="0">
              <a:buNone/>
            </a:pPr>
            <a:r>
              <a:rPr lang="en-US" sz="4000" b="1" kern="0" spc="200" dirty="0">
                <a:solidFill>
                  <a:srgbClr val="FFFFFF"/>
                </a:solidFill>
                <a:latin typeface="Cambria" pitchFamily="34" charset="0"/>
                <a:ea typeface="Cambria" pitchFamily="34" charset="-122"/>
                <a:cs typeface="Cambria" pitchFamily="34" charset="-120"/>
              </a:rPr>
              <a:t>SUMATIVA 1</a:t>
            </a:r>
            <a:endParaRPr lang="en-US" sz="4000" dirty="0"/>
          </a:p>
        </p:txBody>
      </p:sp>
      <p:sp>
        <p:nvSpPr>
          <p:cNvPr id="6" name="Text 2"/>
          <p:cNvSpPr/>
          <p:nvPr/>
        </p:nvSpPr>
        <p:spPr>
          <a:xfrm>
            <a:off x="548640" y="2606040"/>
            <a:ext cx="7680960" cy="502920"/>
          </a:xfrm>
          <a:prstGeom prst="rect">
            <a:avLst/>
          </a:prstGeom>
          <a:noFill/>
          <a:ln/>
        </p:spPr>
        <p:txBody>
          <a:bodyPr wrap="square" lIns="0" tIns="0" rIns="0" bIns="0" rtlCol="0" anchor="ctr"/>
          <a:lstStyle/>
          <a:p>
            <a:pPr marL="0" indent="0">
              <a:buNone/>
            </a:pPr>
            <a:r>
              <a:rPr lang="en-US" sz="2400" dirty="0">
                <a:solidFill>
                  <a:srgbClr val="D7E3EE"/>
                </a:solidFill>
                <a:latin typeface="Cambria" pitchFamily="34" charset="0"/>
                <a:ea typeface="Cambria" pitchFamily="34" charset="-122"/>
                <a:cs typeface="Cambria" pitchFamily="34" charset="-120"/>
              </a:rPr>
              <a:t>Procedimientos prácticos, paso a paso</a:t>
            </a:r>
            <a:endParaRPr lang="en-US" sz="2400" dirty="0"/>
          </a:p>
        </p:txBody>
      </p:sp>
      <p:sp>
        <p:nvSpPr>
          <p:cNvPr id="7" name="Shape 3"/>
          <p:cNvSpPr/>
          <p:nvPr/>
        </p:nvSpPr>
        <p:spPr>
          <a:xfrm>
            <a:off x="548640" y="3337560"/>
            <a:ext cx="1280160" cy="45720"/>
          </a:xfrm>
          <a:prstGeom prst="rect">
            <a:avLst/>
          </a:prstGeom>
          <a:solidFill>
            <a:srgbClr val="AC212E"/>
          </a:solidFill>
          <a:ln w="12700">
            <a:solidFill>
              <a:srgbClr val="AC212E"/>
            </a:solidFill>
            <a:prstDash val="solid"/>
          </a:ln>
        </p:spPr>
        <p:txBody>
          <a:bodyPr/>
          <a:lstStyle/>
          <a:p>
            <a:endParaRPr lang="es-CL"/>
          </a:p>
        </p:txBody>
      </p:sp>
      <p:sp>
        <p:nvSpPr>
          <p:cNvPr id="8" name="Text 4"/>
          <p:cNvSpPr/>
          <p:nvPr/>
        </p:nvSpPr>
        <p:spPr>
          <a:xfrm>
            <a:off x="548640" y="3611880"/>
            <a:ext cx="7863840" cy="457200"/>
          </a:xfrm>
          <a:prstGeom prst="rect">
            <a:avLst/>
          </a:prstGeom>
          <a:noFill/>
          <a:ln/>
        </p:spPr>
        <p:txBody>
          <a:bodyPr wrap="square" lIns="0" tIns="0" rIns="0" bIns="0" rtlCol="0" anchor="ctr"/>
          <a:lstStyle/>
          <a:p>
            <a:pPr marL="0" indent="0">
              <a:buNone/>
            </a:pPr>
            <a:r>
              <a:rPr lang="en-US" sz="1700" dirty="0">
                <a:solidFill>
                  <a:srgbClr val="D7E3EE"/>
                </a:solidFill>
                <a:latin typeface="Calibri" pitchFamily="34" charset="0"/>
                <a:ea typeface="Calibri" pitchFamily="34" charset="-122"/>
                <a:cs typeface="Calibri" pitchFamily="34" charset="-120"/>
              </a:rPr>
              <a:t>Avance del proyecto — Fases 1 y 2</a:t>
            </a:r>
            <a:endParaRPr lang="en-US" sz="1700" dirty="0"/>
          </a:p>
        </p:txBody>
      </p:sp>
      <p:sp>
        <p:nvSpPr>
          <p:cNvPr id="9" name="Text 5"/>
          <p:cNvSpPr/>
          <p:nvPr/>
        </p:nvSpPr>
        <p:spPr>
          <a:xfrm>
            <a:off x="548640" y="5943600"/>
            <a:ext cx="1106424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MCDI500 · Programación para la Ciencia de Datos   |   Trabajo grupal (3–4)   |   99 puntos</a:t>
            </a:r>
            <a:endParaRPr lang="en-US" sz="1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Qué se entrega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Cuatro productos. Los cuatro se evalúan, y ninguno reemplaza a otro.</a:t>
            </a:r>
            <a:endParaRPr lang="en-US" sz="1400" dirty="0"/>
          </a:p>
        </p:txBody>
      </p:sp>
      <p:sp>
        <p:nvSpPr>
          <p:cNvPr id="4" name="Shape 2"/>
          <p:cNvSpPr/>
          <p:nvPr/>
        </p:nvSpPr>
        <p:spPr>
          <a:xfrm>
            <a:off x="548640" y="1828800"/>
            <a:ext cx="2606040" cy="265176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777240" y="2057400"/>
            <a:ext cx="457200" cy="457200"/>
          </a:xfrm>
          <a:prstGeom prst="ellipse">
            <a:avLst/>
          </a:prstGeom>
          <a:solidFill>
            <a:srgbClr val="AC212E"/>
          </a:solidFill>
          <a:ln/>
        </p:spPr>
        <p:txBody>
          <a:bodyPr/>
          <a:lstStyle/>
          <a:p>
            <a:endParaRPr lang="es-CL"/>
          </a:p>
        </p:txBody>
      </p:sp>
      <p:sp>
        <p:nvSpPr>
          <p:cNvPr id="6" name="Text 4"/>
          <p:cNvSpPr/>
          <p:nvPr/>
        </p:nvSpPr>
        <p:spPr>
          <a:xfrm>
            <a:off x="777240"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777240"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Informe técnico</a:t>
            </a:r>
            <a:endParaRPr lang="en-US" sz="1500" dirty="0"/>
          </a:p>
        </p:txBody>
      </p:sp>
      <p:sp>
        <p:nvSpPr>
          <p:cNvPr id="8" name="Text 6"/>
          <p:cNvSpPr/>
          <p:nvPr/>
        </p:nvSpPr>
        <p:spPr>
          <a:xfrm>
            <a:off x="777240"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PDF</a:t>
            </a:r>
            <a:endParaRPr lang="en-US" sz="1100" dirty="0"/>
          </a:p>
        </p:txBody>
      </p:sp>
      <p:sp>
        <p:nvSpPr>
          <p:cNvPr id="9" name="Text 7"/>
          <p:cNvSpPr/>
          <p:nvPr/>
        </p:nvSpPr>
        <p:spPr>
          <a:xfrm>
            <a:off x="777240"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Problemática, objetivos, metodología, decisiones justificadas y bibliografía en APA 7.</a:t>
            </a:r>
            <a:endParaRPr lang="en-US" sz="1200" dirty="0"/>
          </a:p>
        </p:txBody>
      </p:sp>
      <p:sp>
        <p:nvSpPr>
          <p:cNvPr id="10" name="Shape 8"/>
          <p:cNvSpPr/>
          <p:nvPr/>
        </p:nvSpPr>
        <p:spPr>
          <a:xfrm>
            <a:off x="3419856" y="1828800"/>
            <a:ext cx="2606040" cy="2651760"/>
          </a:xfrm>
          <a:prstGeom prst="roundRect">
            <a:avLst>
              <a:gd name="adj" fmla="val 3158"/>
            </a:avLst>
          </a:prstGeom>
          <a:solidFill>
            <a:srgbClr val="F4F7FA"/>
          </a:solidFill>
          <a:ln w="12700">
            <a:solidFill>
              <a:srgbClr val="F4F7FA"/>
            </a:solidFill>
            <a:prstDash val="solid"/>
          </a:ln>
        </p:spPr>
        <p:txBody>
          <a:bodyPr/>
          <a:lstStyle/>
          <a:p>
            <a:endParaRPr lang="es-CL"/>
          </a:p>
        </p:txBody>
      </p:sp>
      <p:sp>
        <p:nvSpPr>
          <p:cNvPr id="11" name="Shape 9"/>
          <p:cNvSpPr/>
          <p:nvPr/>
        </p:nvSpPr>
        <p:spPr>
          <a:xfrm>
            <a:off x="3648456" y="2057400"/>
            <a:ext cx="457200" cy="457200"/>
          </a:xfrm>
          <a:prstGeom prst="ellipse">
            <a:avLst/>
          </a:prstGeom>
          <a:solidFill>
            <a:srgbClr val="AC212E"/>
          </a:solidFill>
          <a:ln/>
        </p:spPr>
        <p:txBody>
          <a:bodyPr/>
          <a:lstStyle/>
          <a:p>
            <a:endParaRPr lang="es-CL"/>
          </a:p>
        </p:txBody>
      </p:sp>
      <p:sp>
        <p:nvSpPr>
          <p:cNvPr id="12" name="Text 10"/>
          <p:cNvSpPr/>
          <p:nvPr/>
        </p:nvSpPr>
        <p:spPr>
          <a:xfrm>
            <a:off x="3648456"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648456"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Repositorio GitHub</a:t>
            </a:r>
            <a:endParaRPr lang="en-US" sz="1500" dirty="0"/>
          </a:p>
        </p:txBody>
      </p:sp>
      <p:sp>
        <p:nvSpPr>
          <p:cNvPr id="14" name="Text 12"/>
          <p:cNvSpPr/>
          <p:nvPr/>
        </p:nvSpPr>
        <p:spPr>
          <a:xfrm>
            <a:off x="3648456"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enlace</a:t>
            </a:r>
            <a:endParaRPr lang="en-US" sz="1100" dirty="0"/>
          </a:p>
        </p:txBody>
      </p:sp>
      <p:sp>
        <p:nvSpPr>
          <p:cNvPr id="15" name="Text 13"/>
          <p:cNvSpPr/>
          <p:nvPr/>
        </p:nvSpPr>
        <p:spPr>
          <a:xfrm>
            <a:off x="3648456"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Estructura por fases, README, .gitignore, requirements y commits de cada integrante.</a:t>
            </a:r>
            <a:endParaRPr lang="en-US" sz="1200" dirty="0"/>
          </a:p>
        </p:txBody>
      </p:sp>
      <p:sp>
        <p:nvSpPr>
          <p:cNvPr id="16" name="Shape 14"/>
          <p:cNvSpPr/>
          <p:nvPr/>
        </p:nvSpPr>
        <p:spPr>
          <a:xfrm>
            <a:off x="6291072" y="1828800"/>
            <a:ext cx="2606040" cy="2651760"/>
          </a:xfrm>
          <a:prstGeom prst="roundRect">
            <a:avLst>
              <a:gd name="adj" fmla="val 3158"/>
            </a:avLst>
          </a:prstGeom>
          <a:solidFill>
            <a:srgbClr val="F6E7E9"/>
          </a:solidFill>
          <a:ln w="12700">
            <a:solidFill>
              <a:srgbClr val="F6E7E9"/>
            </a:solidFill>
            <a:prstDash val="solid"/>
          </a:ln>
        </p:spPr>
        <p:txBody>
          <a:bodyPr/>
          <a:lstStyle/>
          <a:p>
            <a:endParaRPr lang="es-CL"/>
          </a:p>
        </p:txBody>
      </p:sp>
      <p:sp>
        <p:nvSpPr>
          <p:cNvPr id="17" name="Shape 15"/>
          <p:cNvSpPr/>
          <p:nvPr/>
        </p:nvSpPr>
        <p:spPr>
          <a:xfrm>
            <a:off x="6519672" y="2057400"/>
            <a:ext cx="457200" cy="457200"/>
          </a:xfrm>
          <a:prstGeom prst="ellipse">
            <a:avLst/>
          </a:prstGeom>
          <a:solidFill>
            <a:srgbClr val="AC212E"/>
          </a:solidFill>
          <a:ln/>
        </p:spPr>
        <p:txBody>
          <a:bodyPr/>
          <a:lstStyle/>
          <a:p>
            <a:endParaRPr lang="es-CL"/>
          </a:p>
        </p:txBody>
      </p:sp>
      <p:sp>
        <p:nvSpPr>
          <p:cNvPr id="18" name="Text 16"/>
          <p:cNvSpPr/>
          <p:nvPr/>
        </p:nvSpPr>
        <p:spPr>
          <a:xfrm>
            <a:off x="6519672"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519672"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Notebook F1</a:t>
            </a:r>
            <a:endParaRPr lang="en-US" sz="1500" dirty="0"/>
          </a:p>
        </p:txBody>
      </p:sp>
      <p:sp>
        <p:nvSpPr>
          <p:cNvPr id="20" name="Text 18"/>
          <p:cNvSpPr/>
          <p:nvPr/>
        </p:nvSpPr>
        <p:spPr>
          <a:xfrm>
            <a:off x="6519672"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.ipynb</a:t>
            </a:r>
            <a:endParaRPr lang="en-US" sz="1100" dirty="0"/>
          </a:p>
        </p:txBody>
      </p:sp>
      <p:sp>
        <p:nvSpPr>
          <p:cNvPr id="21" name="Text 19"/>
          <p:cNvSpPr/>
          <p:nvPr/>
        </p:nvSpPr>
        <p:spPr>
          <a:xfrm>
            <a:off x="6519672"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Definición del problema, entorno reproducible y estructura del proyecto.</a:t>
            </a:r>
            <a:endParaRPr lang="en-US" sz="1200" dirty="0"/>
          </a:p>
        </p:txBody>
      </p:sp>
      <p:sp>
        <p:nvSpPr>
          <p:cNvPr id="22" name="Shape 20"/>
          <p:cNvSpPr/>
          <p:nvPr/>
        </p:nvSpPr>
        <p:spPr>
          <a:xfrm>
            <a:off x="9162288" y="1828800"/>
            <a:ext cx="2606040" cy="2651760"/>
          </a:xfrm>
          <a:prstGeom prst="roundRect">
            <a:avLst>
              <a:gd name="adj" fmla="val 3158"/>
            </a:avLst>
          </a:prstGeom>
          <a:solidFill>
            <a:srgbClr val="F6E7E9"/>
          </a:solidFill>
          <a:ln w="12700">
            <a:solidFill>
              <a:srgbClr val="F6E7E9"/>
            </a:solidFill>
            <a:prstDash val="solid"/>
          </a:ln>
        </p:spPr>
        <p:txBody>
          <a:bodyPr/>
          <a:lstStyle/>
          <a:p>
            <a:endParaRPr lang="es-CL"/>
          </a:p>
        </p:txBody>
      </p:sp>
      <p:sp>
        <p:nvSpPr>
          <p:cNvPr id="23" name="Shape 21"/>
          <p:cNvSpPr/>
          <p:nvPr/>
        </p:nvSpPr>
        <p:spPr>
          <a:xfrm>
            <a:off x="9390888" y="2057400"/>
            <a:ext cx="457200" cy="457200"/>
          </a:xfrm>
          <a:prstGeom prst="ellipse">
            <a:avLst/>
          </a:prstGeom>
          <a:solidFill>
            <a:srgbClr val="AC212E"/>
          </a:solidFill>
          <a:ln/>
        </p:spPr>
        <p:txBody>
          <a:bodyPr/>
          <a:lstStyle/>
          <a:p>
            <a:endParaRPr lang="es-CL"/>
          </a:p>
        </p:txBody>
      </p:sp>
      <p:sp>
        <p:nvSpPr>
          <p:cNvPr id="24" name="Text 22"/>
          <p:cNvSpPr/>
          <p:nvPr/>
        </p:nvSpPr>
        <p:spPr>
          <a:xfrm>
            <a:off x="9390888" y="205740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9390888" y="2651760"/>
            <a:ext cx="2148840" cy="384048"/>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Notebook F2</a:t>
            </a:r>
            <a:endParaRPr lang="en-US" sz="1500" dirty="0"/>
          </a:p>
        </p:txBody>
      </p:sp>
      <p:sp>
        <p:nvSpPr>
          <p:cNvPr id="26" name="Text 24"/>
          <p:cNvSpPr/>
          <p:nvPr/>
        </p:nvSpPr>
        <p:spPr>
          <a:xfrm>
            <a:off x="9390888" y="3035808"/>
            <a:ext cx="2148840" cy="274320"/>
          </a:xfrm>
          <a:prstGeom prst="rect">
            <a:avLst/>
          </a:prstGeom>
          <a:noFill/>
          <a:ln/>
        </p:spPr>
        <p:txBody>
          <a:bodyPr wrap="square" lIns="0" tIns="0" rIns="0" bIns="0" rtlCol="0" anchor="ctr"/>
          <a:lstStyle/>
          <a:p>
            <a:pPr marL="0" indent="0">
              <a:buNone/>
            </a:pPr>
            <a:r>
              <a:rPr lang="en-US" sz="1100" dirty="0">
                <a:solidFill>
                  <a:srgbClr val="AC212E"/>
                </a:solidFill>
                <a:latin typeface="Courier New" pitchFamily="34" charset="0"/>
                <a:ea typeface="Courier New" pitchFamily="34" charset="-122"/>
                <a:cs typeface="Courier New" pitchFamily="34" charset="-120"/>
              </a:rPr>
              <a:t>.ipynb</a:t>
            </a:r>
            <a:endParaRPr lang="en-US" sz="1100" dirty="0"/>
          </a:p>
        </p:txBody>
      </p:sp>
      <p:sp>
        <p:nvSpPr>
          <p:cNvPr id="27" name="Text 25"/>
          <p:cNvSpPr/>
          <p:nvPr/>
        </p:nvSpPr>
        <p:spPr>
          <a:xfrm>
            <a:off x="9390888" y="3364992"/>
            <a:ext cx="2148840" cy="9601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Pipeline de obtención, limpieza, transformación y validación.</a:t>
            </a:r>
            <a:endParaRPr lang="en-US" sz="1200" dirty="0"/>
          </a:p>
        </p:txBody>
      </p:sp>
      <p:sp>
        <p:nvSpPr>
          <p:cNvPr id="28" name="Shape 26"/>
          <p:cNvSpPr/>
          <p:nvPr/>
        </p:nvSpPr>
        <p:spPr>
          <a:xfrm>
            <a:off x="548640" y="4800600"/>
            <a:ext cx="11064240" cy="1143000"/>
          </a:xfrm>
          <a:prstGeom prst="roundRect">
            <a:avLst>
              <a:gd name="adj" fmla="val 7200"/>
            </a:avLst>
          </a:prstGeom>
          <a:solidFill>
            <a:srgbClr val="0A1526"/>
          </a:solidFill>
          <a:ln w="12700">
            <a:solidFill>
              <a:srgbClr val="0A1526"/>
            </a:solidFill>
            <a:prstDash val="solid"/>
          </a:ln>
        </p:spPr>
        <p:txBody>
          <a:bodyPr/>
          <a:lstStyle/>
          <a:p>
            <a:endParaRPr lang="es-CL"/>
          </a:p>
        </p:txBody>
      </p:sp>
      <p:sp>
        <p:nvSpPr>
          <p:cNvPr id="29" name="Text 27"/>
          <p:cNvSpPr/>
          <p:nvPr/>
        </p:nvSpPr>
        <p:spPr>
          <a:xfrm>
            <a:off x="868680" y="4983480"/>
            <a:ext cx="10424160" cy="77724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La rúbrica evalúa los notebooks de F1 y F2 como criterios separados, de 9 puntos cada uno. Si entregan un solo archivo, debe tener las dos partes claramente rotuladas para que cada criterio pueda evaluarse por su cuenta.</a:t>
            </a:r>
            <a:endParaRPr lang="en-US" sz="1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Dónde se juegan los 99 puntos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Dos tercios están en el notebook y el repositorio. El resto, en el informe.</a:t>
            </a:r>
            <a:endParaRPr lang="en-US" sz="1400" dirty="0"/>
          </a:p>
        </p:txBody>
      </p:sp>
      <p:sp>
        <p:nvSpPr>
          <p:cNvPr id="4" name="Shape 2"/>
          <p:cNvSpPr/>
          <p:nvPr/>
        </p:nvSpPr>
        <p:spPr>
          <a:xfrm>
            <a:off x="548640" y="1828800"/>
            <a:ext cx="3520440" cy="3200400"/>
          </a:xfrm>
          <a:prstGeom prst="roundRect">
            <a:avLst>
              <a:gd name="adj" fmla="val 2571"/>
            </a:avLst>
          </a:prstGeom>
          <a:solidFill>
            <a:srgbClr val="F6E7E9"/>
          </a:solidFill>
          <a:ln w="12700">
            <a:solidFill>
              <a:srgbClr val="F6E7E9"/>
            </a:solidFill>
            <a:prstDash val="solid"/>
          </a:ln>
        </p:spPr>
        <p:txBody>
          <a:bodyPr/>
          <a:lstStyle/>
          <a:p>
            <a:endParaRPr lang="es-CL"/>
          </a:p>
        </p:txBody>
      </p:sp>
      <p:sp>
        <p:nvSpPr>
          <p:cNvPr id="5" name="Text 3"/>
          <p:cNvSpPr/>
          <p:nvPr/>
        </p:nvSpPr>
        <p:spPr>
          <a:xfrm>
            <a:off x="804672" y="2011680"/>
            <a:ext cx="1463040" cy="685800"/>
          </a:xfrm>
          <a:prstGeom prst="rect">
            <a:avLst/>
          </a:prstGeom>
          <a:noFill/>
          <a:ln/>
        </p:spPr>
        <p:txBody>
          <a:bodyPr wrap="square" lIns="0" tIns="0" rIns="0" bIns="0" rtlCol="0" anchor="ctr"/>
          <a:lstStyle/>
          <a:p>
            <a:pPr marL="0" indent="0">
              <a:buNone/>
            </a:pPr>
            <a:r>
              <a:rPr lang="en-US" sz="4000" b="1" dirty="0">
                <a:solidFill>
                  <a:srgbClr val="AC212E"/>
                </a:solidFill>
                <a:latin typeface="Cambria" pitchFamily="34" charset="0"/>
                <a:ea typeface="Cambria" pitchFamily="34" charset="-122"/>
                <a:cs typeface="Cambria" pitchFamily="34" charset="-120"/>
              </a:rPr>
              <a:t>66</a:t>
            </a:r>
            <a:endParaRPr lang="en-US" sz="4000" dirty="0"/>
          </a:p>
        </p:txBody>
      </p:sp>
      <p:sp>
        <p:nvSpPr>
          <p:cNvPr id="6" name="Text 4"/>
          <p:cNvSpPr/>
          <p:nvPr/>
        </p:nvSpPr>
        <p:spPr>
          <a:xfrm>
            <a:off x="2148840" y="2331720"/>
            <a:ext cx="1371600" cy="36576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puntos</a:t>
            </a:r>
            <a:endParaRPr lang="en-US" sz="1300" dirty="0"/>
          </a:p>
        </p:txBody>
      </p:sp>
      <p:sp>
        <p:nvSpPr>
          <p:cNvPr id="7" name="Text 5"/>
          <p:cNvSpPr/>
          <p:nvPr/>
        </p:nvSpPr>
        <p:spPr>
          <a:xfrm>
            <a:off x="804672" y="2788920"/>
            <a:ext cx="301752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En el notebook</a:t>
            </a:r>
            <a:endParaRPr lang="en-US" sz="1600" dirty="0"/>
          </a:p>
        </p:txBody>
      </p:sp>
      <p:sp>
        <p:nvSpPr>
          <p:cNvPr id="8" name="Text 6"/>
          <p:cNvSpPr/>
          <p:nvPr/>
        </p:nvSpPr>
        <p:spPr>
          <a:xfrm>
            <a:off x="804672" y="3200400"/>
            <a:ext cx="3017520" cy="1645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Herramientas científicas · reproducibilidad · codificación funcional · preprocesamiento · validación · notebooks F1 y F2 · vinculación del mapa</a:t>
            </a:r>
            <a:endParaRPr lang="en-US" sz="1200" dirty="0"/>
          </a:p>
        </p:txBody>
      </p:sp>
      <p:sp>
        <p:nvSpPr>
          <p:cNvPr id="9" name="Shape 7"/>
          <p:cNvSpPr/>
          <p:nvPr/>
        </p:nvSpPr>
        <p:spPr>
          <a:xfrm>
            <a:off x="4325112" y="182880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0" name="Text 8"/>
          <p:cNvSpPr/>
          <p:nvPr/>
        </p:nvSpPr>
        <p:spPr>
          <a:xfrm>
            <a:off x="4581144" y="2011680"/>
            <a:ext cx="1463040" cy="685800"/>
          </a:xfrm>
          <a:prstGeom prst="rect">
            <a:avLst/>
          </a:prstGeom>
          <a:noFill/>
          <a:ln/>
        </p:spPr>
        <p:txBody>
          <a:bodyPr wrap="square" lIns="0" tIns="0" rIns="0" bIns="0" rtlCol="0" anchor="ctr"/>
          <a:lstStyle/>
          <a:p>
            <a:pPr marL="0" indent="0">
              <a:buNone/>
            </a:pPr>
            <a:r>
              <a:rPr lang="en-US" sz="4000" b="1" dirty="0">
                <a:solidFill>
                  <a:srgbClr val="06304A"/>
                </a:solidFill>
                <a:latin typeface="Cambria" pitchFamily="34" charset="0"/>
                <a:ea typeface="Cambria" pitchFamily="34" charset="-122"/>
                <a:cs typeface="Cambria" pitchFamily="34" charset="-120"/>
              </a:rPr>
              <a:t>21</a:t>
            </a:r>
            <a:endParaRPr lang="en-US" sz="4000" dirty="0"/>
          </a:p>
        </p:txBody>
      </p:sp>
      <p:sp>
        <p:nvSpPr>
          <p:cNvPr id="11" name="Text 9"/>
          <p:cNvSpPr/>
          <p:nvPr/>
        </p:nvSpPr>
        <p:spPr>
          <a:xfrm>
            <a:off x="5925312" y="2331720"/>
            <a:ext cx="1371600" cy="36576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puntos</a:t>
            </a:r>
            <a:endParaRPr lang="en-US" sz="1300" dirty="0"/>
          </a:p>
        </p:txBody>
      </p:sp>
      <p:sp>
        <p:nvSpPr>
          <p:cNvPr id="12" name="Text 10"/>
          <p:cNvSpPr/>
          <p:nvPr/>
        </p:nvSpPr>
        <p:spPr>
          <a:xfrm>
            <a:off x="4581144" y="2788920"/>
            <a:ext cx="301752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En el informe</a:t>
            </a:r>
            <a:endParaRPr lang="en-US" sz="1600" dirty="0"/>
          </a:p>
        </p:txBody>
      </p:sp>
      <p:sp>
        <p:nvSpPr>
          <p:cNvPr id="13" name="Text 11"/>
          <p:cNvSpPr/>
          <p:nvPr/>
        </p:nvSpPr>
        <p:spPr>
          <a:xfrm>
            <a:off x="4581144" y="3200400"/>
            <a:ext cx="3017520" cy="1645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Portada e índice · introducción y contextualización · problemática y objetivos · aspectos formales y APA 7</a:t>
            </a:r>
            <a:endParaRPr lang="en-US" sz="1200" dirty="0"/>
          </a:p>
        </p:txBody>
      </p:sp>
      <p:sp>
        <p:nvSpPr>
          <p:cNvPr id="14" name="Shape 12"/>
          <p:cNvSpPr/>
          <p:nvPr/>
        </p:nvSpPr>
        <p:spPr>
          <a:xfrm>
            <a:off x="8101584" y="1828800"/>
            <a:ext cx="3520440" cy="3200400"/>
          </a:xfrm>
          <a:prstGeom prst="roundRect">
            <a:avLst>
              <a:gd name="adj" fmla="val 2571"/>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357616" y="2011680"/>
            <a:ext cx="1463040" cy="685800"/>
          </a:xfrm>
          <a:prstGeom prst="rect">
            <a:avLst/>
          </a:prstGeom>
          <a:noFill/>
          <a:ln/>
        </p:spPr>
        <p:txBody>
          <a:bodyPr wrap="square" lIns="0" tIns="0" rIns="0" bIns="0" rtlCol="0" anchor="ctr"/>
          <a:lstStyle/>
          <a:p>
            <a:pPr marL="0" indent="0">
              <a:buNone/>
            </a:pPr>
            <a:r>
              <a:rPr lang="en-US" sz="4000" b="1" dirty="0">
                <a:solidFill>
                  <a:srgbClr val="06304A"/>
                </a:solidFill>
                <a:latin typeface="Cambria" pitchFamily="34" charset="0"/>
                <a:ea typeface="Cambria" pitchFamily="34" charset="-122"/>
                <a:cs typeface="Cambria" pitchFamily="34" charset="-120"/>
              </a:rPr>
              <a:t>12</a:t>
            </a:r>
            <a:endParaRPr lang="en-US" sz="4000" dirty="0"/>
          </a:p>
        </p:txBody>
      </p:sp>
      <p:sp>
        <p:nvSpPr>
          <p:cNvPr id="16" name="Text 14"/>
          <p:cNvSpPr/>
          <p:nvPr/>
        </p:nvSpPr>
        <p:spPr>
          <a:xfrm>
            <a:off x="9701784" y="2331720"/>
            <a:ext cx="1371600" cy="365760"/>
          </a:xfrm>
          <a:prstGeom prst="rect">
            <a:avLst/>
          </a:prstGeom>
          <a:noFill/>
          <a:ln/>
        </p:spPr>
        <p:txBody>
          <a:bodyPr wrap="square" lIns="0" tIns="0" rIns="0" bIns="0" rtlCol="0" anchor="ctr"/>
          <a:lstStyle/>
          <a:p>
            <a:pPr marL="0" indent="0">
              <a:buNone/>
            </a:pPr>
            <a:r>
              <a:rPr lang="en-US" sz="1300" dirty="0">
                <a:solidFill>
                  <a:srgbClr val="5A6B7B"/>
                </a:solidFill>
                <a:latin typeface="Calibri" pitchFamily="34" charset="0"/>
                <a:ea typeface="Calibri" pitchFamily="34" charset="-122"/>
                <a:cs typeface="Calibri" pitchFamily="34" charset="-120"/>
              </a:rPr>
              <a:t>puntos</a:t>
            </a:r>
            <a:endParaRPr lang="en-US" sz="1300" dirty="0"/>
          </a:p>
        </p:txBody>
      </p:sp>
      <p:sp>
        <p:nvSpPr>
          <p:cNvPr id="17" name="Text 15"/>
          <p:cNvSpPr/>
          <p:nvPr/>
        </p:nvSpPr>
        <p:spPr>
          <a:xfrm>
            <a:off x="8357616" y="2788920"/>
            <a:ext cx="3017520" cy="365760"/>
          </a:xfrm>
          <a:prstGeom prst="rect">
            <a:avLst/>
          </a:prstGeom>
          <a:noFill/>
          <a:ln/>
        </p:spPr>
        <p:txBody>
          <a:bodyPr wrap="square" lIns="0" tIns="0" rIns="0" bIns="0" rtlCol="0" anchor="ctr"/>
          <a:lstStyle/>
          <a:p>
            <a:pPr marL="0" indent="0">
              <a:buNone/>
            </a:pPr>
            <a:r>
              <a:rPr lang="en-US" sz="1600" b="1" dirty="0">
                <a:solidFill>
                  <a:srgbClr val="06304A"/>
                </a:solidFill>
                <a:latin typeface="Calibri" pitchFamily="34" charset="0"/>
                <a:ea typeface="Calibri" pitchFamily="34" charset="-122"/>
                <a:cs typeface="Calibri" pitchFamily="34" charset="-120"/>
              </a:rPr>
              <a:t>En el repositorio</a:t>
            </a:r>
            <a:endParaRPr lang="en-US" sz="1600" dirty="0"/>
          </a:p>
        </p:txBody>
      </p:sp>
      <p:sp>
        <p:nvSpPr>
          <p:cNvPr id="18" name="Text 16"/>
          <p:cNvSpPr/>
          <p:nvPr/>
        </p:nvSpPr>
        <p:spPr>
          <a:xfrm>
            <a:off x="8357616" y="3200400"/>
            <a:ext cx="3017520" cy="1645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Control de versiones · estructura, README y commits identificables por integrante</a:t>
            </a:r>
            <a:endParaRPr lang="en-US" sz="1200" dirty="0"/>
          </a:p>
        </p:txBody>
      </p:sp>
      <p:sp>
        <p:nvSpPr>
          <p:cNvPr id="19" name="Text 17"/>
          <p:cNvSpPr/>
          <p:nvPr/>
        </p:nvSpPr>
        <p:spPr>
          <a:xfrm>
            <a:off x="548640" y="5303520"/>
            <a:ext cx="11064240" cy="457200"/>
          </a:xfrm>
          <a:prstGeom prst="rect">
            <a:avLst/>
          </a:prstGeom>
          <a:noFill/>
          <a:ln/>
        </p:spPr>
        <p:txBody>
          <a:bodyPr wrap="square" lIns="0" tIns="0" rIns="0" bIns="0" rtlCol="0" anchor="ctr"/>
          <a:lstStyle/>
          <a:p>
            <a:pPr marL="0" indent="0">
              <a:buNone/>
            </a:pPr>
            <a:r>
              <a:rPr lang="en-US" sz="1500" i="1" dirty="0">
                <a:solidFill>
                  <a:srgbClr val="AC212E"/>
                </a:solidFill>
                <a:latin typeface="Calibri" pitchFamily="34" charset="0"/>
                <a:ea typeface="Calibri" pitchFamily="34" charset="-122"/>
                <a:cs typeface="Calibri" pitchFamily="34" charset="-120"/>
              </a:rPr>
              <a:t>Un notebook impecable con un informe descuidado deja veintiún puntos sin cubrir.</a:t>
            </a:r>
            <a:endParaRPr lang="en-US" sz="15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La ruta completa: doce pasos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Los pasos 1 a 4 ya se cubrieron en los bloques anteriores. Aquí se detalla del 5 en adelante.</a:t>
            </a:r>
            <a:endParaRPr lang="en-US" sz="1400" dirty="0"/>
          </a:p>
        </p:txBody>
      </p:sp>
      <p:sp>
        <p:nvSpPr>
          <p:cNvPr id="4" name="Shape 2"/>
          <p:cNvSpPr/>
          <p:nvPr/>
        </p:nvSpPr>
        <p:spPr>
          <a:xfrm>
            <a:off x="548640" y="1828800"/>
            <a:ext cx="4114800" cy="3657600"/>
          </a:xfrm>
          <a:prstGeom prst="roundRect">
            <a:avLst>
              <a:gd name="adj" fmla="val 225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777240" y="1965960"/>
            <a:ext cx="365760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MONTAJE — Fase 1</a:t>
            </a:r>
            <a:endParaRPr lang="en-US" sz="1200" dirty="0"/>
          </a:p>
        </p:txBody>
      </p:sp>
      <p:sp>
        <p:nvSpPr>
          <p:cNvPr id="6" name="Shape 4"/>
          <p:cNvSpPr/>
          <p:nvPr/>
        </p:nvSpPr>
        <p:spPr>
          <a:xfrm>
            <a:off x="777240" y="2423160"/>
            <a:ext cx="347472" cy="347472"/>
          </a:xfrm>
          <a:prstGeom prst="ellipse">
            <a:avLst/>
          </a:prstGeom>
          <a:solidFill>
            <a:srgbClr val="AC212E"/>
          </a:solidFill>
          <a:ln/>
        </p:spPr>
        <p:txBody>
          <a:bodyPr/>
          <a:lstStyle/>
          <a:p>
            <a:endParaRPr lang="es-CL"/>
          </a:p>
        </p:txBody>
      </p:sp>
      <p:sp>
        <p:nvSpPr>
          <p:cNvPr id="7" name="Text 5"/>
          <p:cNvSpPr/>
          <p:nvPr/>
        </p:nvSpPr>
        <p:spPr>
          <a:xfrm>
            <a:off x="777240" y="24231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34440" y="240487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Entorno virtual y kernel</a:t>
            </a:r>
            <a:endParaRPr lang="en-US" sz="1200" dirty="0"/>
          </a:p>
        </p:txBody>
      </p:sp>
      <p:sp>
        <p:nvSpPr>
          <p:cNvPr id="9" name="Shape 7"/>
          <p:cNvSpPr/>
          <p:nvPr/>
        </p:nvSpPr>
        <p:spPr>
          <a:xfrm>
            <a:off x="777240" y="2926080"/>
            <a:ext cx="347472" cy="347472"/>
          </a:xfrm>
          <a:prstGeom prst="ellipse">
            <a:avLst/>
          </a:prstGeom>
          <a:solidFill>
            <a:srgbClr val="AC212E"/>
          </a:solidFill>
          <a:ln/>
        </p:spPr>
        <p:txBody>
          <a:bodyPr/>
          <a:lstStyle/>
          <a:p>
            <a:endParaRPr lang="es-CL"/>
          </a:p>
        </p:txBody>
      </p:sp>
      <p:sp>
        <p:nvSpPr>
          <p:cNvPr id="10" name="Text 8"/>
          <p:cNvSpPr/>
          <p:nvPr/>
        </p:nvSpPr>
        <p:spPr>
          <a:xfrm>
            <a:off x="777240" y="29260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234440" y="290779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Repositorio y estructura</a:t>
            </a:r>
            <a:endParaRPr lang="en-US" sz="1200" dirty="0"/>
          </a:p>
        </p:txBody>
      </p:sp>
      <p:sp>
        <p:nvSpPr>
          <p:cNvPr id="12" name="Shape 10"/>
          <p:cNvSpPr/>
          <p:nvPr/>
        </p:nvSpPr>
        <p:spPr>
          <a:xfrm>
            <a:off x="777240" y="3429000"/>
            <a:ext cx="347472" cy="347472"/>
          </a:xfrm>
          <a:prstGeom prst="ellipse">
            <a:avLst/>
          </a:prstGeom>
          <a:solidFill>
            <a:srgbClr val="AC212E"/>
          </a:solidFill>
          <a:ln/>
        </p:spPr>
        <p:txBody>
          <a:bodyPr/>
          <a:lstStyle/>
          <a:p>
            <a:endParaRPr lang="es-CL"/>
          </a:p>
        </p:txBody>
      </p:sp>
      <p:sp>
        <p:nvSpPr>
          <p:cNvPr id="13" name="Text 11"/>
          <p:cNvSpPr/>
          <p:nvPr/>
        </p:nvSpPr>
        <p:spPr>
          <a:xfrm>
            <a:off x="777240" y="34290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234440" y="341071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Descarga y verificación del dataset</a:t>
            </a:r>
            <a:endParaRPr lang="en-US" sz="1200" dirty="0"/>
          </a:p>
        </p:txBody>
      </p:sp>
      <p:sp>
        <p:nvSpPr>
          <p:cNvPr id="15" name="Shape 13"/>
          <p:cNvSpPr/>
          <p:nvPr/>
        </p:nvSpPr>
        <p:spPr>
          <a:xfrm>
            <a:off x="777240" y="3931920"/>
            <a:ext cx="347472" cy="347472"/>
          </a:xfrm>
          <a:prstGeom prst="ellipse">
            <a:avLst/>
          </a:prstGeom>
          <a:solidFill>
            <a:srgbClr val="AC212E"/>
          </a:solidFill>
          <a:ln/>
        </p:spPr>
        <p:txBody>
          <a:bodyPr/>
          <a:lstStyle/>
          <a:p>
            <a:endParaRPr lang="es-CL"/>
          </a:p>
        </p:txBody>
      </p:sp>
      <p:sp>
        <p:nvSpPr>
          <p:cNvPr id="16" name="Text 14"/>
          <p:cNvSpPr/>
          <p:nvPr/>
        </p:nvSpPr>
        <p:spPr>
          <a:xfrm>
            <a:off x="777240" y="39319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1234440" y="391363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Diccionario de variables</a:t>
            </a:r>
            <a:endParaRPr lang="en-US" sz="1200" dirty="0"/>
          </a:p>
        </p:txBody>
      </p:sp>
      <p:sp>
        <p:nvSpPr>
          <p:cNvPr id="18" name="Shape 16"/>
          <p:cNvSpPr/>
          <p:nvPr/>
        </p:nvSpPr>
        <p:spPr>
          <a:xfrm>
            <a:off x="777240" y="4434840"/>
            <a:ext cx="347472" cy="347472"/>
          </a:xfrm>
          <a:prstGeom prst="ellipse">
            <a:avLst/>
          </a:prstGeom>
          <a:solidFill>
            <a:srgbClr val="AC212E"/>
          </a:solidFill>
          <a:ln/>
        </p:spPr>
        <p:txBody>
          <a:bodyPr/>
          <a:lstStyle/>
          <a:p>
            <a:endParaRPr lang="es-CL"/>
          </a:p>
        </p:txBody>
      </p:sp>
      <p:sp>
        <p:nvSpPr>
          <p:cNvPr id="19" name="Text 17"/>
          <p:cNvSpPr/>
          <p:nvPr/>
        </p:nvSpPr>
        <p:spPr>
          <a:xfrm>
            <a:off x="777240" y="44348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1234440" y="4416552"/>
            <a:ext cx="32004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README y requirements</a:t>
            </a:r>
            <a:endParaRPr lang="en-US" sz="1200" dirty="0"/>
          </a:p>
        </p:txBody>
      </p:sp>
      <p:sp>
        <p:nvSpPr>
          <p:cNvPr id="21" name="Shape 19"/>
          <p:cNvSpPr/>
          <p:nvPr/>
        </p:nvSpPr>
        <p:spPr>
          <a:xfrm>
            <a:off x="4937760" y="1828800"/>
            <a:ext cx="4480560" cy="3657600"/>
          </a:xfrm>
          <a:prstGeom prst="roundRect">
            <a:avLst>
              <a:gd name="adj" fmla="val 2250"/>
            </a:avLst>
          </a:prstGeom>
          <a:solidFill>
            <a:srgbClr val="12203A"/>
          </a:solidFill>
          <a:ln w="12700">
            <a:solidFill>
              <a:srgbClr val="12203A"/>
            </a:solidFill>
            <a:prstDash val="solid"/>
          </a:ln>
        </p:spPr>
        <p:txBody>
          <a:bodyPr/>
          <a:lstStyle/>
          <a:p>
            <a:endParaRPr lang="es-CL"/>
          </a:p>
        </p:txBody>
      </p:sp>
      <p:sp>
        <p:nvSpPr>
          <p:cNvPr id="22" name="Text 20"/>
          <p:cNvSpPr/>
          <p:nvPr/>
        </p:nvSpPr>
        <p:spPr>
          <a:xfrm>
            <a:off x="5166360" y="1965960"/>
            <a:ext cx="402336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PIPELINE — Fase 2</a:t>
            </a:r>
            <a:endParaRPr lang="en-US" sz="1200" dirty="0"/>
          </a:p>
        </p:txBody>
      </p:sp>
      <p:sp>
        <p:nvSpPr>
          <p:cNvPr id="23" name="Shape 21"/>
          <p:cNvSpPr/>
          <p:nvPr/>
        </p:nvSpPr>
        <p:spPr>
          <a:xfrm>
            <a:off x="5166360" y="2423160"/>
            <a:ext cx="347472" cy="347472"/>
          </a:xfrm>
          <a:prstGeom prst="ellipse">
            <a:avLst/>
          </a:prstGeom>
          <a:solidFill>
            <a:srgbClr val="AC212E"/>
          </a:solidFill>
          <a:ln/>
        </p:spPr>
        <p:txBody>
          <a:bodyPr/>
          <a:lstStyle/>
          <a:p>
            <a:endParaRPr lang="es-CL"/>
          </a:p>
        </p:txBody>
      </p:sp>
      <p:sp>
        <p:nvSpPr>
          <p:cNvPr id="24" name="Text 22"/>
          <p:cNvSpPr/>
          <p:nvPr/>
        </p:nvSpPr>
        <p:spPr>
          <a:xfrm>
            <a:off x="5166360" y="24231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p:nvPr/>
        </p:nvSpPr>
        <p:spPr>
          <a:xfrm>
            <a:off x="5623560" y="240487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Exploración y medición</a:t>
            </a:r>
            <a:endParaRPr lang="en-US" sz="1200" dirty="0"/>
          </a:p>
        </p:txBody>
      </p:sp>
      <p:sp>
        <p:nvSpPr>
          <p:cNvPr id="26" name="Shape 24"/>
          <p:cNvSpPr/>
          <p:nvPr/>
        </p:nvSpPr>
        <p:spPr>
          <a:xfrm>
            <a:off x="5166360" y="2926080"/>
            <a:ext cx="347472" cy="347472"/>
          </a:xfrm>
          <a:prstGeom prst="ellipse">
            <a:avLst/>
          </a:prstGeom>
          <a:solidFill>
            <a:srgbClr val="AC212E"/>
          </a:solidFill>
          <a:ln/>
        </p:spPr>
        <p:txBody>
          <a:bodyPr/>
          <a:lstStyle/>
          <a:p>
            <a:endParaRPr lang="es-CL"/>
          </a:p>
        </p:txBody>
      </p:sp>
      <p:sp>
        <p:nvSpPr>
          <p:cNvPr id="27" name="Text 25"/>
          <p:cNvSpPr/>
          <p:nvPr/>
        </p:nvSpPr>
        <p:spPr>
          <a:xfrm>
            <a:off x="5166360" y="292608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8" name="Text 26"/>
          <p:cNvSpPr/>
          <p:nvPr/>
        </p:nvSpPr>
        <p:spPr>
          <a:xfrm>
            <a:off x="5623560" y="290779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Limpieza e imputación</a:t>
            </a:r>
            <a:endParaRPr lang="en-US" sz="1200" dirty="0"/>
          </a:p>
        </p:txBody>
      </p:sp>
      <p:sp>
        <p:nvSpPr>
          <p:cNvPr id="29" name="Shape 27"/>
          <p:cNvSpPr/>
          <p:nvPr/>
        </p:nvSpPr>
        <p:spPr>
          <a:xfrm>
            <a:off x="5166360" y="3429000"/>
            <a:ext cx="347472" cy="347472"/>
          </a:xfrm>
          <a:prstGeom prst="ellipse">
            <a:avLst/>
          </a:prstGeom>
          <a:solidFill>
            <a:srgbClr val="AC212E"/>
          </a:solidFill>
          <a:ln/>
        </p:spPr>
        <p:txBody>
          <a:bodyPr/>
          <a:lstStyle/>
          <a:p>
            <a:endParaRPr lang="es-CL"/>
          </a:p>
        </p:txBody>
      </p:sp>
      <p:sp>
        <p:nvSpPr>
          <p:cNvPr id="30" name="Text 28"/>
          <p:cNvSpPr/>
          <p:nvPr/>
        </p:nvSpPr>
        <p:spPr>
          <a:xfrm>
            <a:off x="5166360" y="342900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1" name="Text 29"/>
          <p:cNvSpPr/>
          <p:nvPr/>
        </p:nvSpPr>
        <p:spPr>
          <a:xfrm>
            <a:off x="5623560" y="341071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Transformación</a:t>
            </a:r>
            <a:endParaRPr lang="en-US" sz="1200" dirty="0"/>
          </a:p>
        </p:txBody>
      </p:sp>
      <p:sp>
        <p:nvSpPr>
          <p:cNvPr id="32" name="Shape 30"/>
          <p:cNvSpPr/>
          <p:nvPr/>
        </p:nvSpPr>
        <p:spPr>
          <a:xfrm>
            <a:off x="5166360" y="3931920"/>
            <a:ext cx="347472" cy="347472"/>
          </a:xfrm>
          <a:prstGeom prst="ellipse">
            <a:avLst/>
          </a:prstGeom>
          <a:solidFill>
            <a:srgbClr val="AC212E"/>
          </a:solidFill>
          <a:ln/>
        </p:spPr>
        <p:txBody>
          <a:bodyPr/>
          <a:lstStyle/>
          <a:p>
            <a:endParaRPr lang="es-CL"/>
          </a:p>
        </p:txBody>
      </p:sp>
      <p:sp>
        <p:nvSpPr>
          <p:cNvPr id="33" name="Text 31"/>
          <p:cNvSpPr/>
          <p:nvPr/>
        </p:nvSpPr>
        <p:spPr>
          <a:xfrm>
            <a:off x="5166360" y="393192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4" name="Text 32"/>
          <p:cNvSpPr/>
          <p:nvPr/>
        </p:nvSpPr>
        <p:spPr>
          <a:xfrm>
            <a:off x="5623560" y="391363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Escalamiento</a:t>
            </a:r>
            <a:endParaRPr lang="en-US" sz="1200" dirty="0"/>
          </a:p>
        </p:txBody>
      </p:sp>
      <p:sp>
        <p:nvSpPr>
          <p:cNvPr id="35" name="Shape 33"/>
          <p:cNvSpPr/>
          <p:nvPr/>
        </p:nvSpPr>
        <p:spPr>
          <a:xfrm>
            <a:off x="5166360" y="4434840"/>
            <a:ext cx="347472" cy="347472"/>
          </a:xfrm>
          <a:prstGeom prst="ellipse">
            <a:avLst/>
          </a:prstGeom>
          <a:solidFill>
            <a:srgbClr val="AC212E"/>
          </a:solidFill>
          <a:ln/>
        </p:spPr>
        <p:txBody>
          <a:bodyPr/>
          <a:lstStyle/>
          <a:p>
            <a:endParaRPr lang="es-CL"/>
          </a:p>
        </p:txBody>
      </p:sp>
      <p:sp>
        <p:nvSpPr>
          <p:cNvPr id="36" name="Text 34"/>
          <p:cNvSpPr/>
          <p:nvPr/>
        </p:nvSpPr>
        <p:spPr>
          <a:xfrm>
            <a:off x="5166360" y="44348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37" name="Text 35"/>
          <p:cNvSpPr/>
          <p:nvPr/>
        </p:nvSpPr>
        <p:spPr>
          <a:xfrm>
            <a:off x="5623560" y="441655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Validación y pruebas</a:t>
            </a:r>
            <a:endParaRPr lang="en-US" sz="1200" dirty="0"/>
          </a:p>
        </p:txBody>
      </p:sp>
      <p:sp>
        <p:nvSpPr>
          <p:cNvPr id="38" name="Shape 36"/>
          <p:cNvSpPr/>
          <p:nvPr/>
        </p:nvSpPr>
        <p:spPr>
          <a:xfrm>
            <a:off x="5166360" y="4937760"/>
            <a:ext cx="347472" cy="347472"/>
          </a:xfrm>
          <a:prstGeom prst="ellipse">
            <a:avLst/>
          </a:prstGeom>
          <a:solidFill>
            <a:srgbClr val="AC212E"/>
          </a:solidFill>
          <a:ln/>
        </p:spPr>
        <p:txBody>
          <a:bodyPr/>
          <a:lstStyle/>
          <a:p>
            <a:endParaRPr lang="es-CL"/>
          </a:p>
        </p:txBody>
      </p:sp>
      <p:sp>
        <p:nvSpPr>
          <p:cNvPr id="39" name="Text 37"/>
          <p:cNvSpPr/>
          <p:nvPr/>
        </p:nvSpPr>
        <p:spPr>
          <a:xfrm>
            <a:off x="5166360" y="49377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40" name="Text 38"/>
          <p:cNvSpPr/>
          <p:nvPr/>
        </p:nvSpPr>
        <p:spPr>
          <a:xfrm>
            <a:off x="5623560" y="4919472"/>
            <a:ext cx="356616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Persistencia y bitácora</a:t>
            </a:r>
            <a:endParaRPr lang="en-US" sz="1200" dirty="0"/>
          </a:p>
        </p:txBody>
      </p:sp>
      <p:sp>
        <p:nvSpPr>
          <p:cNvPr id="41" name="Shape 39"/>
          <p:cNvSpPr/>
          <p:nvPr/>
        </p:nvSpPr>
        <p:spPr>
          <a:xfrm>
            <a:off x="9692640" y="1828800"/>
            <a:ext cx="2286000" cy="3657600"/>
          </a:xfrm>
          <a:prstGeom prst="roundRect">
            <a:avLst>
              <a:gd name="adj" fmla="val 3600"/>
            </a:avLst>
          </a:prstGeom>
          <a:solidFill>
            <a:srgbClr val="12203A"/>
          </a:solidFill>
          <a:ln w="12700">
            <a:solidFill>
              <a:srgbClr val="12203A"/>
            </a:solidFill>
            <a:prstDash val="solid"/>
          </a:ln>
        </p:spPr>
        <p:txBody>
          <a:bodyPr/>
          <a:lstStyle/>
          <a:p>
            <a:endParaRPr lang="es-CL"/>
          </a:p>
        </p:txBody>
      </p:sp>
      <p:sp>
        <p:nvSpPr>
          <p:cNvPr id="42" name="Text 40"/>
          <p:cNvSpPr/>
          <p:nvPr/>
        </p:nvSpPr>
        <p:spPr>
          <a:xfrm>
            <a:off x="9921240" y="1965960"/>
            <a:ext cx="1828800" cy="320040"/>
          </a:xfrm>
          <a:prstGeom prst="rect">
            <a:avLst/>
          </a:prstGeom>
          <a:noFill/>
          <a:ln/>
        </p:spPr>
        <p:txBody>
          <a:bodyPr wrap="square" lIns="0" tIns="0" rIns="0" bIns="0" rtlCol="0" anchor="ctr"/>
          <a:lstStyle/>
          <a:p>
            <a:pPr marL="0" indent="0">
              <a:buNone/>
            </a:pPr>
            <a:r>
              <a:rPr lang="en-US" sz="1200" b="1" kern="0" spc="100" dirty="0">
                <a:solidFill>
                  <a:srgbClr val="AC212E"/>
                </a:solidFill>
                <a:latin typeface="Calibri" pitchFamily="34" charset="0"/>
                <a:ea typeface="Calibri" pitchFamily="34" charset="-122"/>
                <a:cs typeface="Calibri" pitchFamily="34" charset="-120"/>
              </a:rPr>
              <a:t>ENTREGA</a:t>
            </a:r>
            <a:endParaRPr lang="en-US" sz="1200" dirty="0"/>
          </a:p>
        </p:txBody>
      </p:sp>
      <p:sp>
        <p:nvSpPr>
          <p:cNvPr id="43" name="Shape 41"/>
          <p:cNvSpPr/>
          <p:nvPr/>
        </p:nvSpPr>
        <p:spPr>
          <a:xfrm>
            <a:off x="9921240" y="2423160"/>
            <a:ext cx="347472" cy="347472"/>
          </a:xfrm>
          <a:prstGeom prst="ellipse">
            <a:avLst/>
          </a:prstGeom>
          <a:solidFill>
            <a:srgbClr val="AC212E"/>
          </a:solidFill>
          <a:ln/>
        </p:spPr>
        <p:txBody>
          <a:bodyPr/>
          <a:lstStyle/>
          <a:p>
            <a:endParaRPr lang="es-CL"/>
          </a:p>
        </p:txBody>
      </p:sp>
      <p:sp>
        <p:nvSpPr>
          <p:cNvPr id="44" name="Text 42"/>
          <p:cNvSpPr/>
          <p:nvPr/>
        </p:nvSpPr>
        <p:spPr>
          <a:xfrm>
            <a:off x="9921240" y="242316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45" name="Text 43"/>
          <p:cNvSpPr/>
          <p:nvPr/>
        </p:nvSpPr>
        <p:spPr>
          <a:xfrm>
            <a:off x="10378440" y="2404872"/>
            <a:ext cx="137160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Informe, commits y verificación final</a:t>
            </a:r>
            <a:endParaRPr lang="en-US" sz="1200" dirty="0"/>
          </a:p>
        </p:txBody>
      </p:sp>
      <p:sp>
        <p:nvSpPr>
          <p:cNvPr id="46" name="Text 44"/>
          <p:cNvSpPr/>
          <p:nvPr/>
        </p:nvSpPr>
        <p:spPr>
          <a:xfrm>
            <a:off x="548640" y="5669280"/>
            <a:ext cx="11064240" cy="457200"/>
          </a:xfrm>
          <a:prstGeom prst="rect">
            <a:avLst/>
          </a:prstGeom>
          <a:noFill/>
          <a:ln/>
        </p:spPr>
        <p:txBody>
          <a:bodyPr wrap="square" lIns="0" tIns="0" rIns="0" bIns="0" rtlCol="0" anchor="ctr"/>
          <a:lstStyle/>
          <a:p>
            <a:pPr marL="0" indent="0">
              <a:buNone/>
            </a:pPr>
            <a:r>
              <a:rPr lang="en-US" sz="1350" i="1" dirty="0">
                <a:solidFill>
                  <a:srgbClr val="D7E3EE"/>
                </a:solidFill>
                <a:latin typeface="Calibri" pitchFamily="34" charset="0"/>
                <a:ea typeface="Calibri" pitchFamily="34" charset="-122"/>
                <a:cs typeface="Calibri" pitchFamily="34" charset="-120"/>
              </a:rPr>
              <a:t>El montaje del entorno y la elección del dataset pueden avanzar en paralelo. Del paso 6 en adelante, no: cada etapa consume el resultado de la anterior.</a:t>
            </a:r>
            <a:endParaRPr lang="en-US" sz="13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5 · README y requirements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Los dos archivos que hacen reconstruible el proyecto. Ambos son evidencia evaluada.</a:t>
            </a:r>
            <a:endParaRPr lang="en-US" sz="1400" dirty="0"/>
          </a:p>
        </p:txBody>
      </p:sp>
      <p:sp>
        <p:nvSpPr>
          <p:cNvPr id="4" name="Shape 2"/>
          <p:cNvSpPr/>
          <p:nvPr/>
        </p:nvSpPr>
        <p:spPr>
          <a:xfrm>
            <a:off x="548640" y="1783080"/>
            <a:ext cx="5394960" cy="2834640"/>
          </a:xfrm>
          <a:prstGeom prst="roundRect">
            <a:avLst>
              <a:gd name="adj" fmla="val 290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Qué debe decir el README</a:t>
            </a:r>
            <a:endParaRPr lang="en-US" sz="1500" dirty="0"/>
          </a:p>
        </p:txBody>
      </p:sp>
      <p:sp>
        <p:nvSpPr>
          <p:cNvPr id="6" name="Shape 4"/>
          <p:cNvSpPr/>
          <p:nvPr/>
        </p:nvSpPr>
        <p:spPr>
          <a:xfrm>
            <a:off x="896112" y="2404872"/>
            <a:ext cx="164592" cy="164592"/>
          </a:xfrm>
          <a:prstGeom prst="ellipse">
            <a:avLst/>
          </a:prstGeom>
          <a:solidFill>
            <a:srgbClr val="AC212E"/>
          </a:solidFill>
          <a:ln/>
        </p:spPr>
        <p:txBody>
          <a:bodyPr/>
          <a:lstStyle/>
          <a:p>
            <a:endParaRPr lang="es-CL"/>
          </a:p>
        </p:txBody>
      </p:sp>
      <p:sp>
        <p:nvSpPr>
          <p:cNvPr id="7" name="Text 5"/>
          <p:cNvSpPr/>
          <p:nvPr/>
        </p:nvSpPr>
        <p:spPr>
          <a:xfrm>
            <a:off x="1188720" y="2331720"/>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Problemática, pregunta y objetivos</a:t>
            </a:r>
            <a:endParaRPr lang="en-US" sz="1200" dirty="0"/>
          </a:p>
        </p:txBody>
      </p:sp>
      <p:sp>
        <p:nvSpPr>
          <p:cNvPr id="8" name="Shape 6"/>
          <p:cNvSpPr/>
          <p:nvPr/>
        </p:nvSpPr>
        <p:spPr>
          <a:xfrm>
            <a:off x="896112" y="2715768"/>
            <a:ext cx="164592" cy="164592"/>
          </a:xfrm>
          <a:prstGeom prst="ellipse">
            <a:avLst/>
          </a:prstGeom>
          <a:solidFill>
            <a:srgbClr val="AC212E"/>
          </a:solidFill>
          <a:ln/>
        </p:spPr>
        <p:txBody>
          <a:bodyPr/>
          <a:lstStyle/>
          <a:p>
            <a:endParaRPr lang="es-CL"/>
          </a:p>
        </p:txBody>
      </p:sp>
      <p:sp>
        <p:nvSpPr>
          <p:cNvPr id="9" name="Text 7"/>
          <p:cNvSpPr/>
          <p:nvPr/>
        </p:nvSpPr>
        <p:spPr>
          <a:xfrm>
            <a:off x="1188720" y="2642616"/>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Integrantes del grupo</a:t>
            </a:r>
            <a:endParaRPr lang="en-US" sz="1200" dirty="0"/>
          </a:p>
        </p:txBody>
      </p:sp>
      <p:sp>
        <p:nvSpPr>
          <p:cNvPr id="10" name="Shape 8"/>
          <p:cNvSpPr/>
          <p:nvPr/>
        </p:nvSpPr>
        <p:spPr>
          <a:xfrm>
            <a:off x="896112" y="3026664"/>
            <a:ext cx="164592" cy="164592"/>
          </a:xfrm>
          <a:prstGeom prst="ellipse">
            <a:avLst/>
          </a:prstGeom>
          <a:solidFill>
            <a:srgbClr val="AC212E"/>
          </a:solidFill>
          <a:ln/>
        </p:spPr>
        <p:txBody>
          <a:bodyPr/>
          <a:lstStyle/>
          <a:p>
            <a:endParaRPr lang="es-CL"/>
          </a:p>
        </p:txBody>
      </p:sp>
      <p:sp>
        <p:nvSpPr>
          <p:cNvPr id="11" name="Text 9"/>
          <p:cNvSpPr/>
          <p:nvPr/>
        </p:nvSpPr>
        <p:spPr>
          <a:xfrm>
            <a:off x="1188720" y="2953512"/>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Fuente del dataset y cómo descargarlo</a:t>
            </a:r>
            <a:endParaRPr lang="en-US" sz="1200" dirty="0"/>
          </a:p>
        </p:txBody>
      </p:sp>
      <p:sp>
        <p:nvSpPr>
          <p:cNvPr id="12" name="Shape 10"/>
          <p:cNvSpPr/>
          <p:nvPr/>
        </p:nvSpPr>
        <p:spPr>
          <a:xfrm>
            <a:off x="896112" y="3337560"/>
            <a:ext cx="164592" cy="164592"/>
          </a:xfrm>
          <a:prstGeom prst="ellipse">
            <a:avLst/>
          </a:prstGeom>
          <a:solidFill>
            <a:srgbClr val="AC212E"/>
          </a:solidFill>
          <a:ln/>
        </p:spPr>
        <p:txBody>
          <a:bodyPr/>
          <a:lstStyle/>
          <a:p>
            <a:endParaRPr lang="es-CL"/>
          </a:p>
        </p:txBody>
      </p:sp>
      <p:sp>
        <p:nvSpPr>
          <p:cNvPr id="13" name="Text 11"/>
          <p:cNvSpPr/>
          <p:nvPr/>
        </p:nvSpPr>
        <p:spPr>
          <a:xfrm>
            <a:off x="1188720" y="3264408"/>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Estructura del repositorio</a:t>
            </a:r>
            <a:endParaRPr lang="en-US" sz="1200" dirty="0"/>
          </a:p>
        </p:txBody>
      </p:sp>
      <p:sp>
        <p:nvSpPr>
          <p:cNvPr id="14" name="Shape 12"/>
          <p:cNvSpPr/>
          <p:nvPr/>
        </p:nvSpPr>
        <p:spPr>
          <a:xfrm>
            <a:off x="896112" y="3648456"/>
            <a:ext cx="164592" cy="164592"/>
          </a:xfrm>
          <a:prstGeom prst="ellipse">
            <a:avLst/>
          </a:prstGeom>
          <a:solidFill>
            <a:srgbClr val="AC212E"/>
          </a:solidFill>
          <a:ln/>
        </p:spPr>
        <p:txBody>
          <a:bodyPr/>
          <a:lstStyle/>
          <a:p>
            <a:endParaRPr lang="es-CL"/>
          </a:p>
        </p:txBody>
      </p:sp>
      <p:sp>
        <p:nvSpPr>
          <p:cNvPr id="15" name="Text 13"/>
          <p:cNvSpPr/>
          <p:nvPr/>
        </p:nvSpPr>
        <p:spPr>
          <a:xfrm>
            <a:off x="1188720" y="3575304"/>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Requisitos y comandos de ejecución</a:t>
            </a:r>
            <a:endParaRPr lang="en-US" sz="1200" dirty="0"/>
          </a:p>
        </p:txBody>
      </p:sp>
      <p:sp>
        <p:nvSpPr>
          <p:cNvPr id="16" name="Shape 14"/>
          <p:cNvSpPr/>
          <p:nvPr/>
        </p:nvSpPr>
        <p:spPr>
          <a:xfrm>
            <a:off x="896112" y="3959352"/>
            <a:ext cx="164592" cy="164592"/>
          </a:xfrm>
          <a:prstGeom prst="ellipse">
            <a:avLst/>
          </a:prstGeom>
          <a:solidFill>
            <a:srgbClr val="AC212E"/>
          </a:solidFill>
          <a:ln/>
        </p:spPr>
        <p:txBody>
          <a:bodyPr/>
          <a:lstStyle/>
          <a:p>
            <a:endParaRPr lang="es-CL"/>
          </a:p>
        </p:txBody>
      </p:sp>
      <p:sp>
        <p:nvSpPr>
          <p:cNvPr id="17" name="Text 15"/>
          <p:cNvSpPr/>
          <p:nvPr/>
        </p:nvSpPr>
        <p:spPr>
          <a:xfrm>
            <a:off x="1188720" y="3886200"/>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Criterios de reproducibilidad</a:t>
            </a:r>
            <a:endParaRPr lang="en-US" sz="1200" dirty="0"/>
          </a:p>
        </p:txBody>
      </p:sp>
      <p:sp>
        <p:nvSpPr>
          <p:cNvPr id="18" name="Shape 16"/>
          <p:cNvSpPr/>
          <p:nvPr/>
        </p:nvSpPr>
        <p:spPr>
          <a:xfrm>
            <a:off x="896112" y="4270248"/>
            <a:ext cx="164592" cy="164592"/>
          </a:xfrm>
          <a:prstGeom prst="ellipse">
            <a:avLst/>
          </a:prstGeom>
          <a:solidFill>
            <a:srgbClr val="AC212E"/>
          </a:solidFill>
          <a:ln/>
        </p:spPr>
        <p:txBody>
          <a:bodyPr/>
          <a:lstStyle/>
          <a:p>
            <a:endParaRPr lang="es-CL"/>
          </a:p>
        </p:txBody>
      </p:sp>
      <p:sp>
        <p:nvSpPr>
          <p:cNvPr id="19" name="Text 17"/>
          <p:cNvSpPr/>
          <p:nvPr/>
        </p:nvSpPr>
        <p:spPr>
          <a:xfrm>
            <a:off x="1188720" y="4197096"/>
            <a:ext cx="4480560" cy="292608"/>
          </a:xfrm>
          <a:prstGeom prst="rect">
            <a:avLst/>
          </a:prstGeom>
          <a:noFill/>
          <a:ln/>
        </p:spPr>
        <p:txBody>
          <a:bodyPr wrap="square" lIns="0" tIns="0" rIns="0" bIns="0" rtlCol="0" anchor="ctr"/>
          <a:lstStyle/>
          <a:p>
            <a:pPr marL="0" indent="0">
              <a:buNone/>
            </a:pPr>
            <a:r>
              <a:rPr lang="en-US" sz="1200" dirty="0">
                <a:solidFill>
                  <a:srgbClr val="06304A"/>
                </a:solidFill>
                <a:latin typeface="Calibri" pitchFamily="34" charset="0"/>
                <a:ea typeface="Calibri" pitchFamily="34" charset="-122"/>
                <a:cs typeface="Calibri" pitchFamily="34" charset="-120"/>
              </a:rPr>
              <a:t>Convención de commits</a:t>
            </a:r>
            <a:endParaRPr lang="en-US" sz="1200" dirty="0"/>
          </a:p>
        </p:txBody>
      </p:sp>
      <p:sp>
        <p:nvSpPr>
          <p:cNvPr id="20" name="Shape 18"/>
          <p:cNvSpPr/>
          <p:nvPr/>
        </p:nvSpPr>
        <p:spPr>
          <a:xfrm>
            <a:off x="6217920" y="1783080"/>
            <a:ext cx="5394960" cy="2834640"/>
          </a:xfrm>
          <a:prstGeom prst="roundRect">
            <a:avLst>
              <a:gd name="adj" fmla="val 2903"/>
            </a:avLst>
          </a:prstGeom>
          <a:solidFill>
            <a:srgbClr val="0A1526"/>
          </a:solidFill>
          <a:ln w="12700">
            <a:solidFill>
              <a:srgbClr val="0A1526"/>
            </a:solidFill>
            <a:prstDash val="solid"/>
          </a:ln>
        </p:spPr>
        <p:txBody>
          <a:bodyPr/>
          <a:lstStyle/>
          <a:p>
            <a:endParaRPr lang="es-CL"/>
          </a:p>
        </p:txBody>
      </p:sp>
      <p:sp>
        <p:nvSpPr>
          <p:cNvPr id="21" name="Text 19"/>
          <p:cNvSpPr/>
          <p:nvPr/>
        </p:nvSpPr>
        <p:spPr>
          <a:xfrm>
            <a:off x="653796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requirements.txt</a:t>
            </a:r>
            <a:endParaRPr lang="en-US" sz="1500" dirty="0"/>
          </a:p>
        </p:txBody>
      </p:sp>
      <p:sp>
        <p:nvSpPr>
          <p:cNvPr id="22" name="Text 20"/>
          <p:cNvSpPr/>
          <p:nvPr/>
        </p:nvSpPr>
        <p:spPr>
          <a:xfrm>
            <a:off x="6537960" y="2331720"/>
            <a:ext cx="4754880" cy="320040"/>
          </a:xfrm>
          <a:prstGeom prst="rect">
            <a:avLst/>
          </a:prstGeom>
          <a:noFill/>
          <a:ln/>
        </p:spPr>
        <p:txBody>
          <a:bodyPr wrap="square" lIns="0" tIns="0" rIns="0" bIns="0" rtlCol="0" anchor="ctr"/>
          <a:lstStyle/>
          <a:p>
            <a:pPr marL="0" indent="0">
              <a:buNone/>
            </a:pPr>
            <a:r>
              <a:rPr lang="en-US" sz="1100" dirty="0">
                <a:solidFill>
                  <a:srgbClr val="D7E3EE"/>
                </a:solidFill>
                <a:latin typeface="Courier New" pitchFamily="34" charset="0"/>
                <a:ea typeface="Courier New" pitchFamily="34" charset="-122"/>
                <a:cs typeface="Courier New" pitchFamily="34" charset="-120"/>
              </a:rPr>
              <a:t>python -m pip freeze &gt; requirements.txt</a:t>
            </a:r>
            <a:endParaRPr lang="en-US" sz="1100" dirty="0"/>
          </a:p>
        </p:txBody>
      </p:sp>
      <p:sp>
        <p:nvSpPr>
          <p:cNvPr id="23" name="Text 21"/>
          <p:cNvSpPr/>
          <p:nvPr/>
        </p:nvSpPr>
        <p:spPr>
          <a:xfrm>
            <a:off x="6537960" y="2788920"/>
            <a:ext cx="4754880" cy="1645920"/>
          </a:xfrm>
          <a:prstGeom prst="rect">
            <a:avLst/>
          </a:prstGeom>
          <a:noFill/>
          <a:ln/>
        </p:spPr>
        <p:txBody>
          <a:bodyPr wrap="square" lIns="0" tIns="0" rIns="0" bIns="0" rtlCol="0" anchor="ctr"/>
          <a:lstStyle/>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Regenérenlo cada vez que instalen algo nuevo, no solo antes de entregar.</a:t>
            </a:r>
            <a:endParaRPr lang="en-US" sz="1200" dirty="0"/>
          </a:p>
          <a:p>
            <a:pPr marL="0" indent="0">
              <a:lnSpc>
                <a:spcPts val="1700"/>
              </a:lnSpc>
              <a:buNone/>
            </a:pPr>
            <a:endParaRPr lang="en-US" sz="1200" dirty="0"/>
          </a:p>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Es lo que permite que otra persona reconstruya el entorno exacto:</a:t>
            </a:r>
            <a:endParaRPr lang="en-US" sz="1200" dirty="0"/>
          </a:p>
          <a:p>
            <a:pPr marL="0" indent="0">
              <a:lnSpc>
                <a:spcPts val="1700"/>
              </a:lnSpc>
              <a:buNone/>
            </a:pPr>
            <a:endParaRPr lang="en-US" sz="1200" dirty="0"/>
          </a:p>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python -m pip install -r requirements.txt</a:t>
            </a:r>
            <a:endParaRPr lang="en-US" sz="1200" dirty="0"/>
          </a:p>
        </p:txBody>
      </p:sp>
      <p:sp>
        <p:nvSpPr>
          <p:cNvPr id="24" name="Shape 22"/>
          <p:cNvSpPr/>
          <p:nvPr/>
        </p:nvSpPr>
        <p:spPr>
          <a:xfrm>
            <a:off x="548640" y="4800600"/>
            <a:ext cx="11064240" cy="1143000"/>
          </a:xfrm>
          <a:prstGeom prst="roundRect">
            <a:avLst>
              <a:gd name="adj" fmla="val 7200"/>
            </a:avLst>
          </a:prstGeom>
          <a:solidFill>
            <a:srgbClr val="F6E7E9"/>
          </a:solidFill>
          <a:ln w="12700">
            <a:solidFill>
              <a:srgbClr val="F6E7E9"/>
            </a:solidFill>
            <a:prstDash val="solid"/>
          </a:ln>
        </p:spPr>
        <p:txBody>
          <a:bodyPr/>
          <a:lstStyle/>
          <a:p>
            <a:endParaRPr lang="es-CL"/>
          </a:p>
        </p:txBody>
      </p:sp>
      <p:sp>
        <p:nvSpPr>
          <p:cNvPr id="25" name="Text 23"/>
          <p:cNvSpPr/>
          <p:nvPr/>
        </p:nvSpPr>
        <p:spPr>
          <a:xfrm>
            <a:off x="868680" y="4956048"/>
            <a:ext cx="10424160" cy="822960"/>
          </a:xfrm>
          <a:prstGeom prst="rect">
            <a:avLst/>
          </a:prstGeom>
          <a:noFill/>
          <a:ln/>
        </p:spPr>
        <p:txBody>
          <a:bodyPr wrap="square" lIns="0" tIns="0" rIns="0" bIns="0" rtlCol="0" anchor="ctr"/>
          <a:lstStyle/>
          <a:p>
            <a:pPr marL="0" indent="0">
              <a:lnSpc>
                <a:spcPts val="1900"/>
              </a:lnSpc>
              <a:buNone/>
            </a:pPr>
            <a:r>
              <a:rPr lang="en-US" sz="1400" dirty="0">
                <a:solidFill>
                  <a:srgbClr val="AC212E"/>
                </a:solidFill>
                <a:latin typeface="Calibri" pitchFamily="34" charset="0"/>
                <a:ea typeface="Calibri" pitchFamily="34" charset="-122"/>
                <a:cs typeface="Calibri" pitchFamily="34" charset="-120"/>
              </a:rPr>
              <a:t>Truco que ahorra trabajo: generen el README desde el notebook, a partir de la configuración del proyecto. Así la documentación no puede desactualizarse respecto del código, y actualizar un dato lo actualiza en todas partes.</a:t>
            </a:r>
            <a:endParaRPr 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6 · Explorar antes de tocar nada</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Medir primero. Todas las decisiones posteriores se justifican con estas cifras.</a:t>
            </a:r>
            <a:endParaRPr lang="en-US" sz="1400" dirty="0"/>
          </a:p>
        </p:txBody>
      </p:sp>
      <p:sp>
        <p:nvSpPr>
          <p:cNvPr id="4" name="Shape 2"/>
          <p:cNvSpPr/>
          <p:nvPr/>
        </p:nvSpPr>
        <p:spPr>
          <a:xfrm>
            <a:off x="548640" y="178308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2084832"/>
            <a:ext cx="402336" cy="402336"/>
          </a:xfrm>
          <a:prstGeom prst="ellipse">
            <a:avLst/>
          </a:prstGeom>
          <a:solidFill>
            <a:srgbClr val="06304A"/>
          </a:solidFill>
          <a:ln/>
        </p:spPr>
        <p:txBody>
          <a:bodyPr/>
          <a:lstStyle/>
          <a:p>
            <a:endParaRPr lang="es-CL"/>
          </a:p>
        </p:txBody>
      </p:sp>
      <p:sp>
        <p:nvSpPr>
          <p:cNvPr id="6" name="Text 4"/>
          <p:cNvSpPr/>
          <p:nvPr/>
        </p:nvSpPr>
        <p:spPr>
          <a:xfrm>
            <a:off x="804672" y="20848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53312" y="189280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Dimensiones y tipos</a:t>
            </a:r>
            <a:endParaRPr lang="en-US" sz="1400" dirty="0"/>
          </a:p>
        </p:txBody>
      </p:sp>
      <p:sp>
        <p:nvSpPr>
          <p:cNvPr id="8" name="Text 6"/>
          <p:cNvSpPr/>
          <p:nvPr/>
        </p:nvSpPr>
        <p:spPr>
          <a:xfrm>
            <a:off x="1353312" y="222199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Cuántas filas y columnas, y de qué tipo es cada una.</a:t>
            </a:r>
            <a:endParaRPr lang="en-US" sz="1200" dirty="0"/>
          </a:p>
        </p:txBody>
      </p:sp>
      <p:sp>
        <p:nvSpPr>
          <p:cNvPr id="9" name="Shape 7"/>
          <p:cNvSpPr/>
          <p:nvPr/>
        </p:nvSpPr>
        <p:spPr>
          <a:xfrm>
            <a:off x="6309360" y="178308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6565392" y="2084832"/>
            <a:ext cx="402336" cy="402336"/>
          </a:xfrm>
          <a:prstGeom prst="ellipse">
            <a:avLst/>
          </a:prstGeom>
          <a:solidFill>
            <a:srgbClr val="06304A"/>
          </a:solidFill>
          <a:ln/>
        </p:spPr>
        <p:txBody>
          <a:bodyPr/>
          <a:lstStyle/>
          <a:p>
            <a:endParaRPr lang="es-CL"/>
          </a:p>
        </p:txBody>
      </p:sp>
      <p:sp>
        <p:nvSpPr>
          <p:cNvPr id="11" name="Text 9"/>
          <p:cNvSpPr/>
          <p:nvPr/>
        </p:nvSpPr>
        <p:spPr>
          <a:xfrm>
            <a:off x="6565392" y="208483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7114032" y="189280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Valores faltantes</a:t>
            </a:r>
            <a:endParaRPr lang="en-US" sz="1400" dirty="0"/>
          </a:p>
        </p:txBody>
      </p:sp>
      <p:sp>
        <p:nvSpPr>
          <p:cNvPr id="13" name="Text 11"/>
          <p:cNvSpPr/>
          <p:nvPr/>
        </p:nvSpPr>
        <p:spPr>
          <a:xfrm>
            <a:off x="7114032" y="222199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Cuántos, en qué variables y en qué proporción.</a:t>
            </a:r>
            <a:endParaRPr lang="en-US" sz="1200" dirty="0"/>
          </a:p>
        </p:txBody>
      </p:sp>
      <p:sp>
        <p:nvSpPr>
          <p:cNvPr id="14" name="Shape 12"/>
          <p:cNvSpPr/>
          <p:nvPr/>
        </p:nvSpPr>
        <p:spPr>
          <a:xfrm>
            <a:off x="548640" y="301752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04672" y="3319272"/>
            <a:ext cx="402336" cy="402336"/>
          </a:xfrm>
          <a:prstGeom prst="ellipse">
            <a:avLst/>
          </a:prstGeom>
          <a:solidFill>
            <a:srgbClr val="06304A"/>
          </a:solidFill>
          <a:ln/>
        </p:spPr>
        <p:txBody>
          <a:bodyPr/>
          <a:lstStyle/>
          <a:p>
            <a:endParaRPr lang="es-CL"/>
          </a:p>
        </p:txBody>
      </p:sp>
      <p:sp>
        <p:nvSpPr>
          <p:cNvPr id="16" name="Text 14"/>
          <p:cNvSpPr/>
          <p:nvPr/>
        </p:nvSpPr>
        <p:spPr>
          <a:xfrm>
            <a:off x="804672" y="33192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353312" y="312724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Categorías observadas</a:t>
            </a:r>
            <a:endParaRPr lang="en-US" sz="1400" dirty="0"/>
          </a:p>
        </p:txBody>
      </p:sp>
      <p:sp>
        <p:nvSpPr>
          <p:cNvPr id="18" name="Text 16"/>
          <p:cNvSpPr/>
          <p:nvPr/>
        </p:nvSpPr>
        <p:spPr>
          <a:xfrm>
            <a:off x="1353312" y="345643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Detecta la misma categoría escrita de dos maneras.</a:t>
            </a:r>
            <a:endParaRPr lang="en-US" sz="1200" dirty="0"/>
          </a:p>
        </p:txBody>
      </p:sp>
      <p:sp>
        <p:nvSpPr>
          <p:cNvPr id="19" name="Shape 17"/>
          <p:cNvSpPr/>
          <p:nvPr/>
        </p:nvSpPr>
        <p:spPr>
          <a:xfrm>
            <a:off x="6309360" y="3017520"/>
            <a:ext cx="5303520" cy="1051560"/>
          </a:xfrm>
          <a:prstGeom prst="roundRect">
            <a:avLst>
              <a:gd name="adj" fmla="val 7826"/>
            </a:avLst>
          </a:prstGeom>
          <a:solidFill>
            <a:srgbClr val="F4F7FA"/>
          </a:solidFill>
          <a:ln w="12700">
            <a:solidFill>
              <a:srgbClr val="F4F7FA"/>
            </a:solidFill>
            <a:prstDash val="solid"/>
          </a:ln>
        </p:spPr>
        <p:txBody>
          <a:bodyPr/>
          <a:lstStyle/>
          <a:p>
            <a:endParaRPr lang="es-CL"/>
          </a:p>
        </p:txBody>
      </p:sp>
      <p:sp>
        <p:nvSpPr>
          <p:cNvPr id="20" name="Shape 18"/>
          <p:cNvSpPr/>
          <p:nvPr/>
        </p:nvSpPr>
        <p:spPr>
          <a:xfrm>
            <a:off x="6565392" y="3319272"/>
            <a:ext cx="402336" cy="402336"/>
          </a:xfrm>
          <a:prstGeom prst="ellipse">
            <a:avLst/>
          </a:prstGeom>
          <a:solidFill>
            <a:srgbClr val="06304A"/>
          </a:solidFill>
          <a:ln/>
        </p:spPr>
        <p:txBody>
          <a:bodyPr/>
          <a:lstStyle/>
          <a:p>
            <a:endParaRPr lang="es-CL"/>
          </a:p>
        </p:txBody>
      </p:sp>
      <p:sp>
        <p:nvSpPr>
          <p:cNvPr id="21" name="Text 19"/>
          <p:cNvSpPr/>
          <p:nvPr/>
        </p:nvSpPr>
        <p:spPr>
          <a:xfrm>
            <a:off x="6565392" y="331927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7114032" y="3127248"/>
            <a:ext cx="4297680" cy="320040"/>
          </a:xfrm>
          <a:prstGeom prst="rect">
            <a:avLst/>
          </a:prstGeom>
          <a:noFill/>
          <a:ln/>
        </p:spPr>
        <p:txBody>
          <a:bodyPr wrap="square" lIns="0" tIns="0" rIns="0" bIns="0" rtlCol="0" anchor="ctr"/>
          <a:lstStyle/>
          <a:p>
            <a:pPr marL="0" indent="0">
              <a:buNone/>
            </a:pPr>
            <a:r>
              <a:rPr lang="en-US" sz="1400" b="1" dirty="0">
                <a:solidFill>
                  <a:srgbClr val="06304A"/>
                </a:solidFill>
                <a:latin typeface="Calibri" pitchFamily="34" charset="0"/>
                <a:ea typeface="Calibri" pitchFamily="34" charset="-122"/>
                <a:cs typeface="Calibri" pitchFamily="34" charset="-120"/>
              </a:rPr>
              <a:t>Valores atípicos</a:t>
            </a:r>
            <a:endParaRPr lang="en-US" sz="1400" dirty="0"/>
          </a:p>
        </p:txBody>
      </p:sp>
      <p:sp>
        <p:nvSpPr>
          <p:cNvPr id="23" name="Text 21"/>
          <p:cNvSpPr/>
          <p:nvPr/>
        </p:nvSpPr>
        <p:spPr>
          <a:xfrm>
            <a:off x="7114032" y="3456432"/>
            <a:ext cx="4343400" cy="50292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Con el rango intercuartílico. Es lo que justifica imputar con mediana.</a:t>
            </a:r>
            <a:endParaRPr lang="en-US" sz="1200" dirty="0"/>
          </a:p>
        </p:txBody>
      </p:sp>
      <p:sp>
        <p:nvSpPr>
          <p:cNvPr id="24" name="Shape 22"/>
          <p:cNvSpPr/>
          <p:nvPr/>
        </p:nvSpPr>
        <p:spPr>
          <a:xfrm>
            <a:off x="548640" y="4343400"/>
            <a:ext cx="11064240" cy="1600200"/>
          </a:xfrm>
          <a:prstGeom prst="roundRect">
            <a:avLst>
              <a:gd name="adj" fmla="val 5143"/>
            </a:avLst>
          </a:prstGeom>
          <a:solidFill>
            <a:srgbClr val="0A1526"/>
          </a:solidFill>
          <a:ln w="12700">
            <a:solidFill>
              <a:srgbClr val="0A1526"/>
            </a:solidFill>
            <a:prstDash val="solid"/>
          </a:ln>
        </p:spPr>
        <p:txBody>
          <a:bodyPr/>
          <a:lstStyle/>
          <a:p>
            <a:endParaRPr lang="es-CL"/>
          </a:p>
        </p:txBody>
      </p:sp>
      <p:sp>
        <p:nvSpPr>
          <p:cNvPr id="25" name="Text 23"/>
          <p:cNvSpPr/>
          <p:nvPr/>
        </p:nvSpPr>
        <p:spPr>
          <a:xfrm>
            <a:off x="868680" y="4498848"/>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 regla de oro del preprocesamiento</a:t>
            </a:r>
            <a:endParaRPr lang="en-US" sz="1500" dirty="0"/>
          </a:p>
        </p:txBody>
      </p:sp>
      <p:sp>
        <p:nvSpPr>
          <p:cNvPr id="26" name="Text 24"/>
          <p:cNvSpPr/>
          <p:nvPr/>
        </p:nvSpPr>
        <p:spPr>
          <a:xfrm>
            <a:off x="868680" y="4864608"/>
            <a:ext cx="10424160" cy="868680"/>
          </a:xfrm>
          <a:prstGeom prst="rect">
            <a:avLst/>
          </a:prstGeom>
          <a:noFill/>
          <a:ln/>
        </p:spPr>
        <p:txBody>
          <a:bodyPr wrap="square" lIns="0" tIns="0" rIns="0" bIns="0" rtlCol="0" anchor="ctr"/>
          <a:lstStyle/>
          <a:p>
            <a:pPr marL="0" indent="0">
              <a:lnSpc>
                <a:spcPts val="1900"/>
              </a:lnSpc>
              <a:buNone/>
            </a:pPr>
            <a:r>
              <a:rPr lang="en-US" sz="1400" dirty="0">
                <a:solidFill>
                  <a:srgbClr val="FFFFFF"/>
                </a:solidFill>
                <a:latin typeface="Calibri" pitchFamily="34" charset="0"/>
                <a:ea typeface="Calibri" pitchFamily="34" charset="-122"/>
                <a:cs typeface="Calibri" pitchFamily="34" charset="-120"/>
              </a:rPr>
              <a:t>No apliquen una técnica porque es la habitual: apliquen la que las cifras justifican. Si van a imputar con la mediana «porque hay valores extremos», la tabla de atípicos tiene que mostrarlos. Afirmar sin evidencia es la incoherencia que más penaliza la rúbrica.</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7 · Limpieza: comparar antes de imputar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No hay un método universalmente mejor. Se comparan, se leen las cifras y se justifica.</a:t>
            </a:r>
            <a:endParaRPr lang="en-US" sz="1400" dirty="0"/>
          </a:p>
        </p:txBody>
      </p:sp>
      <p:graphicFrame>
        <p:nvGraphicFramePr>
          <p:cNvPr id="10" name="Table 0"/>
          <p:cNvGraphicFramePr>
            <a:graphicFrameLocks noGrp="1"/>
          </p:cNvGraphicFramePr>
          <p:nvPr/>
        </p:nvGraphicFramePr>
        <p:xfrm>
          <a:off x="548640" y="1737360"/>
          <a:ext cx="11064240" cy="2651760"/>
        </p:xfrm>
        <a:graphic>
          <a:graphicData uri="http://schemas.openxmlformats.org/drawingml/2006/table">
            <a:tbl>
              <a:tblPr/>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53035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Método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Cuándo conviene</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distorsiona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Eliminar filas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Faltantes escasos y aparentemente aleatorios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Pierde muestra; sesga si no son aleatorios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Distribución aproximadamente simétrica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 arrastran los extremos; reduce la dispersión</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Mediana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Hay valores extremos o asimetría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Reduce la dispersión; ignora las demás variables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Mediana por grupo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El valor depende de otra variable observada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Reduce la dispersión dentro de cada grupo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480560"/>
            <a:ext cx="5394960" cy="1463040"/>
          </a:xfrm>
          <a:prstGeom prst="roundRect">
            <a:avLst>
              <a:gd name="adj" fmla="val 5625"/>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461772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Qué mirar en la comparación</a:t>
            </a:r>
            <a:endParaRPr lang="en-US" sz="1400" dirty="0"/>
          </a:p>
        </p:txBody>
      </p:sp>
      <p:sp>
        <p:nvSpPr>
          <p:cNvPr id="7" name="Text 4"/>
          <p:cNvSpPr/>
          <p:nvPr/>
        </p:nvSpPr>
        <p:spPr>
          <a:xfrm>
            <a:off x="868680" y="4956048"/>
            <a:ext cx="4754880" cy="86868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El cambio porcentual en la desviación estándar. Toda imputación reduce la variabilidad: el mejor método es el que menos la deforma.</a:t>
            </a:r>
            <a:endParaRPr lang="en-US" sz="1250" dirty="0"/>
          </a:p>
        </p:txBody>
      </p:sp>
      <p:sp>
        <p:nvSpPr>
          <p:cNvPr id="8" name="Shape 5"/>
          <p:cNvSpPr/>
          <p:nvPr/>
        </p:nvSpPr>
        <p:spPr>
          <a:xfrm>
            <a:off x="6217920" y="4480560"/>
            <a:ext cx="5394960" cy="1463040"/>
          </a:xfrm>
          <a:prstGeom prst="roundRect">
            <a:avLst>
              <a:gd name="adj" fmla="val 5625"/>
            </a:avLst>
          </a:prstGeom>
          <a:solidFill>
            <a:srgbClr val="F4F7FA"/>
          </a:solidFill>
          <a:ln w="12700">
            <a:solidFill>
              <a:srgbClr val="F4F7FA"/>
            </a:solidFill>
            <a:prstDash val="solid"/>
          </a:ln>
        </p:spPr>
        <p:txBody>
          <a:bodyPr/>
          <a:lstStyle/>
          <a:p>
            <a:endParaRPr lang="es-CL"/>
          </a:p>
        </p:txBody>
      </p:sp>
      <p:sp>
        <p:nvSpPr>
          <p:cNvPr id="9" name="Text 6"/>
          <p:cNvSpPr/>
          <p:nvPr/>
        </p:nvSpPr>
        <p:spPr>
          <a:xfrm>
            <a:off x="6537960" y="4617720"/>
            <a:ext cx="475488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Dos cosas que no pueden faltar</a:t>
            </a:r>
            <a:endParaRPr lang="en-US" sz="1400" dirty="0"/>
          </a:p>
        </p:txBody>
      </p:sp>
      <p:sp>
        <p:nvSpPr>
          <p:cNvPr id="4" name="Text 7"/>
          <p:cNvSpPr/>
          <p:nvPr/>
        </p:nvSpPr>
        <p:spPr>
          <a:xfrm>
            <a:off x="6537960" y="4956048"/>
            <a:ext cx="4754880" cy="86868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Una bandera que registre qué filas fueron imputadas, y el reporte del efecto sobre la dispersión para el informe.</a:t>
            </a:r>
            <a:endParaRPr lang="en-US" sz="12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8 · Transformación por tipo de variable</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Cada rol analítico exige un tratamiento distinto. Aplicar el mismo a todo es un error de fondo.</a:t>
            </a:r>
            <a:endParaRPr lang="en-US" sz="1400" dirty="0"/>
          </a:p>
        </p:txBody>
      </p:sp>
      <p:sp>
        <p:nvSpPr>
          <p:cNvPr id="4" name="Shape 2"/>
          <p:cNvSpPr/>
          <p:nvPr/>
        </p:nvSpPr>
        <p:spPr>
          <a:xfrm>
            <a:off x="548640" y="1783080"/>
            <a:ext cx="3520440" cy="2651760"/>
          </a:xfrm>
          <a:prstGeom prst="roundRect">
            <a:avLst>
              <a:gd name="adj" fmla="val 3103"/>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04672" y="1938528"/>
            <a:ext cx="3017520" cy="384048"/>
          </a:xfrm>
          <a:prstGeom prst="rect">
            <a:avLst/>
          </a:prstGeom>
          <a:noFill/>
          <a:ln/>
        </p:spPr>
        <p:txBody>
          <a:bodyPr wrap="square" lIns="0" tIns="0" rIns="0" bIns="0" rtlCol="0" anchor="ctr"/>
          <a:lstStyle/>
          <a:p>
            <a:pPr marL="0" indent="0">
              <a:buNone/>
            </a:pPr>
            <a:r>
              <a:rPr lang="en-US" sz="2000" b="1" dirty="0">
                <a:solidFill>
                  <a:srgbClr val="06304A"/>
                </a:solidFill>
                <a:latin typeface="Cambria" pitchFamily="34" charset="0"/>
                <a:ea typeface="Cambria" pitchFamily="34" charset="-122"/>
                <a:cs typeface="Cambria" pitchFamily="34" charset="-120"/>
              </a:rPr>
              <a:t>Nominal</a:t>
            </a:r>
            <a:endParaRPr lang="en-US" sz="2000" dirty="0"/>
          </a:p>
        </p:txBody>
      </p:sp>
      <p:sp>
        <p:nvSpPr>
          <p:cNvPr id="6" name="Text 4"/>
          <p:cNvSpPr/>
          <p:nvPr/>
        </p:nvSpPr>
        <p:spPr>
          <a:xfrm>
            <a:off x="804672" y="2331720"/>
            <a:ext cx="3017520" cy="27432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Sin orden natural</a:t>
            </a:r>
            <a:endParaRPr lang="en-US" sz="1200" dirty="0"/>
          </a:p>
        </p:txBody>
      </p:sp>
      <p:sp>
        <p:nvSpPr>
          <p:cNvPr id="7" name="Text 5"/>
          <p:cNvSpPr/>
          <p:nvPr/>
        </p:nvSpPr>
        <p:spPr>
          <a:xfrm>
            <a:off x="804672" y="2697480"/>
            <a:ext cx="3017520" cy="10058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One-hot encoding: una columna binaria por categoría</a:t>
            </a:r>
            <a:endParaRPr lang="en-US" sz="1250" dirty="0"/>
          </a:p>
        </p:txBody>
      </p:sp>
      <p:sp>
        <p:nvSpPr>
          <p:cNvPr id="8" name="Text 6"/>
          <p:cNvSpPr/>
          <p:nvPr/>
        </p:nvSpPr>
        <p:spPr>
          <a:xfrm>
            <a:off x="804672" y="3794760"/>
            <a:ext cx="3017520" cy="36576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Ejemplo: gender, work_type</a:t>
            </a:r>
            <a:endParaRPr lang="en-US" sz="1150" dirty="0"/>
          </a:p>
        </p:txBody>
      </p:sp>
      <p:sp>
        <p:nvSpPr>
          <p:cNvPr id="9" name="Shape 7"/>
          <p:cNvSpPr/>
          <p:nvPr/>
        </p:nvSpPr>
        <p:spPr>
          <a:xfrm>
            <a:off x="4325112" y="1783080"/>
            <a:ext cx="3520440" cy="2651760"/>
          </a:xfrm>
          <a:prstGeom prst="roundRect">
            <a:avLst>
              <a:gd name="adj" fmla="val 3103"/>
            </a:avLst>
          </a:prstGeom>
          <a:solidFill>
            <a:srgbClr val="F6E7E9"/>
          </a:solidFill>
          <a:ln w="12700">
            <a:solidFill>
              <a:srgbClr val="F6E7E9"/>
            </a:solidFill>
            <a:prstDash val="solid"/>
          </a:ln>
        </p:spPr>
        <p:txBody>
          <a:bodyPr/>
          <a:lstStyle/>
          <a:p>
            <a:endParaRPr lang="es-CL"/>
          </a:p>
        </p:txBody>
      </p:sp>
      <p:sp>
        <p:nvSpPr>
          <p:cNvPr id="10" name="Text 8"/>
          <p:cNvSpPr/>
          <p:nvPr/>
        </p:nvSpPr>
        <p:spPr>
          <a:xfrm>
            <a:off x="4581144" y="1938528"/>
            <a:ext cx="3017520" cy="384048"/>
          </a:xfrm>
          <a:prstGeom prst="rect">
            <a:avLst/>
          </a:prstGeom>
          <a:noFill/>
          <a:ln/>
        </p:spPr>
        <p:txBody>
          <a:bodyPr wrap="square" lIns="0" tIns="0" rIns="0" bIns="0" rtlCol="0" anchor="ctr"/>
          <a:lstStyle/>
          <a:p>
            <a:pPr marL="0" indent="0">
              <a:buNone/>
            </a:pPr>
            <a:r>
              <a:rPr lang="en-US" sz="2000" b="1" dirty="0">
                <a:solidFill>
                  <a:srgbClr val="06304A"/>
                </a:solidFill>
                <a:latin typeface="Cambria" pitchFamily="34" charset="0"/>
                <a:ea typeface="Cambria" pitchFamily="34" charset="-122"/>
                <a:cs typeface="Cambria" pitchFamily="34" charset="-120"/>
              </a:rPr>
              <a:t>Ordinal</a:t>
            </a:r>
            <a:endParaRPr lang="en-US" sz="2000" dirty="0"/>
          </a:p>
        </p:txBody>
      </p:sp>
      <p:sp>
        <p:nvSpPr>
          <p:cNvPr id="11" name="Text 9"/>
          <p:cNvSpPr/>
          <p:nvPr/>
        </p:nvSpPr>
        <p:spPr>
          <a:xfrm>
            <a:off x="4581144" y="2331720"/>
            <a:ext cx="3017520" cy="27432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Con orden natural</a:t>
            </a:r>
            <a:endParaRPr lang="en-US" sz="1200" dirty="0"/>
          </a:p>
        </p:txBody>
      </p:sp>
      <p:sp>
        <p:nvSpPr>
          <p:cNvPr id="12" name="Text 10"/>
          <p:cNvSpPr/>
          <p:nvPr/>
        </p:nvSpPr>
        <p:spPr>
          <a:xfrm>
            <a:off x="4581144" y="2697480"/>
            <a:ext cx="3017520" cy="10058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Codificación con el orden declarado explícitamente por el grupo</a:t>
            </a:r>
            <a:endParaRPr lang="en-US" sz="1250" dirty="0"/>
          </a:p>
        </p:txBody>
      </p:sp>
      <p:sp>
        <p:nvSpPr>
          <p:cNvPr id="13" name="Text 11"/>
          <p:cNvSpPr/>
          <p:nvPr/>
        </p:nvSpPr>
        <p:spPr>
          <a:xfrm>
            <a:off x="4581144" y="3794760"/>
            <a:ext cx="3017520" cy="36576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Ejemplo: nivel de riesgo</a:t>
            </a:r>
            <a:endParaRPr lang="en-US" sz="1150" dirty="0"/>
          </a:p>
        </p:txBody>
      </p:sp>
      <p:sp>
        <p:nvSpPr>
          <p:cNvPr id="14" name="Shape 12"/>
          <p:cNvSpPr/>
          <p:nvPr/>
        </p:nvSpPr>
        <p:spPr>
          <a:xfrm>
            <a:off x="8101584" y="1783080"/>
            <a:ext cx="3520440" cy="2651760"/>
          </a:xfrm>
          <a:prstGeom prst="roundRect">
            <a:avLst>
              <a:gd name="adj" fmla="val 3103"/>
            </a:avLst>
          </a:prstGeom>
          <a:solidFill>
            <a:srgbClr val="F4F7FA"/>
          </a:solidFill>
          <a:ln w="12700">
            <a:solidFill>
              <a:srgbClr val="F4F7FA"/>
            </a:solidFill>
            <a:prstDash val="solid"/>
          </a:ln>
        </p:spPr>
        <p:txBody>
          <a:bodyPr/>
          <a:lstStyle/>
          <a:p>
            <a:endParaRPr lang="es-CL"/>
          </a:p>
        </p:txBody>
      </p:sp>
      <p:sp>
        <p:nvSpPr>
          <p:cNvPr id="15" name="Text 13"/>
          <p:cNvSpPr/>
          <p:nvPr/>
        </p:nvSpPr>
        <p:spPr>
          <a:xfrm>
            <a:off x="8357616" y="1938528"/>
            <a:ext cx="3017520" cy="384048"/>
          </a:xfrm>
          <a:prstGeom prst="rect">
            <a:avLst/>
          </a:prstGeom>
          <a:noFill/>
          <a:ln/>
        </p:spPr>
        <p:txBody>
          <a:bodyPr wrap="square" lIns="0" tIns="0" rIns="0" bIns="0" rtlCol="0" anchor="ctr"/>
          <a:lstStyle/>
          <a:p>
            <a:pPr marL="0" indent="0">
              <a:buNone/>
            </a:pPr>
            <a:r>
              <a:rPr lang="en-US" sz="2000" b="1" dirty="0">
                <a:solidFill>
                  <a:srgbClr val="06304A"/>
                </a:solidFill>
                <a:latin typeface="Cambria" pitchFamily="34" charset="0"/>
                <a:ea typeface="Cambria" pitchFamily="34" charset="-122"/>
                <a:cs typeface="Cambria" pitchFamily="34" charset="-120"/>
              </a:rPr>
              <a:t>Derivadas</a:t>
            </a:r>
            <a:endParaRPr lang="en-US" sz="2000" dirty="0"/>
          </a:p>
        </p:txBody>
      </p:sp>
      <p:sp>
        <p:nvSpPr>
          <p:cNvPr id="16" name="Text 14"/>
          <p:cNvSpPr/>
          <p:nvPr/>
        </p:nvSpPr>
        <p:spPr>
          <a:xfrm>
            <a:off x="8357616" y="2331720"/>
            <a:ext cx="3017520" cy="274320"/>
          </a:xfrm>
          <a:prstGeom prst="rect">
            <a:avLst/>
          </a:prstGeom>
          <a:noFill/>
          <a:ln/>
        </p:spPr>
        <p:txBody>
          <a:bodyPr wrap="square" lIns="0" tIns="0" rIns="0" bIns="0" rtlCol="0" anchor="ctr"/>
          <a:lstStyle/>
          <a:p>
            <a:pPr marL="0" indent="0">
              <a:buNone/>
            </a:pPr>
            <a:r>
              <a:rPr lang="en-US" sz="1200" i="1" dirty="0">
                <a:solidFill>
                  <a:srgbClr val="AC212E"/>
                </a:solidFill>
                <a:latin typeface="Calibri" pitchFamily="34" charset="0"/>
                <a:ea typeface="Calibri" pitchFamily="34" charset="-122"/>
                <a:cs typeface="Calibri" pitchFamily="34" charset="-120"/>
              </a:rPr>
              <a:t>Variables nuevas</a:t>
            </a:r>
            <a:endParaRPr lang="en-US" sz="1200" dirty="0"/>
          </a:p>
        </p:txBody>
      </p:sp>
      <p:sp>
        <p:nvSpPr>
          <p:cNvPr id="17" name="Text 15"/>
          <p:cNvSpPr/>
          <p:nvPr/>
        </p:nvSpPr>
        <p:spPr>
          <a:xfrm>
            <a:off x="8357616" y="2697480"/>
            <a:ext cx="3017520" cy="1005840"/>
          </a:xfrm>
          <a:prstGeom prst="rect">
            <a:avLst/>
          </a:prstGeom>
          <a:noFill/>
          <a:ln/>
        </p:spPr>
        <p:txBody>
          <a:bodyPr wrap="square" lIns="0" tIns="0" rIns="0" bIns="0" rtlCol="0" anchor="ctr"/>
          <a:lstStyle/>
          <a:p>
            <a:pPr marL="0" indent="0">
              <a:lnSpc>
                <a:spcPts val="1700"/>
              </a:lnSpc>
              <a:buNone/>
            </a:pPr>
            <a:r>
              <a:rPr lang="en-US" sz="1250" dirty="0">
                <a:solidFill>
                  <a:srgbClr val="06304A"/>
                </a:solidFill>
                <a:latin typeface="Calibri" pitchFamily="34" charset="0"/>
                <a:ea typeface="Calibri" pitchFamily="34" charset="-122"/>
                <a:cs typeface="Calibri" pitchFamily="34" charset="-120"/>
              </a:rPr>
              <a:t>Discretizar continuas o crear banderas con umbrales del dominio</a:t>
            </a:r>
            <a:endParaRPr lang="en-US" sz="1250" dirty="0"/>
          </a:p>
        </p:txBody>
      </p:sp>
      <p:sp>
        <p:nvSpPr>
          <p:cNvPr id="18" name="Text 16"/>
          <p:cNvSpPr/>
          <p:nvPr/>
        </p:nvSpPr>
        <p:spPr>
          <a:xfrm>
            <a:off x="8357616" y="3794760"/>
            <a:ext cx="3017520" cy="365760"/>
          </a:xfrm>
          <a:prstGeom prst="rect">
            <a:avLst/>
          </a:prstGeom>
          <a:noFill/>
          <a:ln/>
        </p:spPr>
        <p:txBody>
          <a:bodyPr wrap="square" lIns="0" tIns="0" rIns="0" bIns="0" rtlCol="0" anchor="ctr"/>
          <a:lstStyle/>
          <a:p>
            <a:pPr marL="0" indent="0">
              <a:buNone/>
            </a:pPr>
            <a:r>
              <a:rPr lang="en-US" sz="1150" dirty="0">
                <a:solidFill>
                  <a:srgbClr val="5A6B7B"/>
                </a:solidFill>
                <a:latin typeface="Calibri" pitchFamily="34" charset="0"/>
                <a:ea typeface="Calibri" pitchFamily="34" charset="-122"/>
                <a:cs typeface="Calibri" pitchFamily="34" charset="-120"/>
              </a:rPr>
              <a:t>Ejemplo: grupo etario</a:t>
            </a:r>
            <a:endParaRPr lang="en-US" sz="1150" dirty="0"/>
          </a:p>
        </p:txBody>
      </p:sp>
      <p:sp>
        <p:nvSpPr>
          <p:cNvPr id="19" name="Shape 17"/>
          <p:cNvSpPr/>
          <p:nvPr/>
        </p:nvSpPr>
        <p:spPr>
          <a:xfrm>
            <a:off x="548640" y="4663440"/>
            <a:ext cx="11064240" cy="1280160"/>
          </a:xfrm>
          <a:prstGeom prst="roundRect">
            <a:avLst>
              <a:gd name="adj" fmla="val 6429"/>
            </a:avLst>
          </a:prstGeom>
          <a:solidFill>
            <a:srgbClr val="0A1526"/>
          </a:solidFill>
          <a:ln w="12700">
            <a:solidFill>
              <a:srgbClr val="0A1526"/>
            </a:solidFill>
            <a:prstDash val="solid"/>
          </a:ln>
        </p:spPr>
        <p:txBody>
          <a:bodyPr/>
          <a:lstStyle/>
          <a:p>
            <a:endParaRPr lang="es-CL"/>
          </a:p>
        </p:txBody>
      </p:sp>
      <p:sp>
        <p:nvSpPr>
          <p:cNvPr id="20" name="Text 18"/>
          <p:cNvSpPr/>
          <p:nvPr/>
        </p:nvSpPr>
        <p:spPr>
          <a:xfrm>
            <a:off x="868680" y="4800600"/>
            <a:ext cx="4572000" cy="320040"/>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El error que más se repite</a:t>
            </a:r>
            <a:endParaRPr lang="en-US" sz="1400" dirty="0"/>
          </a:p>
        </p:txBody>
      </p:sp>
      <p:sp>
        <p:nvSpPr>
          <p:cNvPr id="21" name="Text 19"/>
          <p:cNvSpPr/>
          <p:nvPr/>
        </p:nvSpPr>
        <p:spPr>
          <a:xfrm>
            <a:off x="868680" y="5138928"/>
            <a:ext cx="10424160" cy="68580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Dejar que la librería ordene una variable ordinal por orden alfabético. «exfumador &lt; fumador &lt; nunca» no tiene ningún sentido en el dominio, y produce un análisis entrenado sobre una escala inventada. El orden lo declara el equipo, en un diccionario explícito.</a:t>
            </a:r>
            <a:endParaRPr lang="en-US" sz="13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9 · Escalamiento: comparar los tres</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Igual que con la imputación: no hay uno mejor, hay uno que corresponde a sus datos.</a:t>
            </a:r>
            <a:endParaRPr lang="en-US" sz="1400" dirty="0"/>
          </a:p>
        </p:txBody>
      </p:sp>
      <p:graphicFrame>
        <p:nvGraphicFramePr>
          <p:cNvPr id="12" name="Table 0"/>
          <p:cNvGraphicFramePr>
            <a:graphicFrameLocks noGrp="1"/>
          </p:cNvGraphicFramePr>
          <p:nvPr/>
        </p:nvGraphicFramePr>
        <p:xfrm>
          <a:off x="548640" y="1783080"/>
          <a:ext cx="11064240" cy="2267712"/>
        </p:xfrm>
        <a:graphic>
          <a:graphicData uri="http://schemas.openxmlformats.org/drawingml/2006/table">
            <a:tbl>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56692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Escalador</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garantiza</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Cuándo conviene</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Riesgo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StandardScaler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 0, desviación 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Distribución aproximadamente simétrica</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No acota el rango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MinMaxScaler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Rango [0, 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Se requiere un rango acotado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Un extremo comprime todo el resto</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RobustScaler</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Mediana 0, RIC 1</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Hay valores extremos que no se eliminan</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200" dirty="0">
                          <a:solidFill>
                            <a:srgbClr val="06304A"/>
                          </a:solidFill>
                          <a:latin typeface="Calibri" pitchFamily="34" charset="0"/>
                          <a:ea typeface="Calibri" pitchFamily="34" charset="-122"/>
                          <a:cs typeface="Calibri" pitchFamily="34" charset="-120"/>
                        </a:rPr>
                        <a:t>Las cifras no quedan «redondas»</a:t>
                      </a:r>
                      <a:endParaRPr lang="en-US" sz="12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4114800"/>
            <a:ext cx="11064240" cy="1828800"/>
          </a:xfrm>
          <a:prstGeom prst="roundRect">
            <a:avLst>
              <a:gd name="adj" fmla="val 4500"/>
            </a:avLst>
          </a:prstGeom>
          <a:solidFill>
            <a:srgbClr val="F6E7E9"/>
          </a:solidFill>
          <a:ln w="12700">
            <a:solidFill>
              <a:srgbClr val="F6E7E9"/>
            </a:solidFill>
            <a:prstDash val="solid"/>
          </a:ln>
        </p:spPr>
        <p:txBody>
          <a:bodyPr/>
          <a:lstStyle/>
          <a:p>
            <a:endParaRPr lang="es-CL"/>
          </a:p>
        </p:txBody>
      </p:sp>
      <p:sp>
        <p:nvSpPr>
          <p:cNvPr id="6" name="Text 3"/>
          <p:cNvSpPr/>
          <p:nvPr/>
        </p:nvSpPr>
        <p:spPr>
          <a:xfrm>
            <a:off x="868680" y="4279392"/>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Coherencia entre decisiones</a:t>
            </a:r>
            <a:endParaRPr lang="en-US" sz="1500" dirty="0"/>
          </a:p>
        </p:txBody>
      </p:sp>
      <p:sp>
        <p:nvSpPr>
          <p:cNvPr id="7" name="Text 4"/>
          <p:cNvSpPr/>
          <p:nvPr/>
        </p:nvSpPr>
        <p:spPr>
          <a:xfrm>
            <a:off x="868680" y="4645152"/>
            <a:ext cx="10424160" cy="118872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La misma evidencia debería sostener las dos elecciones. Si reconocieron valores extremos para imputar con la mediana, tampoco tiene sentido centrar con la media al escalar.</a:t>
            </a:r>
            <a:endParaRPr lang="en-US" sz="1350" dirty="0"/>
          </a:p>
          <a:p>
            <a:pPr marL="0" indent="0">
              <a:lnSpc>
                <a:spcPts val="1900"/>
              </a:lnSpc>
              <a:buNone/>
            </a:pPr>
            <a:endParaRPr lang="en-US" sz="1350" dirty="0"/>
          </a:p>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Si eligen mediana para imputar y StandardScaler para escalar, tienen que explicar por qué el mismo hecho lleva a criterios distintos. Eso es lo que separa un pipeline pensado de una sucesión de pasos.</a:t>
            </a:r>
            <a:endParaRPr lang="en-US" sz="13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Paso 10 · Validar es demostrar, no afirmar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D7E3EE"/>
                </a:solidFill>
                <a:latin typeface="Calibri" pitchFamily="34" charset="0"/>
                <a:ea typeface="Calibri" pitchFamily="34" charset="-122"/>
                <a:cs typeface="Calibri" pitchFamily="34" charset="-120"/>
              </a:rPr>
              <a:t>Criterio 11 de la rúbrica: 6 puntos que casi nadie cubre completos.</a:t>
            </a:r>
            <a:endParaRPr lang="en-US" sz="1400" dirty="0"/>
          </a:p>
        </p:txBody>
      </p:sp>
      <p:sp>
        <p:nvSpPr>
          <p:cNvPr id="4" name="Shape 2"/>
          <p:cNvSpPr/>
          <p:nvPr/>
        </p:nvSpPr>
        <p:spPr>
          <a:xfrm>
            <a:off x="548640" y="1828800"/>
            <a:ext cx="5394960" cy="2194560"/>
          </a:xfrm>
          <a:prstGeom prst="roundRect">
            <a:avLst>
              <a:gd name="adj" fmla="val 3750"/>
            </a:avLst>
          </a:prstGeom>
          <a:solidFill>
            <a:srgbClr val="12203A"/>
          </a:solidFill>
          <a:ln w="12700">
            <a:solidFill>
              <a:srgbClr val="12203A"/>
            </a:solidFill>
            <a:prstDash val="solid"/>
          </a:ln>
        </p:spPr>
        <p:txBody>
          <a:bodyPr/>
          <a:lstStyle/>
          <a:p>
            <a:endParaRPr lang="es-CL"/>
          </a:p>
        </p:txBody>
      </p:sp>
      <p:sp>
        <p:nvSpPr>
          <p:cNvPr id="5" name="Text 3"/>
          <p:cNvSpPr/>
          <p:nvPr/>
        </p:nvSpPr>
        <p:spPr>
          <a:xfrm>
            <a:off x="868680" y="1993392"/>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Validar el dataset</a:t>
            </a:r>
            <a:endParaRPr lang="en-US" sz="1500" dirty="0"/>
          </a:p>
        </p:txBody>
      </p:sp>
      <p:sp>
        <p:nvSpPr>
          <p:cNvPr id="6" name="Text 4"/>
          <p:cNvSpPr/>
          <p:nvPr/>
        </p:nvSpPr>
        <p:spPr>
          <a:xfrm>
            <a:off x="868680" y="2377440"/>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7" name="Text 5"/>
          <p:cNvSpPr/>
          <p:nvPr/>
        </p:nvSpPr>
        <p:spPr>
          <a:xfrm>
            <a:off x="1600200" y="2377440"/>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No quedan valores nulos</a:t>
            </a:r>
            <a:endParaRPr lang="en-US" sz="1150" dirty="0"/>
          </a:p>
        </p:txBody>
      </p:sp>
      <p:sp>
        <p:nvSpPr>
          <p:cNvPr id="8" name="Text 6"/>
          <p:cNvSpPr/>
          <p:nvPr/>
        </p:nvSpPr>
        <p:spPr>
          <a:xfrm>
            <a:off x="868680" y="2688336"/>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9" name="Text 7"/>
          <p:cNvSpPr/>
          <p:nvPr/>
        </p:nvSpPr>
        <p:spPr>
          <a:xfrm>
            <a:off x="1600200" y="2688336"/>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Todas las columnas de análisis son numéricas</a:t>
            </a:r>
            <a:endParaRPr lang="en-US" sz="1150" dirty="0"/>
          </a:p>
        </p:txBody>
      </p:sp>
      <p:sp>
        <p:nvSpPr>
          <p:cNvPr id="10" name="Text 8"/>
          <p:cNvSpPr/>
          <p:nvPr/>
        </p:nvSpPr>
        <p:spPr>
          <a:xfrm>
            <a:off x="868680" y="2999232"/>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11" name="Text 9"/>
          <p:cNvSpPr/>
          <p:nvPr/>
        </p:nvSpPr>
        <p:spPr>
          <a:xfrm>
            <a:off x="1600200" y="2999232"/>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Cada grupo one-hot suma 1 por fila</a:t>
            </a:r>
            <a:endParaRPr lang="en-US" sz="1150" dirty="0"/>
          </a:p>
        </p:txBody>
      </p:sp>
      <p:sp>
        <p:nvSpPr>
          <p:cNvPr id="12" name="Text 10"/>
          <p:cNvSpPr/>
          <p:nvPr/>
        </p:nvSpPr>
        <p:spPr>
          <a:xfrm>
            <a:off x="868680" y="3310128"/>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13" name="Text 11"/>
          <p:cNvSpPr/>
          <p:nvPr/>
        </p:nvSpPr>
        <p:spPr>
          <a:xfrm>
            <a:off x="1600200" y="3310128"/>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No hay filas duplicadas</a:t>
            </a:r>
            <a:endParaRPr lang="en-US" sz="1150" dirty="0"/>
          </a:p>
        </p:txBody>
      </p:sp>
      <p:sp>
        <p:nvSpPr>
          <p:cNvPr id="14" name="Text 12"/>
          <p:cNvSpPr/>
          <p:nvPr/>
        </p:nvSpPr>
        <p:spPr>
          <a:xfrm>
            <a:off x="868680" y="3621024"/>
            <a:ext cx="685800" cy="292608"/>
          </a:xfrm>
          <a:prstGeom prst="rect">
            <a:avLst/>
          </a:prstGeom>
          <a:noFill/>
          <a:ln/>
        </p:spPr>
        <p:txBody>
          <a:bodyPr wrap="square" lIns="0" tIns="0" rIns="0" bIns="0" rtlCol="0" anchor="ctr"/>
          <a:lstStyle/>
          <a:p>
            <a:pPr marL="0" indent="0">
              <a:buNone/>
            </a:pPr>
            <a:r>
              <a:rPr lang="en-US" sz="1000" dirty="0">
                <a:solidFill>
                  <a:srgbClr val="AC212E"/>
                </a:solidFill>
                <a:latin typeface="Courier New" pitchFamily="34" charset="0"/>
                <a:ea typeface="Courier New" pitchFamily="34" charset="-122"/>
                <a:cs typeface="Courier New" pitchFamily="34" charset="-120"/>
              </a:rPr>
              <a:t>assert</a:t>
            </a:r>
            <a:endParaRPr lang="en-US" sz="1000" dirty="0"/>
          </a:p>
        </p:txBody>
      </p:sp>
      <p:sp>
        <p:nvSpPr>
          <p:cNvPr id="15" name="Text 13"/>
          <p:cNvSpPr/>
          <p:nvPr/>
        </p:nvSpPr>
        <p:spPr>
          <a:xfrm>
            <a:off x="1600200" y="3621024"/>
            <a:ext cx="4114800" cy="292608"/>
          </a:xfrm>
          <a:prstGeom prst="rect">
            <a:avLst/>
          </a:prstGeom>
          <a:noFill/>
          <a:ln/>
        </p:spPr>
        <p:txBody>
          <a:bodyPr wrap="square" lIns="0" tIns="0" rIns="0" bIns="0" rtlCol="0" anchor="ctr"/>
          <a:lstStyle/>
          <a:p>
            <a:pPr marL="0" indent="0">
              <a:buNone/>
            </a:pPr>
            <a:r>
              <a:rPr lang="en-US" sz="1150" dirty="0">
                <a:solidFill>
                  <a:srgbClr val="D7E3EE"/>
                </a:solidFill>
                <a:latin typeface="Calibri" pitchFamily="34" charset="0"/>
                <a:ea typeface="Calibri" pitchFamily="34" charset="-122"/>
                <a:cs typeface="Calibri" pitchFamily="34" charset="-120"/>
              </a:rPr>
              <a:t>Se conservó el número de filas esperado</a:t>
            </a:r>
            <a:endParaRPr lang="en-US" sz="1150" dirty="0"/>
          </a:p>
        </p:txBody>
      </p:sp>
      <p:sp>
        <p:nvSpPr>
          <p:cNvPr id="16" name="Shape 14"/>
          <p:cNvSpPr/>
          <p:nvPr/>
        </p:nvSpPr>
        <p:spPr>
          <a:xfrm>
            <a:off x="6217920" y="1828800"/>
            <a:ext cx="5394960" cy="2194560"/>
          </a:xfrm>
          <a:prstGeom prst="roundRect">
            <a:avLst>
              <a:gd name="adj" fmla="val 3750"/>
            </a:avLst>
          </a:prstGeom>
          <a:solidFill>
            <a:srgbClr val="12203A"/>
          </a:solidFill>
          <a:ln w="12700">
            <a:solidFill>
              <a:srgbClr val="12203A"/>
            </a:solidFill>
            <a:prstDash val="solid"/>
          </a:ln>
        </p:spPr>
        <p:txBody>
          <a:bodyPr/>
          <a:lstStyle/>
          <a:p>
            <a:endParaRPr lang="es-CL"/>
          </a:p>
        </p:txBody>
      </p:sp>
      <p:sp>
        <p:nvSpPr>
          <p:cNvPr id="17" name="Text 15"/>
          <p:cNvSpPr/>
          <p:nvPr/>
        </p:nvSpPr>
        <p:spPr>
          <a:xfrm>
            <a:off x="6537960" y="1993392"/>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Probar las funciones</a:t>
            </a:r>
            <a:endParaRPr lang="en-US" sz="1500" dirty="0"/>
          </a:p>
        </p:txBody>
      </p:sp>
      <p:sp>
        <p:nvSpPr>
          <p:cNvPr id="18" name="Text 16"/>
          <p:cNvSpPr/>
          <p:nvPr/>
        </p:nvSpPr>
        <p:spPr>
          <a:xfrm>
            <a:off x="6537960" y="2423160"/>
            <a:ext cx="14630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Caso normal</a:t>
            </a:r>
            <a:endParaRPr lang="en-US" sz="1250" dirty="0"/>
          </a:p>
        </p:txBody>
      </p:sp>
      <p:sp>
        <p:nvSpPr>
          <p:cNvPr id="19" name="Text 17"/>
          <p:cNvSpPr/>
          <p:nvPr/>
        </p:nvSpPr>
        <p:spPr>
          <a:xfrm>
            <a:off x="8001000" y="2423160"/>
            <a:ext cx="3291840" cy="411480"/>
          </a:xfrm>
          <a:prstGeom prst="rect">
            <a:avLst/>
          </a:prstGeom>
          <a:noFill/>
          <a:ln/>
        </p:spPr>
        <p:txBody>
          <a:bodyPr wrap="square" lIns="0" tIns="0" rIns="0" bIns="0" rtlCol="0" anchor="ctr"/>
          <a:lstStyle/>
          <a:p>
            <a:pPr marL="0" indent="0">
              <a:buNone/>
            </a:pPr>
            <a:r>
              <a:rPr lang="en-US" sz="1100" dirty="0">
                <a:solidFill>
                  <a:srgbClr val="D7E3EE"/>
                </a:solidFill>
                <a:latin typeface="Calibri" pitchFamily="34" charset="0"/>
                <a:ea typeface="Calibri" pitchFamily="34" charset="-122"/>
                <a:cs typeface="Calibri" pitchFamily="34" charset="-120"/>
              </a:rPr>
              <a:t>Funciona con la entrada esperada</a:t>
            </a:r>
            <a:endParaRPr lang="en-US" sz="1100" dirty="0"/>
          </a:p>
        </p:txBody>
      </p:sp>
      <p:sp>
        <p:nvSpPr>
          <p:cNvPr id="20" name="Text 18"/>
          <p:cNvSpPr/>
          <p:nvPr/>
        </p:nvSpPr>
        <p:spPr>
          <a:xfrm>
            <a:off x="6537960" y="2953512"/>
            <a:ext cx="14630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Caso límite</a:t>
            </a:r>
            <a:endParaRPr lang="en-US" sz="1250" dirty="0"/>
          </a:p>
        </p:txBody>
      </p:sp>
      <p:sp>
        <p:nvSpPr>
          <p:cNvPr id="21" name="Text 19"/>
          <p:cNvSpPr/>
          <p:nvPr/>
        </p:nvSpPr>
        <p:spPr>
          <a:xfrm>
            <a:off x="8001000" y="2953512"/>
            <a:ext cx="3291840" cy="411480"/>
          </a:xfrm>
          <a:prstGeom prst="rect">
            <a:avLst/>
          </a:prstGeom>
          <a:noFill/>
          <a:ln/>
        </p:spPr>
        <p:txBody>
          <a:bodyPr wrap="square" lIns="0" tIns="0" rIns="0" bIns="0" rtlCol="0" anchor="ctr"/>
          <a:lstStyle/>
          <a:p>
            <a:pPr marL="0" indent="0">
              <a:buNone/>
            </a:pPr>
            <a:r>
              <a:rPr lang="en-US" sz="1100" dirty="0">
                <a:solidFill>
                  <a:srgbClr val="D7E3EE"/>
                </a:solidFill>
                <a:latin typeface="Calibri" pitchFamily="34" charset="0"/>
                <a:ea typeface="Calibri" pitchFamily="34" charset="-122"/>
                <a:cs typeface="Calibri" pitchFamily="34" charset="-120"/>
              </a:rPr>
              <a:t>Columna sin nulos, una sola categoría, conjunto vacío</a:t>
            </a:r>
            <a:endParaRPr lang="en-US" sz="1100" dirty="0"/>
          </a:p>
        </p:txBody>
      </p:sp>
      <p:sp>
        <p:nvSpPr>
          <p:cNvPr id="22" name="Text 20"/>
          <p:cNvSpPr/>
          <p:nvPr/>
        </p:nvSpPr>
        <p:spPr>
          <a:xfrm>
            <a:off x="6537960" y="3483864"/>
            <a:ext cx="14630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Excepción</a:t>
            </a:r>
            <a:endParaRPr lang="en-US" sz="1250" dirty="0"/>
          </a:p>
        </p:txBody>
      </p:sp>
      <p:sp>
        <p:nvSpPr>
          <p:cNvPr id="23" name="Text 21"/>
          <p:cNvSpPr/>
          <p:nvPr/>
        </p:nvSpPr>
        <p:spPr>
          <a:xfrm>
            <a:off x="8001000" y="3483864"/>
            <a:ext cx="3291840" cy="411480"/>
          </a:xfrm>
          <a:prstGeom prst="rect">
            <a:avLst/>
          </a:prstGeom>
          <a:noFill/>
          <a:ln/>
        </p:spPr>
        <p:txBody>
          <a:bodyPr wrap="square" lIns="0" tIns="0" rIns="0" bIns="0" rtlCol="0" anchor="ctr"/>
          <a:lstStyle/>
          <a:p>
            <a:pPr marL="0" indent="0">
              <a:buNone/>
            </a:pPr>
            <a:r>
              <a:rPr lang="en-US" sz="1100" dirty="0">
                <a:solidFill>
                  <a:srgbClr val="D7E3EE"/>
                </a:solidFill>
                <a:latin typeface="Calibri" pitchFamily="34" charset="0"/>
                <a:ea typeface="Calibri" pitchFamily="34" charset="-122"/>
                <a:cs typeface="Calibri" pitchFamily="34" charset="-120"/>
              </a:rPr>
              <a:t>Lanza el error correcto ante una entrada inválida</a:t>
            </a:r>
            <a:endParaRPr lang="en-US" sz="1100" dirty="0"/>
          </a:p>
        </p:txBody>
      </p:sp>
      <p:sp>
        <p:nvSpPr>
          <p:cNvPr id="24" name="Shape 22"/>
          <p:cNvSpPr/>
          <p:nvPr/>
        </p:nvSpPr>
        <p:spPr>
          <a:xfrm>
            <a:off x="548640" y="4297680"/>
            <a:ext cx="11064240" cy="1554480"/>
          </a:xfrm>
          <a:prstGeom prst="roundRect">
            <a:avLst>
              <a:gd name="adj" fmla="val 5294"/>
            </a:avLst>
          </a:prstGeom>
          <a:solidFill>
            <a:srgbClr val="12203A"/>
          </a:solidFill>
          <a:ln w="12700">
            <a:solidFill>
              <a:srgbClr val="12203A"/>
            </a:solidFill>
            <a:prstDash val="solid"/>
          </a:ln>
        </p:spPr>
        <p:txBody>
          <a:bodyPr/>
          <a:lstStyle/>
          <a:p>
            <a:endParaRPr lang="es-CL"/>
          </a:p>
        </p:txBody>
      </p:sp>
      <p:sp>
        <p:nvSpPr>
          <p:cNvPr id="25" name="Text 23"/>
          <p:cNvSpPr/>
          <p:nvPr/>
        </p:nvSpPr>
        <p:spPr>
          <a:xfrm>
            <a:off x="868680" y="4462272"/>
            <a:ext cx="6400800" cy="347472"/>
          </a:xfrm>
          <a:prstGeom prst="rect">
            <a:avLst/>
          </a:prstGeom>
          <a:noFill/>
          <a:ln/>
        </p:spPr>
        <p:txBody>
          <a:bodyPr wrap="square" lIns="0" tIns="0" rIns="0" bIns="0" rtlCol="0" anchor="ctr"/>
          <a:lstStyle/>
          <a:p>
            <a:pPr marL="0" indent="0">
              <a:buNone/>
            </a:pPr>
            <a:r>
              <a:rPr lang="en-US" sz="1400" b="1" dirty="0">
                <a:solidFill>
                  <a:srgbClr val="AC212E"/>
                </a:solidFill>
                <a:latin typeface="Calibri" pitchFamily="34" charset="0"/>
                <a:ea typeface="Calibri" pitchFamily="34" charset="-122"/>
                <a:cs typeface="Calibri" pitchFamily="34" charset="-120"/>
              </a:rPr>
              <a:t>Verificar la propiedad que corresponde</a:t>
            </a:r>
            <a:endParaRPr lang="en-US" sz="1400" dirty="0"/>
          </a:p>
        </p:txBody>
      </p:sp>
      <p:sp>
        <p:nvSpPr>
          <p:cNvPr id="26" name="Text 24"/>
          <p:cNvSpPr/>
          <p:nvPr/>
        </p:nvSpPr>
        <p:spPr>
          <a:xfrm>
            <a:off x="868680" y="4828032"/>
            <a:ext cx="10424160" cy="86868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Calibri" pitchFamily="34" charset="0"/>
                <a:ea typeface="Calibri" pitchFamily="34" charset="-122"/>
                <a:cs typeface="Calibri" pitchFamily="34" charset="-120"/>
              </a:rPr>
              <a:t>Cada escalador garantiza algo distinto: StandardScaler deja media 0 y desviación 1; MinMaxScaler, valores entre 0 y 1; RobustScaler, mediana 0 y rango intercuartílico 1. Comprobar la propiedad correcta es lo que convierte esto en validación y no en trámite.</a:t>
            </a:r>
            <a:endParaRPr lang="en-US" sz="13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11 · Guardar, verificar y documentar</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El pipeline no termina con el DataFrame limpio: termina cuando queda guardado y trazable.</a:t>
            </a:r>
            <a:endParaRPr lang="en-US" sz="1400" dirty="0"/>
          </a:p>
        </p:txBody>
      </p:sp>
      <p:sp>
        <p:nvSpPr>
          <p:cNvPr id="4" name="Shape 2"/>
          <p:cNvSpPr/>
          <p:nvPr/>
        </p:nvSpPr>
        <p:spPr>
          <a:xfrm>
            <a:off x="548640" y="1783080"/>
            <a:ext cx="3520440" cy="1691640"/>
          </a:xfrm>
          <a:prstGeom prst="roundRect">
            <a:avLst>
              <a:gd name="adj" fmla="val 4865"/>
            </a:avLst>
          </a:prstGeom>
          <a:solidFill>
            <a:srgbClr val="F4F7FA"/>
          </a:solidFill>
          <a:ln w="12700">
            <a:solidFill>
              <a:srgbClr val="F4F7FA"/>
            </a:solidFill>
            <a:prstDash val="solid"/>
          </a:ln>
        </p:spPr>
        <p:txBody>
          <a:bodyPr/>
          <a:lstStyle/>
          <a:p>
            <a:endParaRPr lang="es-CL"/>
          </a:p>
        </p:txBody>
      </p:sp>
      <p:sp>
        <p:nvSpPr>
          <p:cNvPr id="5" name="Shape 3"/>
          <p:cNvSpPr/>
          <p:nvPr/>
        </p:nvSpPr>
        <p:spPr>
          <a:xfrm>
            <a:off x="804672" y="1993392"/>
            <a:ext cx="420624" cy="420624"/>
          </a:xfrm>
          <a:prstGeom prst="ellipse">
            <a:avLst/>
          </a:prstGeom>
          <a:solidFill>
            <a:srgbClr val="06304A"/>
          </a:solidFill>
          <a:ln/>
        </p:spPr>
        <p:txBody>
          <a:bodyPr/>
          <a:lstStyle/>
          <a:p>
            <a:endParaRPr lang="es-CL"/>
          </a:p>
        </p:txBody>
      </p:sp>
      <p:sp>
        <p:nvSpPr>
          <p:cNvPr id="6" name="Text 4"/>
          <p:cNvSpPr/>
          <p:nvPr/>
        </p:nvSpPr>
        <p:spPr>
          <a:xfrm>
            <a:off x="804672" y="1993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975104"/>
            <a:ext cx="246888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Guardar</a:t>
            </a:r>
            <a:endParaRPr lang="en-US" sz="1500" dirty="0"/>
          </a:p>
        </p:txBody>
      </p:sp>
      <p:sp>
        <p:nvSpPr>
          <p:cNvPr id="8" name="Text 6"/>
          <p:cNvSpPr/>
          <p:nvPr/>
        </p:nvSpPr>
        <p:spPr>
          <a:xfrm>
            <a:off x="804672" y="2542032"/>
            <a:ext cx="3017520" cy="86868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El resultado va a data/processed/, nunca sobre data/raw/.</a:t>
            </a:r>
            <a:endParaRPr lang="en-US" sz="1200" dirty="0"/>
          </a:p>
        </p:txBody>
      </p:sp>
      <p:sp>
        <p:nvSpPr>
          <p:cNvPr id="9" name="Shape 7"/>
          <p:cNvSpPr/>
          <p:nvPr/>
        </p:nvSpPr>
        <p:spPr>
          <a:xfrm>
            <a:off x="4325112" y="1783080"/>
            <a:ext cx="3520440" cy="1691640"/>
          </a:xfrm>
          <a:prstGeom prst="roundRect">
            <a:avLst>
              <a:gd name="adj" fmla="val 4865"/>
            </a:avLst>
          </a:prstGeom>
          <a:solidFill>
            <a:srgbClr val="F4F7FA"/>
          </a:solidFill>
          <a:ln w="12700">
            <a:solidFill>
              <a:srgbClr val="F4F7FA"/>
            </a:solidFill>
            <a:prstDash val="solid"/>
          </a:ln>
        </p:spPr>
        <p:txBody>
          <a:bodyPr/>
          <a:lstStyle/>
          <a:p>
            <a:endParaRPr lang="es-CL"/>
          </a:p>
        </p:txBody>
      </p:sp>
      <p:sp>
        <p:nvSpPr>
          <p:cNvPr id="10" name="Shape 8"/>
          <p:cNvSpPr/>
          <p:nvPr/>
        </p:nvSpPr>
        <p:spPr>
          <a:xfrm>
            <a:off x="4581144" y="1993392"/>
            <a:ext cx="420624" cy="420624"/>
          </a:xfrm>
          <a:prstGeom prst="ellipse">
            <a:avLst/>
          </a:prstGeom>
          <a:solidFill>
            <a:srgbClr val="06304A"/>
          </a:solidFill>
          <a:ln/>
        </p:spPr>
        <p:txBody>
          <a:bodyPr/>
          <a:lstStyle/>
          <a:p>
            <a:endParaRPr lang="es-CL"/>
          </a:p>
        </p:txBody>
      </p:sp>
      <p:sp>
        <p:nvSpPr>
          <p:cNvPr id="11" name="Text 9"/>
          <p:cNvSpPr/>
          <p:nvPr/>
        </p:nvSpPr>
        <p:spPr>
          <a:xfrm>
            <a:off x="4581144" y="1993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148072" y="1975104"/>
            <a:ext cx="246888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Verificar</a:t>
            </a:r>
            <a:endParaRPr lang="en-US" sz="1500" dirty="0"/>
          </a:p>
        </p:txBody>
      </p:sp>
      <p:sp>
        <p:nvSpPr>
          <p:cNvPr id="13" name="Text 11"/>
          <p:cNvSpPr/>
          <p:nvPr/>
        </p:nvSpPr>
        <p:spPr>
          <a:xfrm>
            <a:off x="4581144" y="2542032"/>
            <a:ext cx="3017520" cy="86868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Releer el archivo y comprobar forma y columnas. Guardar sin comprobar se descubre tarde.</a:t>
            </a:r>
            <a:endParaRPr lang="en-US" sz="1200" dirty="0"/>
          </a:p>
        </p:txBody>
      </p:sp>
      <p:sp>
        <p:nvSpPr>
          <p:cNvPr id="14" name="Shape 12"/>
          <p:cNvSpPr/>
          <p:nvPr/>
        </p:nvSpPr>
        <p:spPr>
          <a:xfrm>
            <a:off x="8101584" y="1783080"/>
            <a:ext cx="3520440" cy="1691640"/>
          </a:xfrm>
          <a:prstGeom prst="roundRect">
            <a:avLst>
              <a:gd name="adj" fmla="val 4865"/>
            </a:avLst>
          </a:prstGeom>
          <a:solidFill>
            <a:srgbClr val="F4F7FA"/>
          </a:solidFill>
          <a:ln w="12700">
            <a:solidFill>
              <a:srgbClr val="F4F7FA"/>
            </a:solidFill>
            <a:prstDash val="solid"/>
          </a:ln>
        </p:spPr>
        <p:txBody>
          <a:bodyPr/>
          <a:lstStyle/>
          <a:p>
            <a:endParaRPr lang="es-CL"/>
          </a:p>
        </p:txBody>
      </p:sp>
      <p:sp>
        <p:nvSpPr>
          <p:cNvPr id="15" name="Shape 13"/>
          <p:cNvSpPr/>
          <p:nvPr/>
        </p:nvSpPr>
        <p:spPr>
          <a:xfrm>
            <a:off x="8357616" y="1993392"/>
            <a:ext cx="420624" cy="420624"/>
          </a:xfrm>
          <a:prstGeom prst="ellipse">
            <a:avLst/>
          </a:prstGeom>
          <a:solidFill>
            <a:srgbClr val="06304A"/>
          </a:solidFill>
          <a:ln/>
        </p:spPr>
        <p:txBody>
          <a:bodyPr/>
          <a:lstStyle/>
          <a:p>
            <a:endParaRPr lang="es-CL"/>
          </a:p>
        </p:txBody>
      </p:sp>
      <p:sp>
        <p:nvSpPr>
          <p:cNvPr id="16" name="Text 14"/>
          <p:cNvSpPr/>
          <p:nvPr/>
        </p:nvSpPr>
        <p:spPr>
          <a:xfrm>
            <a:off x="8357616" y="19933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924544" y="1975104"/>
            <a:ext cx="2468880" cy="457200"/>
          </a:xfrm>
          <a:prstGeom prst="rect">
            <a:avLst/>
          </a:prstGeom>
          <a:noFill/>
          <a:ln/>
        </p:spPr>
        <p:txBody>
          <a:bodyPr wrap="square" lIns="0" tIns="0" rIns="0" bIns="0" rtlCol="0" anchor="ctr"/>
          <a:lstStyle/>
          <a:p>
            <a:pPr marL="0" indent="0">
              <a:buNone/>
            </a:pPr>
            <a:r>
              <a:rPr lang="en-US" sz="1500" b="1" dirty="0">
                <a:solidFill>
                  <a:srgbClr val="06304A"/>
                </a:solidFill>
                <a:latin typeface="Calibri" pitchFamily="34" charset="0"/>
                <a:ea typeface="Calibri" pitchFamily="34" charset="-122"/>
                <a:cs typeface="Calibri" pitchFamily="34" charset="-120"/>
              </a:rPr>
              <a:t>Registrar</a:t>
            </a:r>
            <a:endParaRPr lang="en-US" sz="1500" dirty="0"/>
          </a:p>
        </p:txBody>
      </p:sp>
      <p:sp>
        <p:nvSpPr>
          <p:cNvPr id="18" name="Text 16"/>
          <p:cNvSpPr/>
          <p:nvPr/>
        </p:nvSpPr>
        <p:spPr>
          <a:xfrm>
            <a:off x="8357616" y="2542032"/>
            <a:ext cx="3017520" cy="868680"/>
          </a:xfrm>
          <a:prstGeom prst="rect">
            <a:avLst/>
          </a:prstGeom>
          <a:noFill/>
          <a:ln/>
        </p:spPr>
        <p:txBody>
          <a:bodyPr wrap="square" lIns="0" tIns="0" rIns="0" bIns="0" rtlCol="0" anchor="ctr"/>
          <a:lstStyle/>
          <a:p>
            <a:pPr marL="0" indent="0">
              <a:lnSpc>
                <a:spcPts val="1600"/>
              </a:lnSpc>
              <a:buNone/>
            </a:pPr>
            <a:r>
              <a:rPr lang="en-US" sz="1200" dirty="0">
                <a:solidFill>
                  <a:srgbClr val="5A6B7B"/>
                </a:solidFill>
                <a:latin typeface="Calibri" pitchFamily="34" charset="0"/>
                <a:ea typeface="Calibri" pitchFamily="34" charset="-122"/>
                <a:cs typeface="Calibri" pitchFamily="34" charset="-120"/>
              </a:rPr>
              <a:t>Exportar la bitácora de decisiones y los metadatos del proyecto.</a:t>
            </a:r>
            <a:endParaRPr lang="en-US" sz="1200" dirty="0"/>
          </a:p>
        </p:txBody>
      </p:sp>
      <p:sp>
        <p:nvSpPr>
          <p:cNvPr id="19" name="Shape 17"/>
          <p:cNvSpPr/>
          <p:nvPr/>
        </p:nvSpPr>
        <p:spPr>
          <a:xfrm>
            <a:off x="548640" y="3703320"/>
            <a:ext cx="11064240" cy="2240280"/>
          </a:xfrm>
          <a:prstGeom prst="roundRect">
            <a:avLst>
              <a:gd name="adj" fmla="val 3673"/>
            </a:avLst>
          </a:prstGeom>
          <a:solidFill>
            <a:srgbClr val="F6E7E9"/>
          </a:solidFill>
          <a:ln w="12700">
            <a:solidFill>
              <a:srgbClr val="F6E7E9"/>
            </a:solidFill>
            <a:prstDash val="solid"/>
          </a:ln>
        </p:spPr>
        <p:txBody>
          <a:bodyPr/>
          <a:lstStyle/>
          <a:p>
            <a:endParaRPr lang="es-CL"/>
          </a:p>
        </p:txBody>
      </p:sp>
      <p:sp>
        <p:nvSpPr>
          <p:cNvPr id="20" name="Text 18"/>
          <p:cNvSpPr/>
          <p:nvPr/>
        </p:nvSpPr>
        <p:spPr>
          <a:xfrm>
            <a:off x="868680" y="3858768"/>
            <a:ext cx="64008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La bitácora: el atajo para escribir el informe</a:t>
            </a:r>
            <a:endParaRPr lang="en-US" sz="1500" dirty="0"/>
          </a:p>
        </p:txBody>
      </p:sp>
      <p:sp>
        <p:nvSpPr>
          <p:cNvPr id="21" name="Text 19"/>
          <p:cNvSpPr/>
          <p:nvPr/>
        </p:nvSpPr>
        <p:spPr>
          <a:xfrm>
            <a:off x="868680" y="4224528"/>
            <a:ext cx="10424160" cy="548640"/>
          </a:xfrm>
          <a:prstGeom prst="rect">
            <a:avLst/>
          </a:prstGeom>
          <a:noFill/>
          <a:ln/>
        </p:spPr>
        <p:txBody>
          <a:bodyPr wrap="square" lIns="0" tIns="0" rIns="0" bIns="0" rtlCol="0" anchor="ctr"/>
          <a:lstStyle/>
          <a:p>
            <a:pPr marL="0" indent="0">
              <a:lnSpc>
                <a:spcPts val="1800"/>
              </a:lnSpc>
              <a:buNone/>
            </a:pPr>
            <a:r>
              <a:rPr lang="en-US" sz="1300" dirty="0">
                <a:solidFill>
                  <a:srgbClr val="06304A"/>
                </a:solidFill>
                <a:latin typeface="Calibri" pitchFamily="34" charset="0"/>
                <a:ea typeface="Calibri" pitchFamily="34" charset="-122"/>
                <a:cs typeface="Calibri" pitchFamily="34" charset="-120"/>
              </a:rPr>
              <a:t>Una función que anota cada decisión mientras ocurre, con sus cifras. Al escribir el informe ya no hay que reconstruir de memoria cuántos nulos imputaron ni con qué valor.</a:t>
            </a:r>
            <a:endParaRPr lang="en-US" sz="1300" dirty="0"/>
          </a:p>
        </p:txBody>
      </p:sp>
      <p:sp>
        <p:nvSpPr>
          <p:cNvPr id="22" name="Shape 20"/>
          <p:cNvSpPr/>
          <p:nvPr/>
        </p:nvSpPr>
        <p:spPr>
          <a:xfrm>
            <a:off x="868680" y="4800600"/>
            <a:ext cx="10424160" cy="914400"/>
          </a:xfrm>
          <a:prstGeom prst="roundRect">
            <a:avLst>
              <a:gd name="adj" fmla="val 6000"/>
            </a:avLst>
          </a:prstGeom>
          <a:solidFill>
            <a:srgbClr val="FFFFFF"/>
          </a:solidFill>
          <a:ln w="12700">
            <a:solidFill>
              <a:srgbClr val="FFFFFF"/>
            </a:solidFill>
            <a:prstDash val="solid"/>
          </a:ln>
        </p:spPr>
        <p:txBody>
          <a:bodyPr/>
          <a:lstStyle/>
          <a:p>
            <a:endParaRPr lang="es-CL"/>
          </a:p>
        </p:txBody>
      </p:sp>
      <p:sp>
        <p:nvSpPr>
          <p:cNvPr id="23" name="Text 21"/>
          <p:cNvSpPr/>
          <p:nvPr/>
        </p:nvSpPr>
        <p:spPr>
          <a:xfrm>
            <a:off x="1097280" y="4892040"/>
            <a:ext cx="9966960" cy="731520"/>
          </a:xfrm>
          <a:prstGeom prst="rect">
            <a:avLst/>
          </a:prstGeom>
          <a:noFill/>
          <a:ln/>
        </p:spPr>
        <p:txBody>
          <a:bodyPr wrap="square" lIns="0" tIns="0" rIns="0" bIns="0" rtlCol="0" anchor="ctr"/>
          <a:lstStyle/>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[F2 · limpieza] 'bmi': 201 nulos (3.9%) imputados con la mediana = 28.10;</a:t>
            </a:r>
            <a:endParaRPr lang="en-US" sz="1100" dirty="0"/>
          </a:p>
          <a:p>
            <a:pPr marL="0" indent="0">
              <a:lnSpc>
                <a:spcPts val="1600"/>
              </a:lnSpc>
              <a:buNone/>
            </a:pPr>
            <a:r>
              <a:rPr lang="en-US" sz="1100" dirty="0">
                <a:solidFill>
                  <a:srgbClr val="06304A"/>
                </a:solidFill>
                <a:latin typeface="Courier New" pitchFamily="34" charset="0"/>
                <a:ea typeface="Courier New" pitchFamily="34" charset="-122"/>
                <a:cs typeface="Courier New" pitchFamily="34" charset="-120"/>
              </a:rPr>
              <a:t>                desviación estándar -1.98%</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Paso 12 · El informe técnico</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21 puntos que no dependen del código. Se escribe con lo que el notebook ya produjo.</a:t>
            </a:r>
            <a:endParaRPr lang="en-US" sz="1400" dirty="0"/>
          </a:p>
        </p:txBody>
      </p:sp>
      <p:graphicFrame>
        <p:nvGraphicFramePr>
          <p:cNvPr id="15" name="Table 0"/>
          <p:cNvGraphicFramePr>
            <a:graphicFrameLocks noGrp="1"/>
          </p:cNvGraphicFramePr>
          <p:nvPr/>
        </p:nvGraphicFramePr>
        <p:xfrm>
          <a:off x="548640" y="1719072"/>
          <a:ext cx="11064240" cy="3328416"/>
        </p:xfrm>
        <a:graphic>
          <a:graphicData uri="http://schemas.openxmlformats.org/drawingml/2006/table">
            <a:tbl>
              <a:tblPr/>
              <a:tblGrid>
                <a:gridCol w="301752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7548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Sección del informe</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Qué debe contener</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Criterio</a:t>
                      </a:r>
                      <a:endParaRPr lang="en-US" sz="130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06304A"/>
                    </a:solidFill>
                  </a:tcPr>
                </a:tc>
                <a:extLst>
                  <a:ext uri="{0D108BD9-81ED-4DB2-BD59-A6C34878D82A}">
                    <a16:rowId xmlns:a16="http://schemas.microsoft.com/office/drawing/2014/main" val="10000"/>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Portada e índice</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Formato institucional, datos completos, índice actualizado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 · 3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Introducción y contexto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Situación que origina la necesidad y relevancia del problema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2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Problemática y objetivos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Pregunta técnica, objetivo general y específicos, alcance y supuestos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3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Metodología y decisiones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Cada decisión del pipeline justificada con las cifras de la bitácora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7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Vinculación con el mapa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Qué del mapa se implementó y qué queda proyectado</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14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Bibliografía</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Mínimo 5 fuentes en APA 7, incluida la del conjunto de datos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tc>
                  <a:txBody>
                    <a:bodyPr/>
                    <a:lstStyle/>
                    <a:p>
                      <a:pPr marL="0" indent="0">
                        <a:buNone/>
                      </a:pPr>
                      <a:r>
                        <a:rPr lang="en-US" sz="1150" dirty="0">
                          <a:solidFill>
                            <a:srgbClr val="06304A"/>
                          </a:solidFill>
                          <a:latin typeface="Calibri" pitchFamily="34" charset="0"/>
                          <a:ea typeface="Calibri" pitchFamily="34" charset="-122"/>
                          <a:cs typeface="Calibri" pitchFamily="34" charset="-120"/>
                        </a:rPr>
                        <a:t>15 · 6 pts</a:t>
                      </a:r>
                      <a:endParaRPr lang="en-US" sz="1150" dirty="0">
                        <a:latin typeface="Calibri" charset="0"/>
                        <a:ea typeface="Calibri" charset="0"/>
                        <a:cs typeface="Calibri" charset="0"/>
                      </a:endParaRPr>
                    </a:p>
                  </a:txBody>
                  <a:tcPr marL="73152" marR="73152" marT="73152" marB="73152" anchor="ctr">
                    <a:lnL w="12700" cap="flat" cmpd="sng" algn="ctr">
                      <a:solidFill>
                        <a:srgbClr val="DCE4EC"/>
                      </a:solidFill>
                      <a:prstDash val="solid"/>
                      <a:round/>
                      <a:headEnd type="none" w="med" len="med"/>
                      <a:tailEnd type="none" w="med" len="med"/>
                    </a:lnL>
                    <a:lnR w="12700" cap="flat" cmpd="sng" algn="ctr">
                      <a:solidFill>
                        <a:srgbClr val="DCE4EC"/>
                      </a:solidFill>
                      <a:prstDash val="solid"/>
                      <a:round/>
                      <a:headEnd type="none" w="med" len="med"/>
                      <a:tailEnd type="none" w="med" len="med"/>
                    </a:lnR>
                    <a:lnT w="12700" cap="flat" cmpd="sng" algn="ctr">
                      <a:solidFill>
                        <a:srgbClr val="DCE4EC"/>
                      </a:solidFill>
                      <a:prstDash val="solid"/>
                      <a:round/>
                      <a:headEnd type="none" w="med" len="med"/>
                      <a:tailEnd type="none" w="med" len="med"/>
                    </a:lnT>
                    <a:lnB w="12700" cap="flat" cmpd="sng" algn="ctr">
                      <a:solidFill>
                        <a:srgbClr val="DCE4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48640" y="5138928"/>
            <a:ext cx="11064240" cy="713232"/>
          </a:xfrm>
          <a:prstGeom prst="roundRect">
            <a:avLst>
              <a:gd name="adj" fmla="val 11538"/>
            </a:avLst>
          </a:prstGeom>
          <a:solidFill>
            <a:srgbClr val="0A1526"/>
          </a:solidFill>
          <a:ln w="12700">
            <a:solidFill>
              <a:srgbClr val="0A1526"/>
            </a:solidFill>
            <a:prstDash val="solid"/>
          </a:ln>
        </p:spPr>
        <p:txBody>
          <a:bodyPr/>
          <a:lstStyle/>
          <a:p>
            <a:endParaRPr lang="es-CL"/>
          </a:p>
        </p:txBody>
      </p:sp>
      <p:sp>
        <p:nvSpPr>
          <p:cNvPr id="6" name="Text 3"/>
          <p:cNvSpPr/>
          <p:nvPr/>
        </p:nvSpPr>
        <p:spPr>
          <a:xfrm>
            <a:off x="868680" y="5138928"/>
            <a:ext cx="10424160" cy="713232"/>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El informe y el notebook no pueden contradecirse: misma problemática, mismos objetivos, mismas cifras.</a:t>
            </a:r>
            <a:endParaRPr lang="en-US" sz="13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84048"/>
            <a:ext cx="11064240" cy="731520"/>
          </a:xfrm>
          <a:prstGeom prst="rect">
            <a:avLst/>
          </a:prstGeom>
          <a:noFill/>
          <a:ln/>
        </p:spPr>
        <p:txBody>
          <a:bodyPr wrap="square" lIns="0" tIns="0" rIns="0" bIns="0" rtlCol="0" anchor="ctr"/>
          <a:lstStyle/>
          <a:p>
            <a:pPr marL="0" indent="0">
              <a:buNone/>
            </a:pPr>
            <a:r>
              <a:rPr lang="en-US" sz="3000" b="1" dirty="0">
                <a:solidFill>
                  <a:srgbClr val="06304A"/>
                </a:solidFill>
                <a:latin typeface="Cambria" pitchFamily="34" charset="0"/>
                <a:ea typeface="Cambria" pitchFamily="34" charset="-122"/>
                <a:cs typeface="Cambria" pitchFamily="34" charset="-120"/>
              </a:rPr>
              <a:t>Los commits también se evalúan</a:t>
            </a:r>
            <a:endParaRPr lang="en-US" sz="3000" dirty="0"/>
          </a:p>
        </p:txBody>
      </p:sp>
      <p:sp>
        <p:nvSpPr>
          <p:cNvPr id="3" name="Text 1"/>
          <p:cNvSpPr/>
          <p:nvPr/>
        </p:nvSpPr>
        <p:spPr>
          <a:xfrm>
            <a:off x="548640" y="1078992"/>
            <a:ext cx="11064240" cy="384048"/>
          </a:xfrm>
          <a:prstGeom prst="rect">
            <a:avLst/>
          </a:prstGeom>
          <a:noFill/>
          <a:ln/>
        </p:spPr>
        <p:txBody>
          <a:bodyPr wrap="square" lIns="0" tIns="0" rIns="0" bIns="0" rtlCol="0" anchor="ctr"/>
          <a:lstStyle/>
          <a:p>
            <a:pPr marL="0" indent="0">
              <a:buNone/>
            </a:pPr>
            <a:r>
              <a:rPr lang="en-US" sz="1400" i="1" dirty="0">
                <a:solidFill>
                  <a:srgbClr val="5A6B7B"/>
                </a:solidFill>
                <a:latin typeface="Calibri" pitchFamily="34" charset="0"/>
                <a:ea typeface="Calibri" pitchFamily="34" charset="-122"/>
                <a:cs typeface="Calibri" pitchFamily="34" charset="-120"/>
              </a:rPr>
              <a:t>12 puntos entre control de versiones y repositorio. Se construyen durante las tres semanas, no al final.</a:t>
            </a:r>
            <a:endParaRPr lang="en-US" sz="1400" dirty="0"/>
          </a:p>
        </p:txBody>
      </p:sp>
      <p:sp>
        <p:nvSpPr>
          <p:cNvPr id="4" name="Shape 2"/>
          <p:cNvSpPr/>
          <p:nvPr/>
        </p:nvSpPr>
        <p:spPr>
          <a:xfrm>
            <a:off x="548640" y="1783080"/>
            <a:ext cx="5394960" cy="2377440"/>
          </a:xfrm>
          <a:prstGeom prst="roundRect">
            <a:avLst>
              <a:gd name="adj" fmla="val 3462"/>
            </a:avLst>
          </a:prstGeom>
          <a:solidFill>
            <a:srgbClr val="F4F7FA"/>
          </a:solidFill>
          <a:ln w="12700">
            <a:solidFill>
              <a:srgbClr val="F4F7FA"/>
            </a:solidFill>
            <a:prstDash val="solid"/>
          </a:ln>
        </p:spPr>
        <p:txBody>
          <a:bodyPr/>
          <a:lstStyle/>
          <a:p>
            <a:endParaRPr lang="es-CL"/>
          </a:p>
        </p:txBody>
      </p:sp>
      <p:sp>
        <p:nvSpPr>
          <p:cNvPr id="5" name="Text 3"/>
          <p:cNvSpPr/>
          <p:nvPr/>
        </p:nvSpPr>
        <p:spPr>
          <a:xfrm>
            <a:off x="86868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Qué mira el evaluador</a:t>
            </a:r>
            <a:endParaRPr lang="en-US" sz="1500" dirty="0"/>
          </a:p>
        </p:txBody>
      </p:sp>
      <p:sp>
        <p:nvSpPr>
          <p:cNvPr id="6" name="Shape 4"/>
          <p:cNvSpPr/>
          <p:nvPr/>
        </p:nvSpPr>
        <p:spPr>
          <a:xfrm>
            <a:off x="896112" y="2478024"/>
            <a:ext cx="182880" cy="182880"/>
          </a:xfrm>
          <a:prstGeom prst="ellipse">
            <a:avLst/>
          </a:prstGeom>
          <a:solidFill>
            <a:srgbClr val="AC212E"/>
          </a:solidFill>
          <a:ln/>
        </p:spPr>
        <p:txBody>
          <a:bodyPr/>
          <a:lstStyle/>
          <a:p>
            <a:endParaRPr lang="es-CL"/>
          </a:p>
        </p:txBody>
      </p:sp>
      <p:sp>
        <p:nvSpPr>
          <p:cNvPr id="7" name="Text 5"/>
          <p:cNvSpPr/>
          <p:nvPr/>
        </p:nvSpPr>
        <p:spPr>
          <a:xfrm>
            <a:off x="1207008" y="2377440"/>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haya commits de cada integrante</a:t>
            </a:r>
            <a:endParaRPr lang="en-US" sz="1250" dirty="0"/>
          </a:p>
        </p:txBody>
      </p:sp>
      <p:sp>
        <p:nvSpPr>
          <p:cNvPr id="8" name="Shape 6"/>
          <p:cNvSpPr/>
          <p:nvPr/>
        </p:nvSpPr>
        <p:spPr>
          <a:xfrm>
            <a:off x="896112" y="2880360"/>
            <a:ext cx="182880" cy="182880"/>
          </a:xfrm>
          <a:prstGeom prst="ellipse">
            <a:avLst/>
          </a:prstGeom>
          <a:solidFill>
            <a:srgbClr val="AC212E"/>
          </a:solidFill>
          <a:ln/>
        </p:spPr>
        <p:txBody>
          <a:bodyPr/>
          <a:lstStyle/>
          <a:p>
            <a:endParaRPr lang="es-CL"/>
          </a:p>
        </p:txBody>
      </p:sp>
      <p:sp>
        <p:nvSpPr>
          <p:cNvPr id="9" name="Text 7"/>
          <p:cNvSpPr/>
          <p:nvPr/>
        </p:nvSpPr>
        <p:spPr>
          <a:xfrm>
            <a:off x="1207008" y="2779776"/>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los mensajes describan el cambio</a:t>
            </a:r>
            <a:endParaRPr lang="en-US" sz="1250" dirty="0"/>
          </a:p>
        </p:txBody>
      </p:sp>
      <p:sp>
        <p:nvSpPr>
          <p:cNvPr id="10" name="Shape 8"/>
          <p:cNvSpPr/>
          <p:nvPr/>
        </p:nvSpPr>
        <p:spPr>
          <a:xfrm>
            <a:off x="896112" y="3282696"/>
            <a:ext cx="182880" cy="182880"/>
          </a:xfrm>
          <a:prstGeom prst="ellipse">
            <a:avLst/>
          </a:prstGeom>
          <a:solidFill>
            <a:srgbClr val="AC212E"/>
          </a:solidFill>
          <a:ln/>
        </p:spPr>
        <p:txBody>
          <a:bodyPr/>
          <a:lstStyle/>
          <a:p>
            <a:endParaRPr lang="es-CL"/>
          </a:p>
        </p:txBody>
      </p:sp>
      <p:sp>
        <p:nvSpPr>
          <p:cNvPr id="11" name="Text 9"/>
          <p:cNvSpPr/>
          <p:nvPr/>
        </p:nvSpPr>
        <p:spPr>
          <a:xfrm>
            <a:off x="1207008" y="3182112"/>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estén repartidos en el tiempo</a:t>
            </a:r>
            <a:endParaRPr lang="en-US" sz="1250" dirty="0"/>
          </a:p>
        </p:txBody>
      </p:sp>
      <p:sp>
        <p:nvSpPr>
          <p:cNvPr id="12" name="Shape 10"/>
          <p:cNvSpPr/>
          <p:nvPr/>
        </p:nvSpPr>
        <p:spPr>
          <a:xfrm>
            <a:off x="896112" y="3685032"/>
            <a:ext cx="182880" cy="182880"/>
          </a:xfrm>
          <a:prstGeom prst="ellipse">
            <a:avLst/>
          </a:prstGeom>
          <a:solidFill>
            <a:srgbClr val="AC212E"/>
          </a:solidFill>
          <a:ln/>
        </p:spPr>
        <p:txBody>
          <a:bodyPr/>
          <a:lstStyle/>
          <a:p>
            <a:endParaRPr lang="es-CL"/>
          </a:p>
        </p:txBody>
      </p:sp>
      <p:sp>
        <p:nvSpPr>
          <p:cNvPr id="13" name="Text 11"/>
          <p:cNvSpPr/>
          <p:nvPr/>
        </p:nvSpPr>
        <p:spPr>
          <a:xfrm>
            <a:off x="1207008" y="3584448"/>
            <a:ext cx="4480560" cy="384048"/>
          </a:xfrm>
          <a:prstGeom prst="rect">
            <a:avLst/>
          </a:prstGeom>
          <a:noFill/>
          <a:ln/>
        </p:spPr>
        <p:txBody>
          <a:bodyPr wrap="square" lIns="0" tIns="0" rIns="0" bIns="0" rtlCol="0" anchor="ctr"/>
          <a:lstStyle/>
          <a:p>
            <a:pPr marL="0" indent="0">
              <a:buNone/>
            </a:pPr>
            <a:r>
              <a:rPr lang="en-US" sz="1250" dirty="0">
                <a:solidFill>
                  <a:srgbClr val="06304A"/>
                </a:solidFill>
                <a:latin typeface="Calibri" pitchFamily="34" charset="0"/>
                <a:ea typeface="Calibri" pitchFamily="34" charset="-122"/>
                <a:cs typeface="Calibri" pitchFamily="34" charset="-120"/>
              </a:rPr>
              <a:t>Que exista uso de ramas cuando corresponde</a:t>
            </a:r>
            <a:endParaRPr lang="en-US" sz="1250" dirty="0"/>
          </a:p>
        </p:txBody>
      </p:sp>
      <p:sp>
        <p:nvSpPr>
          <p:cNvPr id="14" name="Shape 12"/>
          <p:cNvSpPr/>
          <p:nvPr/>
        </p:nvSpPr>
        <p:spPr>
          <a:xfrm>
            <a:off x="6217920" y="1783080"/>
            <a:ext cx="5394960" cy="2377440"/>
          </a:xfrm>
          <a:prstGeom prst="roundRect">
            <a:avLst>
              <a:gd name="adj" fmla="val 3462"/>
            </a:avLst>
          </a:prstGeom>
          <a:solidFill>
            <a:srgbClr val="0A1526"/>
          </a:solidFill>
          <a:ln w="12700">
            <a:solidFill>
              <a:srgbClr val="0A1526"/>
            </a:solidFill>
            <a:prstDash val="solid"/>
          </a:ln>
        </p:spPr>
        <p:txBody>
          <a:bodyPr/>
          <a:lstStyle/>
          <a:p>
            <a:endParaRPr lang="es-CL"/>
          </a:p>
        </p:txBody>
      </p:sp>
      <p:sp>
        <p:nvSpPr>
          <p:cNvPr id="15" name="Text 13"/>
          <p:cNvSpPr/>
          <p:nvPr/>
        </p:nvSpPr>
        <p:spPr>
          <a:xfrm>
            <a:off x="6537960" y="1938528"/>
            <a:ext cx="475488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Convención del curso</a:t>
            </a:r>
            <a:endParaRPr lang="en-US" sz="1500" dirty="0"/>
          </a:p>
        </p:txBody>
      </p:sp>
      <p:sp>
        <p:nvSpPr>
          <p:cNvPr id="16" name="Text 14"/>
          <p:cNvSpPr/>
          <p:nvPr/>
        </p:nvSpPr>
        <p:spPr>
          <a:xfrm>
            <a:off x="6537960" y="2377440"/>
            <a:ext cx="4754880" cy="1554480"/>
          </a:xfrm>
          <a:prstGeom prst="rect">
            <a:avLst/>
          </a:prstGeom>
          <a:noFill/>
          <a:ln/>
        </p:spPr>
        <p:txBody>
          <a:bodyPr wrap="square" lIns="0" tIns="0" rIns="0" bIns="0" rtlCol="0" anchor="ctr"/>
          <a:lstStyle/>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docs: crea estructura inicial del proyecto</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data: incorpora dataset base en raw</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feat: implementa pipeline de limpieza</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fix: corrige lectura de valores N/A</a:t>
            </a:r>
            <a:endParaRPr lang="en-US" sz="1050" dirty="0"/>
          </a:p>
          <a:p>
            <a:pPr marL="0" indent="0">
              <a:lnSpc>
                <a:spcPts val="1600"/>
              </a:lnSpc>
              <a:buNone/>
            </a:pPr>
            <a:r>
              <a:rPr lang="en-US" sz="1050" dirty="0">
                <a:solidFill>
                  <a:srgbClr val="D7E3EE"/>
                </a:solidFill>
                <a:latin typeface="Courier New" pitchFamily="34" charset="0"/>
                <a:ea typeface="Courier New" pitchFamily="34" charset="-122"/>
                <a:cs typeface="Courier New" pitchFamily="34" charset="-120"/>
              </a:rPr>
              <a:t>test: agrega pruebas de las funciones</a:t>
            </a:r>
            <a:endParaRPr lang="en-US" sz="1050" dirty="0"/>
          </a:p>
        </p:txBody>
      </p:sp>
      <p:sp>
        <p:nvSpPr>
          <p:cNvPr id="17" name="Shape 15"/>
          <p:cNvSpPr/>
          <p:nvPr/>
        </p:nvSpPr>
        <p:spPr>
          <a:xfrm>
            <a:off x="548640" y="4343400"/>
            <a:ext cx="11064240" cy="1600200"/>
          </a:xfrm>
          <a:prstGeom prst="roundRect">
            <a:avLst>
              <a:gd name="adj" fmla="val 5143"/>
            </a:avLst>
          </a:prstGeom>
          <a:solidFill>
            <a:srgbClr val="F6E7E9"/>
          </a:solidFill>
          <a:ln w="12700">
            <a:solidFill>
              <a:srgbClr val="F6E7E9"/>
            </a:solidFill>
            <a:prstDash val="solid"/>
          </a:ln>
        </p:spPr>
        <p:txBody>
          <a:bodyPr/>
          <a:lstStyle/>
          <a:p>
            <a:endParaRPr lang="es-CL"/>
          </a:p>
        </p:txBody>
      </p:sp>
      <p:sp>
        <p:nvSpPr>
          <p:cNvPr id="18" name="Text 16"/>
          <p:cNvSpPr/>
          <p:nvPr/>
        </p:nvSpPr>
        <p:spPr>
          <a:xfrm>
            <a:off x="868680" y="4498848"/>
            <a:ext cx="5486400" cy="347472"/>
          </a:xfrm>
          <a:prstGeom prst="rect">
            <a:avLst/>
          </a:prstGeom>
          <a:noFill/>
          <a:ln/>
        </p:spPr>
        <p:txBody>
          <a:bodyPr wrap="square" lIns="0" tIns="0" rIns="0" bIns="0" rtlCol="0" anchor="ctr"/>
          <a:lstStyle/>
          <a:p>
            <a:pPr marL="0" indent="0">
              <a:buNone/>
            </a:pPr>
            <a:r>
              <a:rPr lang="en-US" sz="1500" b="1" dirty="0">
                <a:solidFill>
                  <a:srgbClr val="AC212E"/>
                </a:solidFill>
                <a:latin typeface="Calibri" pitchFamily="34" charset="0"/>
                <a:ea typeface="Calibri" pitchFamily="34" charset="-122"/>
                <a:cs typeface="Calibri" pitchFamily="34" charset="-120"/>
              </a:rPr>
              <a:t>El patrón que cuesta puntos</a:t>
            </a:r>
            <a:endParaRPr lang="en-US" sz="1500" dirty="0"/>
          </a:p>
        </p:txBody>
      </p:sp>
      <p:sp>
        <p:nvSpPr>
          <p:cNvPr id="19" name="Text 17"/>
          <p:cNvSpPr/>
          <p:nvPr/>
        </p:nvSpPr>
        <p:spPr>
          <a:xfrm>
            <a:off x="868680" y="4864608"/>
            <a:ext cx="10424160" cy="868680"/>
          </a:xfrm>
          <a:prstGeom prst="rect">
            <a:avLst/>
          </a:prstGeom>
          <a:noFill/>
          <a:ln/>
        </p:spPr>
        <p:txBody>
          <a:bodyPr wrap="square" lIns="0" tIns="0" rIns="0" bIns="0" rtlCol="0" anchor="ctr"/>
          <a:lstStyle/>
          <a:p>
            <a:pPr marL="0" indent="0">
              <a:lnSpc>
                <a:spcPts val="1900"/>
              </a:lnSpc>
              <a:buNone/>
            </a:pPr>
            <a:r>
              <a:rPr lang="en-US" sz="1350" dirty="0">
                <a:solidFill>
                  <a:srgbClr val="06304A"/>
                </a:solidFill>
                <a:latin typeface="Calibri" pitchFamily="34" charset="0"/>
                <a:ea typeface="Calibri" pitchFamily="34" charset="-122"/>
                <a:cs typeface="Calibri" pitchFamily="34" charset="-120"/>
              </a:rPr>
              <a:t>Una persona recibe los archivos por mensajería y los sube. El repositorio queda con un solo autor y un puñado de commits gigantes la noche anterior. Por completo que esté el contenido, ese historial no alcanza el nivel superior: la solución es que los cuatro clonen el repositorio en la primera semana.</a:t>
            </a:r>
            <a:endParaRPr lang="en-US" sz="13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0A1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8000"/>
          </a:blip>
          <a:stretch>
            <a:fillRect/>
          </a:stretch>
        </p:blipFill>
        <p:spPr>
          <a:xfrm>
            <a:off x="0" y="2331720"/>
            <a:ext cx="5468112" cy="3200400"/>
          </a:xfrm>
          <a:prstGeom prst="rect">
            <a:avLst/>
          </a:prstGeom>
        </p:spPr>
      </p:pic>
      <p:sp>
        <p:nvSpPr>
          <p:cNvPr id="3" name="Shape 0"/>
          <p:cNvSpPr/>
          <p:nvPr/>
        </p:nvSpPr>
        <p:spPr>
          <a:xfrm>
            <a:off x="0" y="2331720"/>
            <a:ext cx="5468112" cy="3200400"/>
          </a:xfrm>
          <a:prstGeom prst="rect">
            <a:avLst/>
          </a:prstGeom>
          <a:solidFill>
            <a:srgbClr val="0A1526">
              <a:alpha val="45000"/>
            </a:srgbClr>
          </a:solidFill>
          <a:ln w="12700">
            <a:solidFill>
              <a:srgbClr val="0A1526">
                <a:alpha val="0"/>
              </a:srgbClr>
            </a:solidFill>
            <a:prstDash val="solid"/>
          </a:ln>
        </p:spPr>
        <p:txBody>
          <a:bodyPr/>
          <a:lstStyle/>
          <a:p>
            <a:endParaRPr lang="es-CL"/>
          </a:p>
        </p:txBody>
      </p:sp>
      <p:pic>
        <p:nvPicPr>
          <p:cNvPr id="4" name="Image 1" descr="preencoded.png"/>
          <p:cNvPicPr>
            <a:picLocks noChangeAspect="1"/>
          </p:cNvPicPr>
          <p:nvPr/>
        </p:nvPicPr>
        <p:blipFill>
          <a:blip r:embed="rId4"/>
          <a:stretch>
            <a:fillRect/>
          </a:stretch>
        </p:blipFill>
        <p:spPr>
          <a:xfrm>
            <a:off x="548640" y="502920"/>
            <a:ext cx="4297680" cy="804672"/>
          </a:xfrm>
          <a:prstGeom prst="rect">
            <a:avLst/>
          </a:prstGeom>
        </p:spPr>
      </p:pic>
      <p:sp>
        <p:nvSpPr>
          <p:cNvPr id="5" name="Text 1"/>
          <p:cNvSpPr/>
          <p:nvPr/>
        </p:nvSpPr>
        <p:spPr>
          <a:xfrm>
            <a:off x="548640" y="1691640"/>
            <a:ext cx="11064240" cy="5943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Antes de entregar</a:t>
            </a:r>
            <a:endParaRPr lang="en-US" sz="3200" dirty="0"/>
          </a:p>
        </p:txBody>
      </p:sp>
      <p:sp>
        <p:nvSpPr>
          <p:cNvPr id="6" name="Shape 2"/>
          <p:cNvSpPr/>
          <p:nvPr/>
        </p:nvSpPr>
        <p:spPr>
          <a:xfrm>
            <a:off x="6400800" y="2313432"/>
            <a:ext cx="219456" cy="219456"/>
          </a:xfrm>
          <a:prstGeom prst="ellipse">
            <a:avLst/>
          </a:prstGeom>
          <a:solidFill>
            <a:srgbClr val="AC212E"/>
          </a:solidFill>
          <a:ln/>
        </p:spPr>
        <p:txBody>
          <a:bodyPr/>
          <a:lstStyle/>
          <a:p>
            <a:endParaRPr lang="es-CL"/>
          </a:p>
        </p:txBody>
      </p:sp>
      <p:sp>
        <p:nvSpPr>
          <p:cNvPr id="7" name="Text 3"/>
          <p:cNvSpPr/>
          <p:nvPr/>
        </p:nvSpPr>
        <p:spPr>
          <a:xfrm>
            <a:off x="6812280" y="2240280"/>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El notebook corre completo tras Restart &amp; Run All</a:t>
            </a:r>
            <a:endParaRPr lang="en-US" sz="1300" dirty="0"/>
          </a:p>
        </p:txBody>
      </p:sp>
      <p:sp>
        <p:nvSpPr>
          <p:cNvPr id="8" name="Shape 4"/>
          <p:cNvSpPr/>
          <p:nvPr/>
        </p:nvSpPr>
        <p:spPr>
          <a:xfrm>
            <a:off x="6400800" y="2843784"/>
            <a:ext cx="219456" cy="219456"/>
          </a:xfrm>
          <a:prstGeom prst="ellipse">
            <a:avLst/>
          </a:prstGeom>
          <a:solidFill>
            <a:srgbClr val="AC212E"/>
          </a:solidFill>
          <a:ln/>
        </p:spPr>
        <p:txBody>
          <a:bodyPr/>
          <a:lstStyle/>
          <a:p>
            <a:endParaRPr lang="es-CL"/>
          </a:p>
        </p:txBody>
      </p:sp>
      <p:sp>
        <p:nvSpPr>
          <p:cNvPr id="9" name="Text 5"/>
          <p:cNvSpPr/>
          <p:nvPr/>
        </p:nvSpPr>
        <p:spPr>
          <a:xfrm>
            <a:off x="6812280" y="2770632"/>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Las dos fases están claramente delimitadas</a:t>
            </a:r>
            <a:endParaRPr lang="en-US" sz="1300" dirty="0"/>
          </a:p>
        </p:txBody>
      </p:sp>
      <p:sp>
        <p:nvSpPr>
          <p:cNvPr id="10" name="Shape 6"/>
          <p:cNvSpPr/>
          <p:nvPr/>
        </p:nvSpPr>
        <p:spPr>
          <a:xfrm>
            <a:off x="6400800" y="3374136"/>
            <a:ext cx="219456" cy="219456"/>
          </a:xfrm>
          <a:prstGeom prst="ellipse">
            <a:avLst/>
          </a:prstGeom>
          <a:solidFill>
            <a:srgbClr val="AC212E"/>
          </a:solidFill>
          <a:ln/>
        </p:spPr>
        <p:txBody>
          <a:bodyPr/>
          <a:lstStyle/>
          <a:p>
            <a:endParaRPr lang="es-CL"/>
          </a:p>
        </p:txBody>
      </p:sp>
      <p:sp>
        <p:nvSpPr>
          <p:cNvPr id="11" name="Text 7"/>
          <p:cNvSpPr/>
          <p:nvPr/>
        </p:nvSpPr>
        <p:spPr>
          <a:xfrm>
            <a:off x="6812280" y="3300984"/>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Cada decisión se justifica con cifras del propio análisis</a:t>
            </a:r>
            <a:endParaRPr lang="en-US" sz="1300" dirty="0"/>
          </a:p>
        </p:txBody>
      </p:sp>
      <p:sp>
        <p:nvSpPr>
          <p:cNvPr id="12" name="Shape 8"/>
          <p:cNvSpPr/>
          <p:nvPr/>
        </p:nvSpPr>
        <p:spPr>
          <a:xfrm>
            <a:off x="6400800" y="3904488"/>
            <a:ext cx="219456" cy="219456"/>
          </a:xfrm>
          <a:prstGeom prst="ellipse">
            <a:avLst/>
          </a:prstGeom>
          <a:solidFill>
            <a:srgbClr val="AC212E"/>
          </a:solidFill>
          <a:ln/>
        </p:spPr>
        <p:txBody>
          <a:bodyPr/>
          <a:lstStyle/>
          <a:p>
            <a:endParaRPr lang="es-CL"/>
          </a:p>
        </p:txBody>
      </p:sp>
      <p:sp>
        <p:nvSpPr>
          <p:cNvPr id="13" name="Text 9"/>
          <p:cNvSpPr/>
          <p:nvPr/>
        </p:nvSpPr>
        <p:spPr>
          <a:xfrm>
            <a:off x="6812280" y="3831336"/>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data/raw sin modificar · data/processed con el resultado</a:t>
            </a:r>
            <a:endParaRPr lang="en-US" sz="1300" dirty="0"/>
          </a:p>
        </p:txBody>
      </p:sp>
      <p:sp>
        <p:nvSpPr>
          <p:cNvPr id="14" name="Shape 10"/>
          <p:cNvSpPr/>
          <p:nvPr/>
        </p:nvSpPr>
        <p:spPr>
          <a:xfrm>
            <a:off x="6400800" y="4434840"/>
            <a:ext cx="219456" cy="219456"/>
          </a:xfrm>
          <a:prstGeom prst="ellipse">
            <a:avLst/>
          </a:prstGeom>
          <a:solidFill>
            <a:srgbClr val="AC212E"/>
          </a:solidFill>
          <a:ln/>
        </p:spPr>
        <p:txBody>
          <a:bodyPr/>
          <a:lstStyle/>
          <a:p>
            <a:endParaRPr lang="es-CL"/>
          </a:p>
        </p:txBody>
      </p:sp>
      <p:sp>
        <p:nvSpPr>
          <p:cNvPr id="15" name="Text 11"/>
          <p:cNvSpPr/>
          <p:nvPr/>
        </p:nvSpPr>
        <p:spPr>
          <a:xfrm>
            <a:off x="6812280" y="4361688"/>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Commits de los cuatro integrantes, repartidos en el tiempo</a:t>
            </a:r>
            <a:endParaRPr lang="en-US" sz="1300" dirty="0"/>
          </a:p>
        </p:txBody>
      </p:sp>
      <p:sp>
        <p:nvSpPr>
          <p:cNvPr id="16" name="Shape 12"/>
          <p:cNvSpPr/>
          <p:nvPr/>
        </p:nvSpPr>
        <p:spPr>
          <a:xfrm>
            <a:off x="6400800" y="4965192"/>
            <a:ext cx="219456" cy="219456"/>
          </a:xfrm>
          <a:prstGeom prst="ellipse">
            <a:avLst/>
          </a:prstGeom>
          <a:solidFill>
            <a:srgbClr val="AC212E"/>
          </a:solidFill>
          <a:ln/>
        </p:spPr>
        <p:txBody>
          <a:bodyPr/>
          <a:lstStyle/>
          <a:p>
            <a:endParaRPr lang="es-CL"/>
          </a:p>
        </p:txBody>
      </p:sp>
      <p:sp>
        <p:nvSpPr>
          <p:cNvPr id="17" name="Text 13"/>
          <p:cNvSpPr/>
          <p:nvPr/>
        </p:nvSpPr>
        <p:spPr>
          <a:xfrm>
            <a:off x="6812280" y="4892040"/>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El informe dice lo mismo que el notebook</a:t>
            </a:r>
            <a:endParaRPr lang="en-US" sz="1300" dirty="0"/>
          </a:p>
        </p:txBody>
      </p:sp>
      <p:sp>
        <p:nvSpPr>
          <p:cNvPr id="18" name="Shape 14"/>
          <p:cNvSpPr/>
          <p:nvPr/>
        </p:nvSpPr>
        <p:spPr>
          <a:xfrm>
            <a:off x="6400800" y="5495544"/>
            <a:ext cx="219456" cy="219456"/>
          </a:xfrm>
          <a:prstGeom prst="ellipse">
            <a:avLst/>
          </a:prstGeom>
          <a:solidFill>
            <a:srgbClr val="AC212E"/>
          </a:solidFill>
          <a:ln/>
        </p:spPr>
        <p:txBody>
          <a:bodyPr/>
          <a:lstStyle/>
          <a:p>
            <a:endParaRPr lang="es-CL"/>
          </a:p>
        </p:txBody>
      </p:sp>
      <p:sp>
        <p:nvSpPr>
          <p:cNvPr id="19" name="Text 15"/>
          <p:cNvSpPr/>
          <p:nvPr/>
        </p:nvSpPr>
        <p:spPr>
          <a:xfrm>
            <a:off x="6812280" y="5422392"/>
            <a:ext cx="5212080" cy="365760"/>
          </a:xfrm>
          <a:prstGeom prst="rect">
            <a:avLst/>
          </a:prstGeom>
          <a:noFill/>
          <a:ln/>
        </p:spPr>
        <p:txBody>
          <a:bodyPr wrap="square" lIns="0" tIns="0" rIns="0" bIns="0" rtlCol="0" anchor="ctr"/>
          <a:lstStyle/>
          <a:p>
            <a:pPr marL="0" indent="0">
              <a:buNone/>
            </a:pPr>
            <a:r>
              <a:rPr lang="en-US" sz="1300" dirty="0">
                <a:solidFill>
                  <a:srgbClr val="D7E3EE"/>
                </a:solidFill>
                <a:latin typeface="Calibri" pitchFamily="34" charset="0"/>
                <a:ea typeface="Calibri" pitchFamily="34" charset="-122"/>
                <a:cs typeface="Calibri" pitchFamily="34" charset="-120"/>
              </a:rPr>
              <a:t>El enlace al repositorio funciona desde otra sesión</a:t>
            </a:r>
            <a:endParaRPr lang="en-US" sz="1300" dirty="0"/>
          </a:p>
        </p:txBody>
      </p:sp>
      <p:sp>
        <p:nvSpPr>
          <p:cNvPr id="20" name="Text 16"/>
          <p:cNvSpPr/>
          <p:nvPr/>
        </p:nvSpPr>
        <p:spPr>
          <a:xfrm>
            <a:off x="6400800" y="6035040"/>
            <a:ext cx="5486400" cy="365760"/>
          </a:xfrm>
          <a:prstGeom prst="rect">
            <a:avLst/>
          </a:prstGeom>
          <a:noFill/>
          <a:ln/>
        </p:spPr>
        <p:txBody>
          <a:bodyPr wrap="square" lIns="0" tIns="0" rIns="0" bIns="0" rtlCol="0" anchor="ctr"/>
          <a:lstStyle/>
          <a:p>
            <a:pPr marL="0" indent="0">
              <a:buNone/>
            </a:pPr>
            <a:r>
              <a:rPr lang="en-US" sz="1200" dirty="0">
                <a:solidFill>
                  <a:srgbClr val="5A6B7B"/>
                </a:solidFill>
                <a:latin typeface="Calibri" pitchFamily="34" charset="0"/>
                <a:ea typeface="Calibri" pitchFamily="34" charset="-122"/>
                <a:cs typeface="Calibri" pitchFamily="34" charset="-120"/>
              </a:rPr>
              <a:t>Dudas de contenido: Foro de Consultas   |   Plataforma: Foro de Tutoría</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p:nvPr/>
        </p:nvSpPr>
        <p:spPr>
          <a:xfrm>
            <a:off x="548640" y="384048"/>
            <a:ext cx="11064240" cy="731520"/>
          </a:xfrm>
          <a:prstGeom prst="rect">
            <a:avLst/>
          </a:prstGeom>
          <a:noFill/>
          <a:ln/>
        </p:spPr>
        <p:txBody>
          <a:bodyPr wrap="square" lIns="0" tIns="0" rIns="0" bIns="0" rtlCol="0" anchor="ctr"/>
          <a:lstStyle/>
          <a:p>
            <a:pPr indent="0" marL="0" algn="l">
              <a:buNone/>
            </a:pPr>
            <a:r>
              <a:rPr lang="es-CL" sz="3000" b="1" i="0" dirty="0">
                <a:solidFill>
                  <a:srgbClr val="06304A"/>
                </a:solidFill>
                <a:latin typeface="Cambria" pitchFamily="34" charset="0"/>
                <a:ea typeface="Cambria" pitchFamily="34" charset="-122"/>
                <a:cs typeface="Cambria" pitchFamily="34" charset="-120"/>
              </a:rPr>
              <a:t>Cómo está organizada esta presentación</a:t>
            </a:r>
          </a:p>
        </p:txBody>
      </p:sp>
      <p:sp>
        <p:nvSpPr>
          <p:cNvPr id="3" name="Text 3"/>
          <p:cNvSpPr/>
          <p:nvPr/>
        </p:nvSpPr>
        <p:spPr>
          <a:xfrm>
            <a:off x="548640" y="1078992"/>
            <a:ext cx="11064240" cy="384048"/>
          </a:xfrm>
          <a:prstGeom prst="rect">
            <a:avLst/>
          </a:prstGeom>
          <a:noFill/>
          <a:ln/>
        </p:spPr>
        <p:txBody>
          <a:bodyPr wrap="square" lIns="0" tIns="0" rIns="0" bIns="0" rtlCol="0" anchor="ctr"/>
          <a:lstStyle/>
          <a:p>
            <a:pPr indent="0" marL="0" algn="l">
              <a:buNone/>
            </a:pPr>
            <a:r>
              <a:rPr lang="es-CL" sz="1400" b="0" i="1" dirty="0">
                <a:solidFill>
                  <a:srgbClr val="5A6B7B"/>
                </a:solidFill>
                <a:latin typeface="Calibri" pitchFamily="34" charset="0"/>
                <a:ea typeface="Calibri" pitchFamily="34" charset="-122"/>
                <a:cs typeface="Calibri" pitchFamily="34" charset="-120"/>
              </a:rPr>
              <a:t>Siete bloques. Los cinco primeros preparan la Formativa 1; los dos últimos, la entrega sumativa del domingo.</a:t>
            </a:r>
          </a:p>
        </p:txBody>
      </p:sp>
      <p:sp>
        <p:nvSpPr>
          <p:cNvPr id="4" name="Shape 4"/>
          <p:cNvSpPr/>
          <p:nvPr/>
        </p:nvSpPr>
        <p:spPr>
          <a:xfrm>
            <a:off x="548640" y="1750000"/>
            <a:ext cx="11064240" cy="500000"/>
          </a:xfrm>
          <a:prstGeom prst="roundRect">
            <a:avLst>
              <a:gd name="adj" fmla="val 12000"/>
            </a:avLst>
          </a:prstGeom>
          <a:solidFill>
            <a:srgbClr val="F4F7FA"/>
          </a:solidFill>
          <a:ln w="12700">
            <a:solidFill>
              <a:srgbClr val="F4F7FA"/>
            </a:solidFill>
            <a:prstDash val="solid"/>
          </a:ln>
        </p:spPr>
      </p:sp>
      <p:sp>
        <p:nvSpPr>
          <p:cNvPr id="5" name="Shape 5"/>
          <p:cNvSpPr/>
          <p:nvPr/>
        </p:nvSpPr>
        <p:spPr>
          <a:xfrm>
            <a:off x="868680" y="1865000"/>
            <a:ext cx="270000" cy="270000"/>
          </a:xfrm>
          <a:prstGeom prst="ellipse">
            <a:avLst/>
          </a:prstGeom>
          <a:solidFill>
            <a:srgbClr val="AC212E"/>
          </a:solidFill>
          <a:ln w="12700">
            <a:solidFill>
              <a:srgbClr val="AC212E"/>
            </a:solidFill>
            <a:prstDash val="solid"/>
          </a:ln>
        </p:spPr>
      </p:sp>
      <p:sp>
        <p:nvSpPr>
          <p:cNvPr id="6" name="Text 6"/>
          <p:cNvSpPr/>
          <p:nvPr/>
        </p:nvSpPr>
        <p:spPr>
          <a:xfrm>
            <a:off x="868680" y="1865000"/>
            <a:ext cx="270000" cy="270000"/>
          </a:xfrm>
          <a:prstGeom prst="rect">
            <a:avLst/>
          </a:prstGeom>
          <a:noFill/>
          <a:ln/>
        </p:spPr>
        <p:txBody>
          <a:bodyPr wrap="square" lIns="0" tIns="0" rIns="0" bIns="0" rtlCol="0" anchor="ctr"/>
          <a:lstStyle/>
          <a:p>
            <a:pPr indent="0" marL="0" algn="ctr">
              <a:buNone/>
            </a:pPr>
            <a:r>
              <a:rPr lang="es-CL" sz="1100" b="1" i="0" dirty="0">
                <a:solidFill>
                  <a:srgbClr val="FFFFFF"/>
                </a:solidFill>
                <a:latin typeface="Calibri" pitchFamily="34" charset="0"/>
                <a:ea typeface="Calibri" pitchFamily="34" charset="-122"/>
                <a:cs typeface="Calibri" pitchFamily="34" charset="-120"/>
              </a:rPr>
              <a:t>1</a:t>
            </a:r>
          </a:p>
        </p:txBody>
      </p:sp>
      <p:sp>
        <p:nvSpPr>
          <p:cNvPr id="7" name="Text 7"/>
          <p:cNvSpPr/>
          <p:nvPr/>
        </p:nvSpPr>
        <p:spPr>
          <a:xfrm>
            <a:off x="1320000" y="1750000"/>
            <a:ext cx="3200000" cy="500000"/>
          </a:xfrm>
          <a:prstGeom prst="rect">
            <a:avLst/>
          </a:prstGeom>
          <a:noFill/>
          <a:ln/>
        </p:spPr>
        <p:txBody>
          <a:bodyPr wrap="square" lIns="0" tIns="0" rIns="0" bIns="0" rtlCol="0" anchor="ctr"/>
          <a:lstStyle/>
          <a:p>
            <a:pPr indent="0" marL="0" algn="l">
              <a:buNone/>
            </a:pPr>
            <a:r>
              <a:rPr lang="es-CL" sz="1250" b="1" i="0" dirty="0">
                <a:solidFill>
                  <a:srgbClr val="06304A"/>
                </a:solidFill>
                <a:latin typeface="Calibri" pitchFamily="34" charset="0"/>
                <a:ea typeface="Calibri" pitchFamily="34" charset="-122"/>
                <a:cs typeface="Calibri" pitchFamily="34" charset="-120"/>
              </a:rPr>
              <a:t>Bienvenida al módulo</a:t>
            </a:r>
          </a:p>
        </p:txBody>
      </p:sp>
      <p:sp>
        <p:nvSpPr>
          <p:cNvPr id="8" name="Text 8"/>
          <p:cNvSpPr/>
          <p:nvPr/>
        </p:nvSpPr>
        <p:spPr>
          <a:xfrm>
            <a:off x="4700000" y="1750000"/>
            <a:ext cx="1400000" cy="500000"/>
          </a:xfrm>
          <a:prstGeom prst="rect">
            <a:avLst/>
          </a:prstGeom>
          <a:noFill/>
          <a:ln/>
        </p:spPr>
        <p:txBody>
          <a:bodyPr wrap="square" lIns="0" tIns="0" rIns="0" bIns="0" rtlCol="0" anchor="ctr"/>
          <a:lstStyle/>
          <a:p>
            <a:pPr indent="0" marL="0" algn="l">
              <a:buNone/>
            </a:pPr>
            <a:r>
              <a:rPr lang="es-CL" sz="1050" b="1" i="0" dirty="0">
                <a:solidFill>
                  <a:srgbClr val="AC212E"/>
                </a:solidFill>
                <a:latin typeface="Calibri" pitchFamily="34" charset="0"/>
                <a:ea typeface="Calibri" pitchFamily="34" charset="-122"/>
                <a:cs typeface="Calibri" pitchFamily="34" charset="-120"/>
              </a:rPr>
              <a:t>láminas 3–12</a:t>
            </a:r>
          </a:p>
        </p:txBody>
      </p:sp>
      <p:sp>
        <p:nvSpPr>
          <p:cNvPr id="9" name="Text 9"/>
          <p:cNvSpPr/>
          <p:nvPr/>
        </p:nvSpPr>
        <p:spPr>
          <a:xfrm>
            <a:off x="6300000" y="1750000"/>
            <a:ext cx="5100000" cy="500000"/>
          </a:xfrm>
          <a:prstGeom prst="rect">
            <a:avLst/>
          </a:prstGeom>
          <a:noFill/>
          <a:ln/>
        </p:spPr>
        <p:txBody>
          <a:bodyPr wrap="square" lIns="0" tIns="0" rIns="0" bIns="0" rtlCol="0" anchor="ctr"/>
          <a:lstStyle/>
          <a:p>
            <a:pPr indent="0" marL="0" algn="l">
              <a:buNone/>
            </a:pPr>
            <a:r>
              <a:rPr lang="es-CL" sz="1100" b="0" i="0" dirty="0">
                <a:solidFill>
                  <a:srgbClr val="5A6B7B"/>
                </a:solidFill>
                <a:latin typeface="Calibri" pitchFamily="34" charset="0"/>
                <a:ea typeface="Calibri" pitchFamily="34" charset="-122"/>
                <a:cs typeface="Calibri" pitchFamily="34" charset="-120"/>
              </a:rPr>
              <a:t>Qué es el módulo, cómo se evalúa y qué hacer hoy</a:t>
            </a:r>
          </a:p>
        </p:txBody>
      </p:sp>
      <p:sp>
        <p:nvSpPr>
          <p:cNvPr id="10" name="Shape 10"/>
          <p:cNvSpPr/>
          <p:nvPr/>
        </p:nvSpPr>
        <p:spPr>
          <a:xfrm>
            <a:off x="548640" y="2290000"/>
            <a:ext cx="11064240" cy="500000"/>
          </a:xfrm>
          <a:prstGeom prst="roundRect">
            <a:avLst>
              <a:gd name="adj" fmla="val 12000"/>
            </a:avLst>
          </a:prstGeom>
          <a:solidFill>
            <a:srgbClr val="FFFFFF"/>
          </a:solidFill>
          <a:ln w="12700">
            <a:solidFill>
              <a:srgbClr val="FFFFFF"/>
            </a:solidFill>
            <a:prstDash val="solid"/>
          </a:ln>
        </p:spPr>
      </p:sp>
      <p:sp>
        <p:nvSpPr>
          <p:cNvPr id="11" name="Shape 11"/>
          <p:cNvSpPr/>
          <p:nvPr/>
        </p:nvSpPr>
        <p:spPr>
          <a:xfrm>
            <a:off x="868680" y="2405000"/>
            <a:ext cx="270000" cy="270000"/>
          </a:xfrm>
          <a:prstGeom prst="ellipse">
            <a:avLst/>
          </a:prstGeom>
          <a:solidFill>
            <a:srgbClr val="AC212E"/>
          </a:solidFill>
          <a:ln w="12700">
            <a:solidFill>
              <a:srgbClr val="AC212E"/>
            </a:solidFill>
            <a:prstDash val="solid"/>
          </a:ln>
        </p:spPr>
      </p:sp>
      <p:sp>
        <p:nvSpPr>
          <p:cNvPr id="12" name="Text 12"/>
          <p:cNvSpPr/>
          <p:nvPr/>
        </p:nvSpPr>
        <p:spPr>
          <a:xfrm>
            <a:off x="868680" y="2405000"/>
            <a:ext cx="270000" cy="270000"/>
          </a:xfrm>
          <a:prstGeom prst="rect">
            <a:avLst/>
          </a:prstGeom>
          <a:noFill/>
          <a:ln/>
        </p:spPr>
        <p:txBody>
          <a:bodyPr wrap="square" lIns="0" tIns="0" rIns="0" bIns="0" rtlCol="0" anchor="ctr"/>
          <a:lstStyle/>
          <a:p>
            <a:pPr indent="0" marL="0" algn="ctr">
              <a:buNone/>
            </a:pPr>
            <a:r>
              <a:rPr lang="es-CL" sz="1100" b="1" i="0" dirty="0">
                <a:solidFill>
                  <a:srgbClr val="FFFFFF"/>
                </a:solidFill>
                <a:latin typeface="Calibri" pitchFamily="34" charset="0"/>
                <a:ea typeface="Calibri" pitchFamily="34" charset="-122"/>
                <a:cs typeface="Calibri" pitchFamily="34" charset="-120"/>
              </a:rPr>
              <a:t>2</a:t>
            </a:r>
          </a:p>
        </p:txBody>
      </p:sp>
      <p:sp>
        <p:nvSpPr>
          <p:cNvPr id="13" name="Text 13"/>
          <p:cNvSpPr/>
          <p:nvPr/>
        </p:nvSpPr>
        <p:spPr>
          <a:xfrm>
            <a:off x="1320000" y="2290000"/>
            <a:ext cx="3200000" cy="500000"/>
          </a:xfrm>
          <a:prstGeom prst="rect">
            <a:avLst/>
          </a:prstGeom>
          <a:noFill/>
          <a:ln/>
        </p:spPr>
        <p:txBody>
          <a:bodyPr wrap="square" lIns="0" tIns="0" rIns="0" bIns="0" rtlCol="0" anchor="ctr"/>
          <a:lstStyle/>
          <a:p>
            <a:pPr indent="0" marL="0" algn="l">
              <a:buNone/>
            </a:pPr>
            <a:r>
              <a:rPr lang="es-CL" sz="1250" b="1" i="0" dirty="0">
                <a:solidFill>
                  <a:srgbClr val="06304A"/>
                </a:solidFill>
                <a:latin typeface="Calibri" pitchFamily="34" charset="0"/>
                <a:ea typeface="Calibri" pitchFamily="34" charset="-122"/>
                <a:cs typeface="Calibri" pitchFamily="34" charset="-120"/>
              </a:rPr>
              <a:t>Recorrido de la semana</a:t>
            </a:r>
          </a:p>
        </p:txBody>
      </p:sp>
      <p:sp>
        <p:nvSpPr>
          <p:cNvPr id="14" name="Text 14"/>
          <p:cNvSpPr/>
          <p:nvPr/>
        </p:nvSpPr>
        <p:spPr>
          <a:xfrm>
            <a:off x="4700000" y="2290000"/>
            <a:ext cx="1400000" cy="500000"/>
          </a:xfrm>
          <a:prstGeom prst="rect">
            <a:avLst/>
          </a:prstGeom>
          <a:noFill/>
          <a:ln/>
        </p:spPr>
        <p:txBody>
          <a:bodyPr wrap="square" lIns="0" tIns="0" rIns="0" bIns="0" rtlCol="0" anchor="ctr"/>
          <a:lstStyle/>
          <a:p>
            <a:pPr indent="0" marL="0" algn="l">
              <a:buNone/>
            </a:pPr>
            <a:r>
              <a:rPr lang="es-CL" sz="1050" b="1" i="0" dirty="0">
                <a:solidFill>
                  <a:srgbClr val="AC212E"/>
                </a:solidFill>
                <a:latin typeface="Calibri" pitchFamily="34" charset="0"/>
                <a:ea typeface="Calibri" pitchFamily="34" charset="-122"/>
                <a:cs typeface="Calibri" pitchFamily="34" charset="-120"/>
              </a:rPr>
              <a:t>láminas 13–17</a:t>
            </a:r>
          </a:p>
        </p:txBody>
      </p:sp>
      <p:sp>
        <p:nvSpPr>
          <p:cNvPr id="15" name="Text 15"/>
          <p:cNvSpPr/>
          <p:nvPr/>
        </p:nvSpPr>
        <p:spPr>
          <a:xfrm>
            <a:off x="6300000" y="2290000"/>
            <a:ext cx="5100000" cy="500000"/>
          </a:xfrm>
          <a:prstGeom prst="rect">
            <a:avLst/>
          </a:prstGeom>
          <a:noFill/>
          <a:ln/>
        </p:spPr>
        <p:txBody>
          <a:bodyPr wrap="square" lIns="0" tIns="0" rIns="0" bIns="0" rtlCol="0" anchor="ctr"/>
          <a:lstStyle/>
          <a:p>
            <a:pPr indent="0" marL="0" algn="l">
              <a:buNone/>
            </a:pPr>
            <a:r>
              <a:rPr lang="es-CL" sz="1100" b="0" i="0" dirty="0">
                <a:solidFill>
                  <a:srgbClr val="5A6B7B"/>
                </a:solidFill>
                <a:latin typeface="Calibri" pitchFamily="34" charset="0"/>
                <a:ea typeface="Calibri" pitchFamily="34" charset="-122"/>
                <a:cs typeface="Calibri" pitchFamily="34" charset="-120"/>
              </a:rPr>
              <a:t>Qué recursos hay en el aula y en qué orden usarlos</a:t>
            </a:r>
          </a:p>
        </p:txBody>
      </p:sp>
      <p:sp>
        <p:nvSpPr>
          <p:cNvPr id="16" name="Shape 16"/>
          <p:cNvSpPr/>
          <p:nvPr/>
        </p:nvSpPr>
        <p:spPr>
          <a:xfrm>
            <a:off x="548640" y="2830000"/>
            <a:ext cx="11064240" cy="500000"/>
          </a:xfrm>
          <a:prstGeom prst="roundRect">
            <a:avLst>
              <a:gd name="adj" fmla="val 12000"/>
            </a:avLst>
          </a:prstGeom>
          <a:solidFill>
            <a:srgbClr val="F4F7FA"/>
          </a:solidFill>
          <a:ln w="12700">
            <a:solidFill>
              <a:srgbClr val="F4F7FA"/>
            </a:solidFill>
            <a:prstDash val="solid"/>
          </a:ln>
        </p:spPr>
      </p:sp>
      <p:sp>
        <p:nvSpPr>
          <p:cNvPr id="17" name="Shape 17"/>
          <p:cNvSpPr/>
          <p:nvPr/>
        </p:nvSpPr>
        <p:spPr>
          <a:xfrm>
            <a:off x="868680" y="2945000"/>
            <a:ext cx="270000" cy="270000"/>
          </a:xfrm>
          <a:prstGeom prst="ellipse">
            <a:avLst/>
          </a:prstGeom>
          <a:solidFill>
            <a:srgbClr val="AC212E"/>
          </a:solidFill>
          <a:ln w="12700">
            <a:solidFill>
              <a:srgbClr val="AC212E"/>
            </a:solidFill>
            <a:prstDash val="solid"/>
          </a:ln>
        </p:spPr>
      </p:sp>
      <p:sp>
        <p:nvSpPr>
          <p:cNvPr id="18" name="Text 18"/>
          <p:cNvSpPr/>
          <p:nvPr/>
        </p:nvSpPr>
        <p:spPr>
          <a:xfrm>
            <a:off x="868680" y="2945000"/>
            <a:ext cx="270000" cy="270000"/>
          </a:xfrm>
          <a:prstGeom prst="rect">
            <a:avLst/>
          </a:prstGeom>
          <a:noFill/>
          <a:ln/>
        </p:spPr>
        <p:txBody>
          <a:bodyPr wrap="square" lIns="0" tIns="0" rIns="0" bIns="0" rtlCol="0" anchor="ctr"/>
          <a:lstStyle/>
          <a:p>
            <a:pPr indent="0" marL="0" algn="ctr">
              <a:buNone/>
            </a:pPr>
            <a:r>
              <a:rPr lang="es-CL" sz="1100" b="1" i="0" dirty="0">
                <a:solidFill>
                  <a:srgbClr val="FFFFFF"/>
                </a:solidFill>
                <a:latin typeface="Calibri" pitchFamily="34" charset="0"/>
                <a:ea typeface="Calibri" pitchFamily="34" charset="-122"/>
                <a:cs typeface="Calibri" pitchFamily="34" charset="-120"/>
              </a:rPr>
              <a:t>3</a:t>
            </a:r>
          </a:p>
        </p:txBody>
      </p:sp>
      <p:sp>
        <p:nvSpPr>
          <p:cNvPr id="19" name="Text 19"/>
          <p:cNvSpPr/>
          <p:nvPr/>
        </p:nvSpPr>
        <p:spPr>
          <a:xfrm>
            <a:off x="1320000" y="2830000"/>
            <a:ext cx="3200000" cy="500000"/>
          </a:xfrm>
          <a:prstGeom prst="rect">
            <a:avLst/>
          </a:prstGeom>
          <a:noFill/>
          <a:ln/>
        </p:spPr>
        <p:txBody>
          <a:bodyPr wrap="square" lIns="0" tIns="0" rIns="0" bIns="0" rtlCol="0" anchor="ctr"/>
          <a:lstStyle/>
          <a:p>
            <a:pPr indent="0" marL="0" algn="l">
              <a:buNone/>
            </a:pPr>
            <a:r>
              <a:rPr lang="es-CL" sz="1250" b="1" i="0" dirty="0">
                <a:solidFill>
                  <a:srgbClr val="06304A"/>
                </a:solidFill>
                <a:latin typeface="Calibri" pitchFamily="34" charset="0"/>
                <a:ea typeface="Calibri" pitchFamily="34" charset="-122"/>
                <a:cs typeface="Calibri" pitchFamily="34" charset="-120"/>
              </a:rPr>
              <a:t>Conceptos de la Fase 1</a:t>
            </a:r>
          </a:p>
        </p:txBody>
      </p:sp>
      <p:sp>
        <p:nvSpPr>
          <p:cNvPr id="20" name="Text 20"/>
          <p:cNvSpPr/>
          <p:nvPr/>
        </p:nvSpPr>
        <p:spPr>
          <a:xfrm>
            <a:off x="4700000" y="2830000"/>
            <a:ext cx="1400000" cy="500000"/>
          </a:xfrm>
          <a:prstGeom prst="rect">
            <a:avLst/>
          </a:prstGeom>
          <a:noFill/>
          <a:ln/>
        </p:spPr>
        <p:txBody>
          <a:bodyPr wrap="square" lIns="0" tIns="0" rIns="0" bIns="0" rtlCol="0" anchor="ctr"/>
          <a:lstStyle/>
          <a:p>
            <a:pPr indent="0" marL="0" algn="l">
              <a:buNone/>
            </a:pPr>
            <a:r>
              <a:rPr lang="es-CL" sz="1050" b="1" i="0" dirty="0">
                <a:solidFill>
                  <a:srgbClr val="AC212E"/>
                </a:solidFill>
                <a:latin typeface="Calibri" pitchFamily="34" charset="0"/>
                <a:ea typeface="Calibri" pitchFamily="34" charset="-122"/>
                <a:cs typeface="Calibri" pitchFamily="34" charset="-120"/>
              </a:rPr>
              <a:t>láminas 18–29</a:t>
            </a:r>
          </a:p>
        </p:txBody>
      </p:sp>
      <p:sp>
        <p:nvSpPr>
          <p:cNvPr id="21" name="Text 21"/>
          <p:cNvSpPr/>
          <p:nvPr/>
        </p:nvSpPr>
        <p:spPr>
          <a:xfrm>
            <a:off x="6300000" y="2830000"/>
            <a:ext cx="5100000" cy="500000"/>
          </a:xfrm>
          <a:prstGeom prst="rect">
            <a:avLst/>
          </a:prstGeom>
          <a:noFill/>
          <a:ln/>
        </p:spPr>
        <p:txBody>
          <a:bodyPr wrap="square" lIns="0" tIns="0" rIns="0" bIns="0" rtlCol="0" anchor="ctr"/>
          <a:lstStyle/>
          <a:p>
            <a:pPr indent="0" marL="0" algn="l">
              <a:buNone/>
            </a:pPr>
            <a:r>
              <a:rPr lang="es-CL" sz="1100" b="0" i="0" dirty="0">
                <a:solidFill>
                  <a:srgbClr val="5A6B7B"/>
                </a:solidFill>
                <a:latin typeface="Calibri" pitchFamily="34" charset="0"/>
                <a:ea typeface="Calibri" pitchFamily="34" charset="-122"/>
                <a:cs typeface="Calibri" pitchFamily="34" charset="-120"/>
              </a:rPr>
              <a:t>Qué comprender antes de construir el mapa conceptual</a:t>
            </a:r>
          </a:p>
        </p:txBody>
      </p:sp>
      <p:sp>
        <p:nvSpPr>
          <p:cNvPr id="22" name="Shape 22"/>
          <p:cNvSpPr/>
          <p:nvPr/>
        </p:nvSpPr>
        <p:spPr>
          <a:xfrm>
            <a:off x="548640" y="3370000"/>
            <a:ext cx="11064240" cy="500000"/>
          </a:xfrm>
          <a:prstGeom prst="roundRect">
            <a:avLst>
              <a:gd name="adj" fmla="val 12000"/>
            </a:avLst>
          </a:prstGeom>
          <a:solidFill>
            <a:srgbClr val="FFFFFF"/>
          </a:solidFill>
          <a:ln w="12700">
            <a:solidFill>
              <a:srgbClr val="FFFFFF"/>
            </a:solidFill>
            <a:prstDash val="solid"/>
          </a:ln>
        </p:spPr>
      </p:sp>
      <p:sp>
        <p:nvSpPr>
          <p:cNvPr id="23" name="Shape 23"/>
          <p:cNvSpPr/>
          <p:nvPr/>
        </p:nvSpPr>
        <p:spPr>
          <a:xfrm>
            <a:off x="868680" y="3485000"/>
            <a:ext cx="270000" cy="270000"/>
          </a:xfrm>
          <a:prstGeom prst="ellipse">
            <a:avLst/>
          </a:prstGeom>
          <a:solidFill>
            <a:srgbClr val="AC212E"/>
          </a:solidFill>
          <a:ln w="12700">
            <a:solidFill>
              <a:srgbClr val="AC212E"/>
            </a:solidFill>
            <a:prstDash val="solid"/>
          </a:ln>
        </p:spPr>
      </p:sp>
      <p:sp>
        <p:nvSpPr>
          <p:cNvPr id="24" name="Text 24"/>
          <p:cNvSpPr/>
          <p:nvPr/>
        </p:nvSpPr>
        <p:spPr>
          <a:xfrm>
            <a:off x="868680" y="3485000"/>
            <a:ext cx="270000" cy="270000"/>
          </a:xfrm>
          <a:prstGeom prst="rect">
            <a:avLst/>
          </a:prstGeom>
          <a:noFill/>
          <a:ln/>
        </p:spPr>
        <p:txBody>
          <a:bodyPr wrap="square" lIns="0" tIns="0" rIns="0" bIns="0" rtlCol="0" anchor="ctr"/>
          <a:lstStyle/>
          <a:p>
            <a:pPr indent="0" marL="0" algn="ctr">
              <a:buNone/>
            </a:pPr>
            <a:r>
              <a:rPr lang="es-CL" sz="1100" b="1" i="0" dirty="0">
                <a:solidFill>
                  <a:srgbClr val="FFFFFF"/>
                </a:solidFill>
                <a:latin typeface="Calibri" pitchFamily="34" charset="0"/>
                <a:ea typeface="Calibri" pitchFamily="34" charset="-122"/>
                <a:cs typeface="Calibri" pitchFamily="34" charset="-120"/>
              </a:rPr>
              <a:t>4</a:t>
            </a:r>
          </a:p>
        </p:txBody>
      </p:sp>
      <p:sp>
        <p:nvSpPr>
          <p:cNvPr id="25" name="Text 25"/>
          <p:cNvSpPr/>
          <p:nvPr/>
        </p:nvSpPr>
        <p:spPr>
          <a:xfrm>
            <a:off x="1320000" y="3370000"/>
            <a:ext cx="3200000" cy="500000"/>
          </a:xfrm>
          <a:prstGeom prst="rect">
            <a:avLst/>
          </a:prstGeom>
          <a:noFill/>
          <a:ln/>
        </p:spPr>
        <p:txBody>
          <a:bodyPr wrap="square" lIns="0" tIns="0" rIns="0" bIns="0" rtlCol="0" anchor="ctr"/>
          <a:lstStyle/>
          <a:p>
            <a:pPr indent="0" marL="0" algn="l">
              <a:buNone/>
            </a:pPr>
            <a:r>
              <a:rPr lang="es-CL" sz="1250" b="1" i="0" dirty="0">
                <a:solidFill>
                  <a:srgbClr val="06304A"/>
                </a:solidFill>
                <a:latin typeface="Calibri" pitchFamily="34" charset="0"/>
                <a:ea typeface="Calibri" pitchFamily="34" charset="-122"/>
                <a:cs typeface="Calibri" pitchFamily="34" charset="-120"/>
              </a:rPr>
              <a:t>El ecosistema científico</a:t>
            </a:r>
          </a:p>
        </p:txBody>
      </p:sp>
      <p:sp>
        <p:nvSpPr>
          <p:cNvPr id="26" name="Text 26"/>
          <p:cNvSpPr/>
          <p:nvPr/>
        </p:nvSpPr>
        <p:spPr>
          <a:xfrm>
            <a:off x="4700000" y="3370000"/>
            <a:ext cx="1400000" cy="500000"/>
          </a:xfrm>
          <a:prstGeom prst="rect">
            <a:avLst/>
          </a:prstGeom>
          <a:noFill/>
          <a:ln/>
        </p:spPr>
        <p:txBody>
          <a:bodyPr wrap="square" lIns="0" tIns="0" rIns="0" bIns="0" rtlCol="0" anchor="ctr"/>
          <a:lstStyle/>
          <a:p>
            <a:pPr indent="0" marL="0" algn="l">
              <a:buNone/>
            </a:pPr>
            <a:r>
              <a:rPr lang="es-CL" sz="1050" b="1" i="0" dirty="0">
                <a:solidFill>
                  <a:srgbClr val="AC212E"/>
                </a:solidFill>
                <a:latin typeface="Calibri" pitchFamily="34" charset="0"/>
                <a:ea typeface="Calibri" pitchFamily="34" charset="-122"/>
                <a:cs typeface="Calibri" pitchFamily="34" charset="-120"/>
              </a:rPr>
              <a:t>láminas 30–40</a:t>
            </a:r>
          </a:p>
        </p:txBody>
      </p:sp>
      <p:sp>
        <p:nvSpPr>
          <p:cNvPr id="27" name="Text 27"/>
          <p:cNvSpPr/>
          <p:nvPr/>
        </p:nvSpPr>
        <p:spPr>
          <a:xfrm>
            <a:off x="6300000" y="3370000"/>
            <a:ext cx="5100000" cy="500000"/>
          </a:xfrm>
          <a:prstGeom prst="rect">
            <a:avLst/>
          </a:prstGeom>
          <a:noFill/>
          <a:ln/>
        </p:spPr>
        <p:txBody>
          <a:bodyPr wrap="square" lIns="0" tIns="0" rIns="0" bIns="0" rtlCol="0" anchor="ctr"/>
          <a:lstStyle/>
          <a:p>
            <a:pPr indent="0" marL="0" algn="l">
              <a:buNone/>
            </a:pPr>
            <a:r>
              <a:rPr lang="es-CL" sz="1100" b="0" i="0" dirty="0">
                <a:solidFill>
                  <a:srgbClr val="5A6B7B"/>
                </a:solidFill>
                <a:latin typeface="Calibri" pitchFamily="34" charset="0"/>
                <a:ea typeface="Calibri" pitchFamily="34" charset="-122"/>
                <a:cs typeface="Calibri" pitchFamily="34" charset="-120"/>
              </a:rPr>
              <a:t>Python, Jupyter, Git y GitHub: qué hace cada pieza</a:t>
            </a:r>
          </a:p>
        </p:txBody>
      </p:sp>
      <p:sp>
        <p:nvSpPr>
          <p:cNvPr id="28" name="Shape 28"/>
          <p:cNvSpPr/>
          <p:nvPr/>
        </p:nvSpPr>
        <p:spPr>
          <a:xfrm>
            <a:off x="548640" y="3910000"/>
            <a:ext cx="11064240" cy="500000"/>
          </a:xfrm>
          <a:prstGeom prst="roundRect">
            <a:avLst>
              <a:gd name="adj" fmla="val 12000"/>
            </a:avLst>
          </a:prstGeom>
          <a:solidFill>
            <a:srgbClr val="F4F7FA"/>
          </a:solidFill>
          <a:ln w="12700">
            <a:solidFill>
              <a:srgbClr val="F4F7FA"/>
            </a:solidFill>
            <a:prstDash val="solid"/>
          </a:ln>
        </p:spPr>
      </p:sp>
      <p:sp>
        <p:nvSpPr>
          <p:cNvPr id="29" name="Shape 29"/>
          <p:cNvSpPr/>
          <p:nvPr/>
        </p:nvSpPr>
        <p:spPr>
          <a:xfrm>
            <a:off x="868680" y="4025000"/>
            <a:ext cx="270000" cy="270000"/>
          </a:xfrm>
          <a:prstGeom prst="ellipse">
            <a:avLst/>
          </a:prstGeom>
          <a:solidFill>
            <a:srgbClr val="AC212E"/>
          </a:solidFill>
          <a:ln w="12700">
            <a:solidFill>
              <a:srgbClr val="AC212E"/>
            </a:solidFill>
            <a:prstDash val="solid"/>
          </a:ln>
        </p:spPr>
      </p:sp>
      <p:sp>
        <p:nvSpPr>
          <p:cNvPr id="30" name="Text 30"/>
          <p:cNvSpPr/>
          <p:nvPr/>
        </p:nvSpPr>
        <p:spPr>
          <a:xfrm>
            <a:off x="868680" y="4025000"/>
            <a:ext cx="270000" cy="270000"/>
          </a:xfrm>
          <a:prstGeom prst="rect">
            <a:avLst/>
          </a:prstGeom>
          <a:noFill/>
          <a:ln/>
        </p:spPr>
        <p:txBody>
          <a:bodyPr wrap="square" lIns="0" tIns="0" rIns="0" bIns="0" rtlCol="0" anchor="ctr"/>
          <a:lstStyle/>
          <a:p>
            <a:pPr indent="0" marL="0" algn="ctr">
              <a:buNone/>
            </a:pPr>
            <a:r>
              <a:rPr lang="es-CL" sz="1100" b="1" i="0" dirty="0">
                <a:solidFill>
                  <a:srgbClr val="FFFFFF"/>
                </a:solidFill>
                <a:latin typeface="Calibri" pitchFamily="34" charset="0"/>
                <a:ea typeface="Calibri" pitchFamily="34" charset="-122"/>
                <a:cs typeface="Calibri" pitchFamily="34" charset="-120"/>
              </a:rPr>
              <a:t>5</a:t>
            </a:r>
          </a:p>
        </p:txBody>
      </p:sp>
      <p:sp>
        <p:nvSpPr>
          <p:cNvPr id="31" name="Text 31"/>
          <p:cNvSpPr/>
          <p:nvPr/>
        </p:nvSpPr>
        <p:spPr>
          <a:xfrm>
            <a:off x="1320000" y="3910000"/>
            <a:ext cx="3200000" cy="500000"/>
          </a:xfrm>
          <a:prstGeom prst="rect">
            <a:avLst/>
          </a:prstGeom>
          <a:noFill/>
          <a:ln/>
        </p:spPr>
        <p:txBody>
          <a:bodyPr wrap="square" lIns="0" tIns="0" rIns="0" bIns="0" rtlCol="0" anchor="ctr"/>
          <a:lstStyle/>
          <a:p>
            <a:pPr indent="0" marL="0" algn="l">
              <a:buNone/>
            </a:pPr>
            <a:r>
              <a:rPr lang="es-CL" sz="1250" b="1" i="0" dirty="0">
                <a:solidFill>
                  <a:srgbClr val="06304A"/>
                </a:solidFill>
                <a:latin typeface="Calibri" pitchFamily="34" charset="0"/>
                <a:ea typeface="Calibri" pitchFamily="34" charset="-122"/>
                <a:cs typeface="Calibri" pitchFamily="34" charset="-120"/>
              </a:rPr>
              <a:t>El conjunto de datos</a:t>
            </a:r>
          </a:p>
        </p:txBody>
      </p:sp>
      <p:sp>
        <p:nvSpPr>
          <p:cNvPr id="32" name="Text 32"/>
          <p:cNvSpPr/>
          <p:nvPr/>
        </p:nvSpPr>
        <p:spPr>
          <a:xfrm>
            <a:off x="4700000" y="3910000"/>
            <a:ext cx="1400000" cy="500000"/>
          </a:xfrm>
          <a:prstGeom prst="rect">
            <a:avLst/>
          </a:prstGeom>
          <a:noFill/>
          <a:ln/>
        </p:spPr>
        <p:txBody>
          <a:bodyPr wrap="square" lIns="0" tIns="0" rIns="0" bIns="0" rtlCol="0" anchor="ctr"/>
          <a:lstStyle/>
          <a:p>
            <a:pPr indent="0" marL="0" algn="l">
              <a:buNone/>
            </a:pPr>
            <a:r>
              <a:rPr lang="es-CL" sz="1050" b="1" i="0" dirty="0">
                <a:solidFill>
                  <a:srgbClr val="AC212E"/>
                </a:solidFill>
                <a:latin typeface="Calibri" pitchFamily="34" charset="0"/>
                <a:ea typeface="Calibri" pitchFamily="34" charset="-122"/>
                <a:cs typeface="Calibri" pitchFamily="34" charset="-120"/>
              </a:rPr>
              <a:t>láminas 41–53</a:t>
            </a:r>
          </a:p>
        </p:txBody>
      </p:sp>
      <p:sp>
        <p:nvSpPr>
          <p:cNvPr id="33" name="Text 33"/>
          <p:cNvSpPr/>
          <p:nvPr/>
        </p:nvSpPr>
        <p:spPr>
          <a:xfrm>
            <a:off x="6300000" y="3910000"/>
            <a:ext cx="5100000" cy="500000"/>
          </a:xfrm>
          <a:prstGeom prst="rect">
            <a:avLst/>
          </a:prstGeom>
          <a:noFill/>
          <a:ln/>
        </p:spPr>
        <p:txBody>
          <a:bodyPr wrap="square" lIns="0" tIns="0" rIns="0" bIns="0" rtlCol="0" anchor="ctr"/>
          <a:lstStyle/>
          <a:p>
            <a:pPr indent="0" marL="0" algn="l">
              <a:buNone/>
            </a:pPr>
            <a:r>
              <a:rPr lang="es-CL" sz="1100" b="0" i="0" dirty="0">
                <a:solidFill>
                  <a:srgbClr val="5A6B7B"/>
                </a:solidFill>
                <a:latin typeface="Calibri" pitchFamily="34" charset="0"/>
                <a:ea typeface="Calibri" pitchFamily="34" charset="-122"/>
                <a:cs typeface="Calibri" pitchFamily="34" charset="-120"/>
              </a:rPr>
              <a:t>Cómo elegirlo y cómo verificar que sirve</a:t>
            </a:r>
          </a:p>
        </p:txBody>
      </p:sp>
      <p:sp>
        <p:nvSpPr>
          <p:cNvPr id="34" name="Shape 34"/>
          <p:cNvSpPr/>
          <p:nvPr/>
        </p:nvSpPr>
        <p:spPr>
          <a:xfrm>
            <a:off x="548640" y="4450000"/>
            <a:ext cx="11064240" cy="500000"/>
          </a:xfrm>
          <a:prstGeom prst="roundRect">
            <a:avLst>
              <a:gd name="adj" fmla="val 12000"/>
            </a:avLst>
          </a:prstGeom>
          <a:solidFill>
            <a:srgbClr val="FFFFFF"/>
          </a:solidFill>
          <a:ln w="12700">
            <a:solidFill>
              <a:srgbClr val="FFFFFF"/>
            </a:solidFill>
            <a:prstDash val="solid"/>
          </a:ln>
        </p:spPr>
      </p:sp>
      <p:sp>
        <p:nvSpPr>
          <p:cNvPr id="35" name="Shape 35"/>
          <p:cNvSpPr/>
          <p:nvPr/>
        </p:nvSpPr>
        <p:spPr>
          <a:xfrm>
            <a:off x="868680" y="4565000"/>
            <a:ext cx="270000" cy="270000"/>
          </a:xfrm>
          <a:prstGeom prst="ellipse">
            <a:avLst/>
          </a:prstGeom>
          <a:solidFill>
            <a:srgbClr val="AC212E"/>
          </a:solidFill>
          <a:ln w="12700">
            <a:solidFill>
              <a:srgbClr val="AC212E"/>
            </a:solidFill>
            <a:prstDash val="solid"/>
          </a:ln>
        </p:spPr>
      </p:sp>
      <p:sp>
        <p:nvSpPr>
          <p:cNvPr id="36" name="Text 36"/>
          <p:cNvSpPr/>
          <p:nvPr/>
        </p:nvSpPr>
        <p:spPr>
          <a:xfrm>
            <a:off x="868680" y="4565000"/>
            <a:ext cx="270000" cy="270000"/>
          </a:xfrm>
          <a:prstGeom prst="rect">
            <a:avLst/>
          </a:prstGeom>
          <a:noFill/>
          <a:ln/>
        </p:spPr>
        <p:txBody>
          <a:bodyPr wrap="square" lIns="0" tIns="0" rIns="0" bIns="0" rtlCol="0" anchor="ctr"/>
          <a:lstStyle/>
          <a:p>
            <a:pPr indent="0" marL="0" algn="ctr">
              <a:buNone/>
            </a:pPr>
            <a:r>
              <a:rPr lang="es-CL" sz="1100" b="1" i="0" dirty="0">
                <a:solidFill>
                  <a:srgbClr val="FFFFFF"/>
                </a:solidFill>
                <a:latin typeface="Calibri" pitchFamily="34" charset="0"/>
                <a:ea typeface="Calibri" pitchFamily="34" charset="-122"/>
                <a:cs typeface="Calibri" pitchFamily="34" charset="-120"/>
              </a:rPr>
              <a:t>6</a:t>
            </a:r>
          </a:p>
        </p:txBody>
      </p:sp>
      <p:sp>
        <p:nvSpPr>
          <p:cNvPr id="37" name="Text 37"/>
          <p:cNvSpPr/>
          <p:nvPr/>
        </p:nvSpPr>
        <p:spPr>
          <a:xfrm>
            <a:off x="1320000" y="4450000"/>
            <a:ext cx="3200000" cy="500000"/>
          </a:xfrm>
          <a:prstGeom prst="rect">
            <a:avLst/>
          </a:prstGeom>
          <a:noFill/>
          <a:ln/>
        </p:spPr>
        <p:txBody>
          <a:bodyPr wrap="square" lIns="0" tIns="0" rIns="0" bIns="0" rtlCol="0" anchor="ctr"/>
          <a:lstStyle/>
          <a:p>
            <a:pPr indent="0" marL="0" algn="l">
              <a:buNone/>
            </a:pPr>
            <a:r>
              <a:rPr lang="es-CL" sz="1250" b="1" i="0" dirty="0">
                <a:solidFill>
                  <a:srgbClr val="06304A"/>
                </a:solidFill>
                <a:latin typeface="Calibri" pitchFamily="34" charset="0"/>
                <a:ea typeface="Calibri" pitchFamily="34" charset="-122"/>
                <a:cs typeface="Calibri" pitchFamily="34" charset="-120"/>
              </a:rPr>
              <a:t>Evaluación Formativa 1</a:t>
            </a:r>
          </a:p>
        </p:txBody>
      </p:sp>
      <p:sp>
        <p:nvSpPr>
          <p:cNvPr id="38" name="Text 38"/>
          <p:cNvSpPr/>
          <p:nvPr/>
        </p:nvSpPr>
        <p:spPr>
          <a:xfrm>
            <a:off x="4700000" y="4450000"/>
            <a:ext cx="1400000" cy="500000"/>
          </a:xfrm>
          <a:prstGeom prst="rect">
            <a:avLst/>
          </a:prstGeom>
          <a:noFill/>
          <a:ln/>
        </p:spPr>
        <p:txBody>
          <a:bodyPr wrap="square" lIns="0" tIns="0" rIns="0" bIns="0" rtlCol="0" anchor="ctr"/>
          <a:lstStyle/>
          <a:p>
            <a:pPr indent="0" marL="0" algn="l">
              <a:buNone/>
            </a:pPr>
            <a:r>
              <a:rPr lang="es-CL" sz="1050" b="1" i="0" dirty="0">
                <a:solidFill>
                  <a:srgbClr val="AC212E"/>
                </a:solidFill>
                <a:latin typeface="Calibri" pitchFamily="34" charset="0"/>
                <a:ea typeface="Calibri" pitchFamily="34" charset="-122"/>
                <a:cs typeface="Calibri" pitchFamily="34" charset="-120"/>
              </a:rPr>
              <a:t>láminas 54–63</a:t>
            </a:r>
          </a:p>
        </p:txBody>
      </p:sp>
      <p:sp>
        <p:nvSpPr>
          <p:cNvPr id="39" name="Text 39"/>
          <p:cNvSpPr/>
          <p:nvPr/>
        </p:nvSpPr>
        <p:spPr>
          <a:xfrm>
            <a:off x="6300000" y="4450000"/>
            <a:ext cx="5100000" cy="500000"/>
          </a:xfrm>
          <a:prstGeom prst="rect">
            <a:avLst/>
          </a:prstGeom>
          <a:noFill/>
          <a:ln/>
        </p:spPr>
        <p:txBody>
          <a:bodyPr wrap="square" lIns="0" tIns="0" rIns="0" bIns="0" rtlCol="0" anchor="ctr"/>
          <a:lstStyle/>
          <a:p>
            <a:pPr indent="0" marL="0" algn="l">
              <a:buNone/>
            </a:pPr>
            <a:r>
              <a:rPr lang="es-CL" sz="1100" b="0" i="0" dirty="0">
                <a:solidFill>
                  <a:srgbClr val="5A6B7B"/>
                </a:solidFill>
                <a:latin typeface="Calibri" pitchFamily="34" charset="0"/>
                <a:ea typeface="Calibri" pitchFamily="34" charset="-122"/>
                <a:cs typeface="Calibri" pitchFamily="34" charset="-120"/>
              </a:rPr>
              <a:t>El mapa conceptual: qué se pide y cómo se evalúa</a:t>
            </a:r>
          </a:p>
        </p:txBody>
      </p:sp>
      <p:sp>
        <p:nvSpPr>
          <p:cNvPr id="40" name="Shape 40"/>
          <p:cNvSpPr/>
          <p:nvPr/>
        </p:nvSpPr>
        <p:spPr>
          <a:xfrm>
            <a:off x="548640" y="4990000"/>
            <a:ext cx="11064240" cy="500000"/>
          </a:xfrm>
          <a:prstGeom prst="roundRect">
            <a:avLst>
              <a:gd name="adj" fmla="val 12000"/>
            </a:avLst>
          </a:prstGeom>
          <a:solidFill>
            <a:srgbClr val="F4F7FA"/>
          </a:solidFill>
          <a:ln w="12700">
            <a:solidFill>
              <a:srgbClr val="F4F7FA"/>
            </a:solidFill>
            <a:prstDash val="solid"/>
          </a:ln>
        </p:spPr>
      </p:sp>
      <p:sp>
        <p:nvSpPr>
          <p:cNvPr id="41" name="Shape 41"/>
          <p:cNvSpPr/>
          <p:nvPr/>
        </p:nvSpPr>
        <p:spPr>
          <a:xfrm>
            <a:off x="868680" y="5105000"/>
            <a:ext cx="270000" cy="270000"/>
          </a:xfrm>
          <a:prstGeom prst="ellipse">
            <a:avLst/>
          </a:prstGeom>
          <a:solidFill>
            <a:srgbClr val="AC212E"/>
          </a:solidFill>
          <a:ln w="12700">
            <a:solidFill>
              <a:srgbClr val="AC212E"/>
            </a:solidFill>
            <a:prstDash val="solid"/>
          </a:ln>
        </p:spPr>
      </p:sp>
      <p:sp>
        <p:nvSpPr>
          <p:cNvPr id="42" name="Text 42"/>
          <p:cNvSpPr/>
          <p:nvPr/>
        </p:nvSpPr>
        <p:spPr>
          <a:xfrm>
            <a:off x="868680" y="5105000"/>
            <a:ext cx="270000" cy="270000"/>
          </a:xfrm>
          <a:prstGeom prst="rect">
            <a:avLst/>
          </a:prstGeom>
          <a:noFill/>
          <a:ln/>
        </p:spPr>
        <p:txBody>
          <a:bodyPr wrap="square" lIns="0" tIns="0" rIns="0" bIns="0" rtlCol="0" anchor="ctr"/>
          <a:lstStyle/>
          <a:p>
            <a:pPr indent="0" marL="0" algn="ctr">
              <a:buNone/>
            </a:pPr>
            <a:r>
              <a:rPr lang="es-CL" sz="1100" b="1" i="0" dirty="0">
                <a:solidFill>
                  <a:srgbClr val="FFFFFF"/>
                </a:solidFill>
                <a:latin typeface="Calibri" pitchFamily="34" charset="0"/>
                <a:ea typeface="Calibri" pitchFamily="34" charset="-122"/>
                <a:cs typeface="Calibri" pitchFamily="34" charset="-120"/>
              </a:rPr>
              <a:t>7</a:t>
            </a:r>
          </a:p>
        </p:txBody>
      </p:sp>
      <p:sp>
        <p:nvSpPr>
          <p:cNvPr id="43" name="Text 43"/>
          <p:cNvSpPr/>
          <p:nvPr/>
        </p:nvSpPr>
        <p:spPr>
          <a:xfrm>
            <a:off x="1320000" y="4990000"/>
            <a:ext cx="3200000" cy="500000"/>
          </a:xfrm>
          <a:prstGeom prst="rect">
            <a:avLst/>
          </a:prstGeom>
          <a:noFill/>
          <a:ln/>
        </p:spPr>
        <p:txBody>
          <a:bodyPr wrap="square" lIns="0" tIns="0" rIns="0" bIns="0" rtlCol="0" anchor="ctr"/>
          <a:lstStyle/>
          <a:p>
            <a:pPr indent="0" marL="0" algn="l">
              <a:buNone/>
            </a:pPr>
            <a:r>
              <a:rPr lang="es-CL" sz="1250" b="1" i="0" dirty="0">
                <a:solidFill>
                  <a:srgbClr val="06304A"/>
                </a:solidFill>
                <a:latin typeface="Calibri" pitchFamily="34" charset="0"/>
                <a:ea typeface="Calibri" pitchFamily="34" charset="-122"/>
                <a:cs typeface="Calibri" pitchFamily="34" charset="-120"/>
              </a:rPr>
              <a:t>Sumativa 1</a:t>
            </a:r>
          </a:p>
        </p:txBody>
      </p:sp>
      <p:sp>
        <p:nvSpPr>
          <p:cNvPr id="44" name="Text 44"/>
          <p:cNvSpPr/>
          <p:nvPr/>
        </p:nvSpPr>
        <p:spPr>
          <a:xfrm>
            <a:off x="4700000" y="4990000"/>
            <a:ext cx="1400000" cy="500000"/>
          </a:xfrm>
          <a:prstGeom prst="rect">
            <a:avLst/>
          </a:prstGeom>
          <a:noFill/>
          <a:ln/>
        </p:spPr>
        <p:txBody>
          <a:bodyPr wrap="square" lIns="0" tIns="0" rIns="0" bIns="0" rtlCol="0" anchor="ctr"/>
          <a:lstStyle/>
          <a:p>
            <a:pPr indent="0" marL="0" algn="l">
              <a:buNone/>
            </a:pPr>
            <a:r>
              <a:rPr lang="es-CL" sz="1050" b="1" i="0" dirty="0">
                <a:solidFill>
                  <a:srgbClr val="AC212E"/>
                </a:solidFill>
                <a:latin typeface="Calibri" pitchFamily="34" charset="0"/>
                <a:ea typeface="Calibri" pitchFamily="34" charset="-122"/>
                <a:cs typeface="Calibri" pitchFamily="34" charset="-120"/>
              </a:rPr>
              <a:t>láminas 64–77</a:t>
            </a:r>
          </a:p>
        </p:txBody>
      </p:sp>
      <p:sp>
        <p:nvSpPr>
          <p:cNvPr id="45" name="Text 45"/>
          <p:cNvSpPr/>
          <p:nvPr/>
        </p:nvSpPr>
        <p:spPr>
          <a:xfrm>
            <a:off x="6300000" y="4990000"/>
            <a:ext cx="5100000" cy="500000"/>
          </a:xfrm>
          <a:prstGeom prst="rect">
            <a:avLst/>
          </a:prstGeom>
          <a:noFill/>
          <a:ln/>
        </p:spPr>
        <p:txBody>
          <a:bodyPr wrap="square" lIns="0" tIns="0" rIns="0" bIns="0" rtlCol="0" anchor="ctr"/>
          <a:lstStyle/>
          <a:p>
            <a:pPr indent="0" marL="0" algn="l">
              <a:buNone/>
            </a:pPr>
            <a:r>
              <a:rPr lang="es-CL" sz="1100" b="0" i="0" dirty="0">
                <a:solidFill>
                  <a:srgbClr val="5A6B7B"/>
                </a:solidFill>
                <a:latin typeface="Calibri" pitchFamily="34" charset="0"/>
                <a:ea typeface="Calibri" pitchFamily="34" charset="-122"/>
                <a:cs typeface="Calibri" pitchFamily="34" charset="-120"/>
              </a:rPr>
              <a:t>Los doce pasos del avance de las Fases 1 y 2</a:t>
            </a:r>
          </a:p>
        </p:txBody>
      </p:sp>
      <p:sp>
        <p:nvSpPr>
          <p:cNvPr id="46" name="Shape 46"/>
          <p:cNvSpPr/>
          <p:nvPr/>
        </p:nvSpPr>
        <p:spPr>
          <a:xfrm>
            <a:off x="548640" y="5880000"/>
            <a:ext cx="11064240" cy="470000"/>
          </a:xfrm>
          <a:prstGeom prst="roundRect">
            <a:avLst>
              <a:gd name="adj" fmla="val 9000"/>
            </a:avLst>
          </a:prstGeom>
          <a:solidFill>
            <a:srgbClr val="0A1526"/>
          </a:solidFill>
          <a:ln w="12700">
            <a:solidFill>
              <a:srgbClr val="0A1526"/>
            </a:solidFill>
            <a:prstDash val="solid"/>
          </a:ln>
        </p:spPr>
      </p:sp>
      <p:sp>
        <p:nvSpPr>
          <p:cNvPr id="47" name="Text 47"/>
          <p:cNvSpPr/>
          <p:nvPr/>
        </p:nvSpPr>
        <p:spPr>
          <a:xfrm>
            <a:off x="868680" y="5880000"/>
            <a:ext cx="10424160" cy="470000"/>
          </a:xfrm>
          <a:prstGeom prst="rect">
            <a:avLst/>
          </a:prstGeom>
          <a:noFill/>
          <a:ln/>
        </p:spPr>
        <p:txBody>
          <a:bodyPr wrap="square" lIns="0" tIns="0" rIns="0" bIns="0" rtlCol="0" anchor="ctr"/>
          <a:lstStyle/>
          <a:p>
            <a:pPr indent="0" marL="0" algn="l">
              <a:buNone/>
            </a:pPr>
            <a:r>
              <a:rPr lang="es-CL" sz="1300" b="1" i="0" dirty="0">
                <a:solidFill>
                  <a:srgbClr val="AC212E"/>
                </a:solidFill>
                <a:latin typeface="Calibri" pitchFamily="34" charset="0"/>
                <a:ea typeface="Calibri" pitchFamily="34" charset="-122"/>
                <a:cs typeface="Calibri" pitchFamily="34" charset="-120"/>
              </a:rPr>
              <a:t>Cada bloque se sostiene solo.</a:t>
            </a:r>
            <a:r>
              <a:rPr lang="es-CL" sz="1300" b="0" i="0" dirty="0">
                <a:solidFill>
                  <a:srgbClr val="D7E3EE"/>
                </a:solidFill>
                <a:latin typeface="Calibri" pitchFamily="34" charset="0"/>
                <a:ea typeface="Calibri" pitchFamily="34" charset="-122"/>
                <a:cs typeface="Calibri" pitchFamily="34" charset="-120"/>
              </a:rPr>
              <a:t>   Los bloques 3 a 7 son las presentaciones de apoyo del aula y pueden revisarse por separado.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TotalTime>
  <Words>15393</Words>
  <Application>Microsoft Macintosh PowerPoint</Application>
  <PresentationFormat>Panorámica</PresentationFormat>
  <Paragraphs>1827</Paragraphs>
  <Slides>93</Slides>
  <Notes>91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93</vt:i4>
      </vt:variant>
    </vt:vector>
  </HeadingPairs>
  <TitlesOfParts>
    <vt:vector size="98"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Bienvenida - MCDI500</dc:title>
  <dc:subject>PptxGenJS Presentation</dc:subject>
  <dc:creator>MCDI500 - UNAB</dc:creator>
  <cp:lastModifiedBy>Omar Iván Salinas Silva</cp:lastModifiedBy>
  <cp:revision>5</cp:revision>
  <dcterms:created xsi:type="dcterms:W3CDTF">2026-08-30T20:38:49Z</dcterms:created>
  <dcterms:modified xsi:type="dcterms:W3CDTF">2026-09-06T16:07:45Z</dcterms:modified>
</cp:coreProperties>
</file>